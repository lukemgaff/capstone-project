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75" r:id="rId4"/>
    <p:sldId id="278" r:id="rId5"/>
    <p:sldId id="277" r:id="rId6"/>
    <p:sldId id="280" r:id="rId7"/>
    <p:sldId id="282" r:id="rId8"/>
    <p:sldId id="283" r:id="rId9"/>
    <p:sldId id="284" r:id="rId10"/>
    <p:sldId id="290" r:id="rId11"/>
    <p:sldId id="288" r:id="rId12"/>
    <p:sldId id="287" r:id="rId13"/>
    <p:sldId id="286" r:id="rId14"/>
    <p:sldId id="285" r:id="rId15"/>
    <p:sldId id="29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D10D6-1D88-4B0E-87C1-EF36A8B2A437}" v="166" dt="2025-12-22T15:15:25.9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192" autoAdjust="0"/>
    <p:restoredTop sz="82080" autoAdjust="0"/>
  </p:normalViewPr>
  <p:slideViewPr>
    <p:cSldViewPr snapToGrid="0">
      <p:cViewPr varScale="1">
        <p:scale>
          <a:sx n="122" d="100"/>
          <a:sy n="122" d="100"/>
        </p:scale>
        <p:origin x="3912" y="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ke Gaffney" userId="6fa697cc8cd57f76" providerId="LiveId" clId="{528BD4CA-A453-43AA-8F73-3E975C3B2CFE}"/>
    <pc:docChg chg="undo custSel addSld delSld modSld">
      <pc:chgData name="Luke Gaffney" userId="6fa697cc8cd57f76" providerId="LiveId" clId="{528BD4CA-A453-43AA-8F73-3E975C3B2CFE}" dt="2025-12-22T15:26:31.484" v="2118" actId="20577"/>
      <pc:docMkLst>
        <pc:docMk/>
      </pc:docMkLst>
      <pc:sldChg chg="modSp mod modNotesTx">
        <pc:chgData name="Luke Gaffney" userId="6fa697cc8cd57f76" providerId="LiveId" clId="{528BD4CA-A453-43AA-8F73-3E975C3B2CFE}" dt="2025-12-22T15:10:31.395" v="2005" actId="20577"/>
        <pc:sldMkLst>
          <pc:docMk/>
          <pc:sldMk cId="101415907" sldId="256"/>
        </pc:sldMkLst>
        <pc:spChg chg="mod">
          <ac:chgData name="Luke Gaffney" userId="6fa697cc8cd57f76" providerId="LiveId" clId="{528BD4CA-A453-43AA-8F73-3E975C3B2CFE}" dt="2025-12-18T20:12:24.774" v="972" actId="1076"/>
          <ac:spMkLst>
            <pc:docMk/>
            <pc:sldMk cId="101415907" sldId="256"/>
            <ac:spMk id="2" creationId="{D5871A2F-1D02-6452-5157-8CB541F3456A}"/>
          </ac:spMkLst>
        </pc:spChg>
      </pc:sldChg>
      <pc:sldChg chg="modSp mod modNotesTx">
        <pc:chgData name="Luke Gaffney" userId="6fa697cc8cd57f76" providerId="LiveId" clId="{528BD4CA-A453-43AA-8F73-3E975C3B2CFE}" dt="2025-12-22T15:25:12.394" v="2105" actId="12"/>
        <pc:sldMkLst>
          <pc:docMk/>
          <pc:sldMk cId="3484887589" sldId="257"/>
        </pc:sldMkLst>
        <pc:spChg chg="mod">
          <ac:chgData name="Luke Gaffney" userId="6fa697cc8cd57f76" providerId="LiveId" clId="{528BD4CA-A453-43AA-8F73-3E975C3B2CFE}" dt="2025-12-18T20:12:03.507" v="969" actId="113"/>
          <ac:spMkLst>
            <pc:docMk/>
            <pc:sldMk cId="3484887589" sldId="257"/>
            <ac:spMk id="2" creationId="{DE9FC05C-E79A-F5B5-327B-29607701820D}"/>
          </ac:spMkLst>
        </pc:spChg>
        <pc:spChg chg="mod">
          <ac:chgData name="Luke Gaffney" userId="6fa697cc8cd57f76" providerId="LiveId" clId="{528BD4CA-A453-43AA-8F73-3E975C3B2CFE}" dt="2025-12-22T13:17:12.887" v="1913"/>
          <ac:spMkLst>
            <pc:docMk/>
            <pc:sldMk cId="3484887589" sldId="257"/>
            <ac:spMk id="4" creationId="{35E1C994-818C-0ACC-C41E-5E01DA946D82}"/>
          </ac:spMkLst>
        </pc:spChg>
      </pc:sldChg>
      <pc:sldChg chg="addSp delSp modSp mod modNotesTx">
        <pc:chgData name="Luke Gaffney" userId="6fa697cc8cd57f76" providerId="LiveId" clId="{528BD4CA-A453-43AA-8F73-3E975C3B2CFE}" dt="2025-12-22T15:25:18.507" v="2106" actId="12"/>
        <pc:sldMkLst>
          <pc:docMk/>
          <pc:sldMk cId="4045112871" sldId="275"/>
        </pc:sldMkLst>
        <pc:spChg chg="mod">
          <ac:chgData name="Luke Gaffney" userId="6fa697cc8cd57f76" providerId="LiveId" clId="{528BD4CA-A453-43AA-8F73-3E975C3B2CFE}" dt="2025-12-18T20:12:11.998" v="970" actId="113"/>
          <ac:spMkLst>
            <pc:docMk/>
            <pc:sldMk cId="4045112871" sldId="275"/>
            <ac:spMk id="2" creationId="{C9B228D7-8329-3F75-828E-FC46FA1AD6D9}"/>
          </ac:spMkLst>
        </pc:spChg>
        <pc:spChg chg="mod">
          <ac:chgData name="Luke Gaffney" userId="6fa697cc8cd57f76" providerId="LiveId" clId="{528BD4CA-A453-43AA-8F73-3E975C3B2CFE}" dt="2025-12-20T13:30:07.162" v="1771" actId="12"/>
          <ac:spMkLst>
            <pc:docMk/>
            <pc:sldMk cId="4045112871" sldId="275"/>
            <ac:spMk id="4" creationId="{337C5CAA-78BD-6151-0CC5-8CA452F48391}"/>
          </ac:spMkLst>
        </pc:spChg>
      </pc:sldChg>
      <pc:sldChg chg="addSp delSp modSp mod modNotesTx">
        <pc:chgData name="Luke Gaffney" userId="6fa697cc8cd57f76" providerId="LiveId" clId="{528BD4CA-A453-43AA-8F73-3E975C3B2CFE}" dt="2025-12-22T15:25:37.977" v="2108" actId="12"/>
        <pc:sldMkLst>
          <pc:docMk/>
          <pc:sldMk cId="542633763" sldId="277"/>
        </pc:sldMkLst>
        <pc:spChg chg="mod">
          <ac:chgData name="Luke Gaffney" userId="6fa697cc8cd57f76" providerId="LiveId" clId="{528BD4CA-A453-43AA-8F73-3E975C3B2CFE}" dt="2025-12-18T20:12:38.193" v="974" actId="113"/>
          <ac:spMkLst>
            <pc:docMk/>
            <pc:sldMk cId="542633763" sldId="277"/>
            <ac:spMk id="2" creationId="{AFB1300D-AC32-6A7E-3302-C38583BC0E9A}"/>
          </ac:spMkLst>
        </pc:spChg>
        <pc:spChg chg="add mod">
          <ac:chgData name="Luke Gaffney" userId="6fa697cc8cd57f76" providerId="LiveId" clId="{528BD4CA-A453-43AA-8F73-3E975C3B2CFE}" dt="2025-12-19T16:03:45.807" v="1413" actId="1076"/>
          <ac:spMkLst>
            <pc:docMk/>
            <pc:sldMk cId="542633763" sldId="277"/>
            <ac:spMk id="3" creationId="{BD7F736E-6940-81F4-8CCE-71C9F3341512}"/>
          </ac:spMkLst>
        </pc:spChg>
        <pc:spChg chg="add mod">
          <ac:chgData name="Luke Gaffney" userId="6fa697cc8cd57f76" providerId="LiveId" clId="{528BD4CA-A453-43AA-8F73-3E975C3B2CFE}" dt="2025-12-19T16:03:49.932" v="1415" actId="20577"/>
          <ac:spMkLst>
            <pc:docMk/>
            <pc:sldMk cId="542633763" sldId="277"/>
            <ac:spMk id="4" creationId="{E493CBD1-94BF-5E0A-77DB-FF5C226FD519}"/>
          </ac:spMkLst>
        </pc:spChg>
        <pc:spChg chg="add mod">
          <ac:chgData name="Luke Gaffney" userId="6fa697cc8cd57f76" providerId="LiveId" clId="{528BD4CA-A453-43AA-8F73-3E975C3B2CFE}" dt="2025-12-22T13:29:00.713" v="1938" actId="113"/>
          <ac:spMkLst>
            <pc:docMk/>
            <pc:sldMk cId="542633763" sldId="277"/>
            <ac:spMk id="5" creationId="{7188F6DC-749C-0E58-9C52-708EB0881C1C}"/>
          </ac:spMkLst>
        </pc:spChg>
        <pc:spChg chg="add mod">
          <ac:chgData name="Luke Gaffney" userId="6fa697cc8cd57f76" providerId="LiveId" clId="{528BD4CA-A453-43AA-8F73-3E975C3B2CFE}" dt="2025-12-19T16:11:54.100" v="1509" actId="554"/>
          <ac:spMkLst>
            <pc:docMk/>
            <pc:sldMk cId="542633763" sldId="277"/>
            <ac:spMk id="6" creationId="{E9D36018-8142-2EDD-EF2A-A6BBC8C171D8}"/>
          </ac:spMkLst>
        </pc:spChg>
        <pc:spChg chg="add mod">
          <ac:chgData name="Luke Gaffney" userId="6fa697cc8cd57f76" providerId="LiveId" clId="{528BD4CA-A453-43AA-8F73-3E975C3B2CFE}" dt="2025-12-22T13:29:05.562" v="1939" actId="113"/>
          <ac:spMkLst>
            <pc:docMk/>
            <pc:sldMk cId="542633763" sldId="277"/>
            <ac:spMk id="7" creationId="{29E4D0B8-5AD9-3177-AEEB-D8BF77B12F2A}"/>
          </ac:spMkLst>
        </pc:spChg>
        <pc:spChg chg="add mod">
          <ac:chgData name="Luke Gaffney" userId="6fa697cc8cd57f76" providerId="LiveId" clId="{528BD4CA-A453-43AA-8F73-3E975C3B2CFE}" dt="2025-12-19T16:11:56.909" v="1510" actId="408"/>
          <ac:spMkLst>
            <pc:docMk/>
            <pc:sldMk cId="542633763" sldId="277"/>
            <ac:spMk id="8" creationId="{C50D66DC-6DC7-0FFF-14AB-BE095496AAF2}"/>
          </ac:spMkLst>
        </pc:spChg>
        <pc:spChg chg="add mod">
          <ac:chgData name="Luke Gaffney" userId="6fa697cc8cd57f76" providerId="LiveId" clId="{528BD4CA-A453-43AA-8F73-3E975C3B2CFE}" dt="2025-12-22T13:30:08.878" v="1944" actId="114"/>
          <ac:spMkLst>
            <pc:docMk/>
            <pc:sldMk cId="542633763" sldId="277"/>
            <ac:spMk id="9" creationId="{3C7FBA32-85DE-EFE7-0D4A-994A972D3294}"/>
          </ac:spMkLst>
        </pc:spChg>
        <pc:spChg chg="mod">
          <ac:chgData name="Luke Gaffney" userId="6fa697cc8cd57f76" providerId="LiveId" clId="{528BD4CA-A453-43AA-8F73-3E975C3B2CFE}" dt="2025-12-19T16:38:08.701" v="1612" actId="208"/>
          <ac:spMkLst>
            <pc:docMk/>
            <pc:sldMk cId="542633763" sldId="277"/>
            <ac:spMk id="50" creationId="{7B064B8D-B47F-4375-2B50-CF6CF3893C03}"/>
          </ac:spMkLst>
        </pc:spChg>
        <pc:spChg chg="mod">
          <ac:chgData name="Luke Gaffney" userId="6fa697cc8cd57f76" providerId="LiveId" clId="{528BD4CA-A453-43AA-8F73-3E975C3B2CFE}" dt="2025-12-19T16:38:33.175" v="1617" actId="208"/>
          <ac:spMkLst>
            <pc:docMk/>
            <pc:sldMk cId="542633763" sldId="277"/>
            <ac:spMk id="53" creationId="{A0F0684F-4197-6064-55B4-98EB35BEC608}"/>
          </ac:spMkLst>
        </pc:spChg>
        <pc:spChg chg="mod">
          <ac:chgData name="Luke Gaffney" userId="6fa697cc8cd57f76" providerId="LiveId" clId="{528BD4CA-A453-43AA-8F73-3E975C3B2CFE}" dt="2025-12-19T16:38:14.740" v="1613" actId="208"/>
          <ac:spMkLst>
            <pc:docMk/>
            <pc:sldMk cId="542633763" sldId="277"/>
            <ac:spMk id="54" creationId="{1EDDE1D7-883C-62FF-3687-9FBB1577874D}"/>
          </ac:spMkLst>
        </pc:spChg>
        <pc:spChg chg="mod">
          <ac:chgData name="Luke Gaffney" userId="6fa697cc8cd57f76" providerId="LiveId" clId="{528BD4CA-A453-43AA-8F73-3E975C3B2CFE}" dt="2025-12-19T16:38:41.250" v="1619" actId="208"/>
          <ac:spMkLst>
            <pc:docMk/>
            <pc:sldMk cId="542633763" sldId="277"/>
            <ac:spMk id="55" creationId="{F9704708-6D90-46C9-1CAE-40013BD95D43}"/>
          </ac:spMkLst>
        </pc:spChg>
        <pc:spChg chg="mod">
          <ac:chgData name="Luke Gaffney" userId="6fa697cc8cd57f76" providerId="LiveId" clId="{528BD4CA-A453-43AA-8F73-3E975C3B2CFE}" dt="2025-12-19T16:38:24.953" v="1615" actId="208"/>
          <ac:spMkLst>
            <pc:docMk/>
            <pc:sldMk cId="542633763" sldId="277"/>
            <ac:spMk id="56" creationId="{F92D9006-4F0B-4761-2C1A-A8C48A31A008}"/>
          </ac:spMkLst>
        </pc:spChg>
        <pc:spChg chg="mod">
          <ac:chgData name="Luke Gaffney" userId="6fa697cc8cd57f76" providerId="LiveId" clId="{528BD4CA-A453-43AA-8F73-3E975C3B2CFE}" dt="2025-12-19T16:38:29.285" v="1616" actId="208"/>
          <ac:spMkLst>
            <pc:docMk/>
            <pc:sldMk cId="542633763" sldId="277"/>
            <ac:spMk id="57" creationId="{32D69E2D-ACD2-E3BF-DC2D-FE6E5D6DFB26}"/>
          </ac:spMkLst>
        </pc:spChg>
        <pc:spChg chg="mod">
          <ac:chgData name="Luke Gaffney" userId="6fa697cc8cd57f76" providerId="LiveId" clId="{528BD4CA-A453-43AA-8F73-3E975C3B2CFE}" dt="2025-12-19T16:38:37.291" v="1618" actId="208"/>
          <ac:spMkLst>
            <pc:docMk/>
            <pc:sldMk cId="542633763" sldId="277"/>
            <ac:spMk id="58" creationId="{A2B05C51-F692-ADF1-1A14-326A496A24C3}"/>
          </ac:spMkLst>
        </pc:spChg>
        <pc:spChg chg="mod">
          <ac:chgData name="Luke Gaffney" userId="6fa697cc8cd57f76" providerId="LiveId" clId="{528BD4CA-A453-43AA-8F73-3E975C3B2CFE}" dt="2025-12-19T16:38:21.695" v="1614" actId="208"/>
          <ac:spMkLst>
            <pc:docMk/>
            <pc:sldMk cId="542633763" sldId="277"/>
            <ac:spMk id="60" creationId="{9BFF97D0-ED64-E128-C274-C00499EFFAE4}"/>
          </ac:spMkLst>
        </pc:spChg>
        <pc:spChg chg="mod">
          <ac:chgData name="Luke Gaffney" userId="6fa697cc8cd57f76" providerId="LiveId" clId="{528BD4CA-A453-43AA-8F73-3E975C3B2CFE}" dt="2025-12-20T01:38:31.975" v="1738" actId="20577"/>
          <ac:spMkLst>
            <pc:docMk/>
            <pc:sldMk cId="542633763" sldId="277"/>
            <ac:spMk id="62" creationId="{EC08A544-DE54-C799-B423-36CDCF2C5E78}"/>
          </ac:spMkLst>
        </pc:spChg>
        <pc:spChg chg="mod">
          <ac:chgData name="Luke Gaffney" userId="6fa697cc8cd57f76" providerId="LiveId" clId="{528BD4CA-A453-43AA-8F73-3E975C3B2CFE}" dt="2025-12-20T01:38:38.957" v="1750" actId="20577"/>
          <ac:spMkLst>
            <pc:docMk/>
            <pc:sldMk cId="542633763" sldId="277"/>
            <ac:spMk id="63" creationId="{5CDB8C99-1CCB-5587-C46B-2A5DF5A29899}"/>
          </ac:spMkLst>
        </pc:spChg>
        <pc:spChg chg="mod">
          <ac:chgData name="Luke Gaffney" userId="6fa697cc8cd57f76" providerId="LiveId" clId="{528BD4CA-A453-43AA-8F73-3E975C3B2CFE}" dt="2025-12-20T13:40:53.595" v="1826" actId="20577"/>
          <ac:spMkLst>
            <pc:docMk/>
            <pc:sldMk cId="542633763" sldId="277"/>
            <ac:spMk id="65" creationId="{40D337F7-9BCF-4A96-AD0F-AE467E9DF863}"/>
          </ac:spMkLst>
        </pc:spChg>
        <pc:spChg chg="mod">
          <ac:chgData name="Luke Gaffney" userId="6fa697cc8cd57f76" providerId="LiveId" clId="{528BD4CA-A453-43AA-8F73-3E975C3B2CFE}" dt="2025-12-22T13:28:19.515" v="1920" actId="20577"/>
          <ac:spMkLst>
            <pc:docMk/>
            <pc:sldMk cId="542633763" sldId="277"/>
            <ac:spMk id="67" creationId="{CD7201A7-9E3A-067E-7422-34FDC06F2DFB}"/>
          </ac:spMkLst>
        </pc:spChg>
      </pc:sldChg>
      <pc:sldChg chg="addSp delSp modSp mod modNotesTx">
        <pc:chgData name="Luke Gaffney" userId="6fa697cc8cd57f76" providerId="LiveId" clId="{528BD4CA-A453-43AA-8F73-3E975C3B2CFE}" dt="2025-12-22T15:25:26.097" v="2107" actId="12"/>
        <pc:sldMkLst>
          <pc:docMk/>
          <pc:sldMk cId="835599444" sldId="278"/>
        </pc:sldMkLst>
        <pc:spChg chg="mod">
          <ac:chgData name="Luke Gaffney" userId="6fa697cc8cd57f76" providerId="LiveId" clId="{528BD4CA-A453-43AA-8F73-3E975C3B2CFE}" dt="2025-12-18T20:12:34.010" v="973" actId="113"/>
          <ac:spMkLst>
            <pc:docMk/>
            <pc:sldMk cId="835599444" sldId="278"/>
            <ac:spMk id="2" creationId="{0D3BA9AF-2BD7-97AC-F960-51216C2F9482}"/>
          </ac:spMkLst>
        </pc:spChg>
        <pc:spChg chg="add mod">
          <ac:chgData name="Luke Gaffney" userId="6fa697cc8cd57f76" providerId="LiveId" clId="{528BD4CA-A453-43AA-8F73-3E975C3B2CFE}" dt="2025-12-22T13:23:00.072" v="1919" actId="113"/>
          <ac:spMkLst>
            <pc:docMk/>
            <pc:sldMk cId="835599444" sldId="278"/>
            <ac:spMk id="61" creationId="{BFD046D5-C800-2F5C-68F0-9AD62A89727F}"/>
          </ac:spMkLst>
        </pc:spChg>
      </pc:sldChg>
      <pc:sldChg chg="addSp delSp modSp mod modNotesTx">
        <pc:chgData name="Luke Gaffney" userId="6fa697cc8cd57f76" providerId="LiveId" clId="{528BD4CA-A453-43AA-8F73-3E975C3B2CFE}" dt="2025-12-22T15:25:42.913" v="2109" actId="12"/>
        <pc:sldMkLst>
          <pc:docMk/>
          <pc:sldMk cId="1987554360" sldId="280"/>
        </pc:sldMkLst>
        <pc:spChg chg="mod">
          <ac:chgData name="Luke Gaffney" userId="6fa697cc8cd57f76" providerId="LiveId" clId="{528BD4CA-A453-43AA-8F73-3E975C3B2CFE}" dt="2025-12-18T20:11:57.458" v="968" actId="255"/>
          <ac:spMkLst>
            <pc:docMk/>
            <pc:sldMk cId="1987554360" sldId="280"/>
            <ac:spMk id="2" creationId="{29061BB3-7E15-2851-2DDF-7643C2B84269}"/>
          </ac:spMkLst>
        </pc:spChg>
        <pc:spChg chg="add mod">
          <ac:chgData name="Luke Gaffney" userId="6fa697cc8cd57f76" providerId="LiveId" clId="{528BD4CA-A453-43AA-8F73-3E975C3B2CFE}" dt="2025-12-22T13:30:24.369" v="1953"/>
          <ac:spMkLst>
            <pc:docMk/>
            <pc:sldMk cId="1987554360" sldId="280"/>
            <ac:spMk id="7" creationId="{F8680954-FCF1-9813-090F-D0E3B62B1BC5}"/>
          </ac:spMkLst>
        </pc:spChg>
        <pc:spChg chg="add mod">
          <ac:chgData name="Luke Gaffney" userId="6fa697cc8cd57f76" providerId="LiveId" clId="{528BD4CA-A453-43AA-8F73-3E975C3B2CFE}" dt="2025-12-22T13:34:51.592" v="1973" actId="1076"/>
          <ac:spMkLst>
            <pc:docMk/>
            <pc:sldMk cId="1987554360" sldId="280"/>
            <ac:spMk id="21" creationId="{600A8C6F-BFC4-607E-3627-E251A8A378A6}"/>
          </ac:spMkLst>
        </pc:spChg>
        <pc:picChg chg="add mod">
          <ac:chgData name="Luke Gaffney" userId="6fa697cc8cd57f76" providerId="LiveId" clId="{528BD4CA-A453-43AA-8F73-3E975C3B2CFE}" dt="2025-12-20T14:48:11.377" v="1866" actId="14100"/>
          <ac:picMkLst>
            <pc:docMk/>
            <pc:sldMk cId="1987554360" sldId="280"/>
            <ac:picMk id="9" creationId="{6FF178BC-FBD3-AB90-954C-F71B135174E3}"/>
          </ac:picMkLst>
        </pc:picChg>
      </pc:sldChg>
      <pc:sldChg chg="addSp delSp modSp mod modNotesTx">
        <pc:chgData name="Luke Gaffney" userId="6fa697cc8cd57f76" providerId="LiveId" clId="{528BD4CA-A453-43AA-8F73-3E975C3B2CFE}" dt="2025-12-22T15:25:49.010" v="2110" actId="12"/>
        <pc:sldMkLst>
          <pc:docMk/>
          <pc:sldMk cId="2767592310" sldId="282"/>
        </pc:sldMkLst>
        <pc:spChg chg="mod">
          <ac:chgData name="Luke Gaffney" userId="6fa697cc8cd57f76" providerId="LiveId" clId="{528BD4CA-A453-43AA-8F73-3E975C3B2CFE}" dt="2025-12-18T19:31:11.300" v="682" actId="255"/>
          <ac:spMkLst>
            <pc:docMk/>
            <pc:sldMk cId="2767592310" sldId="282"/>
            <ac:spMk id="2" creationId="{9CD3A3AA-476B-A498-4856-A7F18AA6D853}"/>
          </ac:spMkLst>
        </pc:spChg>
        <pc:spChg chg="add mod">
          <ac:chgData name="Luke Gaffney" userId="6fa697cc8cd57f76" providerId="LiveId" clId="{528BD4CA-A453-43AA-8F73-3E975C3B2CFE}" dt="2025-12-22T13:30:51.083" v="1961"/>
          <ac:spMkLst>
            <pc:docMk/>
            <pc:sldMk cId="2767592310" sldId="282"/>
            <ac:spMk id="5" creationId="{02DDFBE0-D271-E4EC-47A5-AABCE4FE7865}"/>
          </ac:spMkLst>
        </pc:spChg>
        <pc:spChg chg="mod">
          <ac:chgData name="Luke Gaffney" userId="6fa697cc8cd57f76" providerId="LiveId" clId="{528BD4CA-A453-43AA-8F73-3E975C3B2CFE}" dt="2025-12-22T13:40:15.714" v="1985" actId="20577"/>
          <ac:spMkLst>
            <pc:docMk/>
            <pc:sldMk cId="2767592310" sldId="282"/>
            <ac:spMk id="6" creationId="{7C17B134-C5BC-C626-F537-43616E13A7E1}"/>
          </ac:spMkLst>
        </pc:spChg>
        <pc:spChg chg="add mod">
          <ac:chgData name="Luke Gaffney" userId="6fa697cc8cd57f76" providerId="LiveId" clId="{528BD4CA-A453-43AA-8F73-3E975C3B2CFE}" dt="2025-12-18T20:29:05.070" v="1112" actId="1076"/>
          <ac:spMkLst>
            <pc:docMk/>
            <pc:sldMk cId="2767592310" sldId="282"/>
            <ac:spMk id="10" creationId="{0C14E7C4-BD1E-A981-A7EF-4E5642FCA054}"/>
          </ac:spMkLst>
        </pc:spChg>
        <pc:spChg chg="add mod">
          <ac:chgData name="Luke Gaffney" userId="6fa697cc8cd57f76" providerId="LiveId" clId="{528BD4CA-A453-43AA-8F73-3E975C3B2CFE}" dt="2025-12-18T20:29:23.438" v="1117" actId="1076"/>
          <ac:spMkLst>
            <pc:docMk/>
            <pc:sldMk cId="2767592310" sldId="282"/>
            <ac:spMk id="11" creationId="{B14B5E4F-FAE5-273D-4212-BDC05E0394AC}"/>
          </ac:spMkLst>
        </pc:spChg>
        <pc:spChg chg="add mod">
          <ac:chgData name="Luke Gaffney" userId="6fa697cc8cd57f76" providerId="LiveId" clId="{528BD4CA-A453-43AA-8F73-3E975C3B2CFE}" dt="2025-12-18T20:29:35.177" v="1119" actId="1076"/>
          <ac:spMkLst>
            <pc:docMk/>
            <pc:sldMk cId="2767592310" sldId="282"/>
            <ac:spMk id="12" creationId="{106330F7-4175-F54E-5BFC-7E5FDF1409EC}"/>
          </ac:spMkLst>
        </pc:spChg>
        <pc:picChg chg="add mod">
          <ac:chgData name="Luke Gaffney" userId="6fa697cc8cd57f76" providerId="LiveId" clId="{528BD4CA-A453-43AA-8F73-3E975C3B2CFE}" dt="2025-12-20T14:48:53.374" v="1875" actId="1076"/>
          <ac:picMkLst>
            <pc:docMk/>
            <pc:sldMk cId="2767592310" sldId="282"/>
            <ac:picMk id="9" creationId="{5C497C67-C0A9-CB4E-1F9E-3062ED8BA593}"/>
          </ac:picMkLst>
        </pc:picChg>
        <pc:cxnChg chg="add mod">
          <ac:chgData name="Luke Gaffney" userId="6fa697cc8cd57f76" providerId="LiveId" clId="{528BD4CA-A453-43AA-8F73-3E975C3B2CFE}" dt="2025-12-18T20:29:12.594" v="1114" actId="1076"/>
          <ac:cxnSpMkLst>
            <pc:docMk/>
            <pc:sldMk cId="2767592310" sldId="282"/>
            <ac:cxnSpMk id="14" creationId="{8B58EA03-6D38-5D8F-C94A-F215E27DE5F9}"/>
          </ac:cxnSpMkLst>
        </pc:cxnChg>
      </pc:sldChg>
      <pc:sldChg chg="addSp delSp modSp mod modNotesTx">
        <pc:chgData name="Luke Gaffney" userId="6fa697cc8cd57f76" providerId="LiveId" clId="{528BD4CA-A453-43AA-8F73-3E975C3B2CFE}" dt="2025-12-22T15:25:55.514" v="2111" actId="12"/>
        <pc:sldMkLst>
          <pc:docMk/>
          <pc:sldMk cId="2267194495" sldId="283"/>
        </pc:sldMkLst>
        <pc:spChg chg="mod">
          <ac:chgData name="Luke Gaffney" userId="6fa697cc8cd57f76" providerId="LiveId" clId="{528BD4CA-A453-43AA-8F73-3E975C3B2CFE}" dt="2025-12-18T20:12:55.663" v="976" actId="113"/>
          <ac:spMkLst>
            <pc:docMk/>
            <pc:sldMk cId="2267194495" sldId="283"/>
            <ac:spMk id="2" creationId="{FF5C7DD5-93F4-87B9-7BE2-CF7C4DD653E2}"/>
          </ac:spMkLst>
        </pc:spChg>
        <pc:spChg chg="add mod">
          <ac:chgData name="Luke Gaffney" userId="6fa697cc8cd57f76" providerId="LiveId" clId="{528BD4CA-A453-43AA-8F73-3E975C3B2CFE}" dt="2025-12-22T13:30:40.917" v="1959"/>
          <ac:spMkLst>
            <pc:docMk/>
            <pc:sldMk cId="2267194495" sldId="283"/>
            <ac:spMk id="5" creationId="{47234CCC-923A-7AC6-E216-680BA1BD92B6}"/>
          </ac:spMkLst>
        </pc:spChg>
        <pc:spChg chg="add mod">
          <ac:chgData name="Luke Gaffney" userId="6fa697cc8cd57f76" providerId="LiveId" clId="{528BD4CA-A453-43AA-8F73-3E975C3B2CFE}" dt="2025-12-22T13:36:21.892" v="1976" actId="20577"/>
          <ac:spMkLst>
            <pc:docMk/>
            <pc:sldMk cId="2267194495" sldId="283"/>
            <ac:spMk id="8" creationId="{9D29D358-04B9-5357-361B-0994D1A9FA6E}"/>
          </ac:spMkLst>
        </pc:spChg>
        <pc:picChg chg="add mod">
          <ac:chgData name="Luke Gaffney" userId="6fa697cc8cd57f76" providerId="LiveId" clId="{528BD4CA-A453-43AA-8F73-3E975C3B2CFE}" dt="2025-12-20T14:49:25.022" v="1884" actId="14100"/>
          <ac:picMkLst>
            <pc:docMk/>
            <pc:sldMk cId="2267194495" sldId="283"/>
            <ac:picMk id="9" creationId="{447BF319-110E-8C7E-255E-0BF26EF164F3}"/>
          </ac:picMkLst>
        </pc:picChg>
      </pc:sldChg>
      <pc:sldChg chg="addSp delSp modSp mod modNotesTx">
        <pc:chgData name="Luke Gaffney" userId="6fa697cc8cd57f76" providerId="LiveId" clId="{528BD4CA-A453-43AA-8F73-3E975C3B2CFE}" dt="2025-12-22T15:26:01.392" v="2112" actId="12"/>
        <pc:sldMkLst>
          <pc:docMk/>
          <pc:sldMk cId="3664452497" sldId="284"/>
        </pc:sldMkLst>
        <pc:spChg chg="mod">
          <ac:chgData name="Luke Gaffney" userId="6fa697cc8cd57f76" providerId="LiveId" clId="{528BD4CA-A453-43AA-8F73-3E975C3B2CFE}" dt="2025-12-18T21:01:12.125" v="1156" actId="255"/>
          <ac:spMkLst>
            <pc:docMk/>
            <pc:sldMk cId="3664452497" sldId="284"/>
            <ac:spMk id="2" creationId="{51F9CD1A-A750-7D78-ECE6-CEB7E83AE85A}"/>
          </ac:spMkLst>
        </pc:spChg>
        <pc:spChg chg="add mod">
          <ac:chgData name="Luke Gaffney" userId="6fa697cc8cd57f76" providerId="LiveId" clId="{528BD4CA-A453-43AA-8F73-3E975C3B2CFE}" dt="2025-12-22T13:36:41.885" v="1977"/>
          <ac:spMkLst>
            <pc:docMk/>
            <pc:sldMk cId="3664452497" sldId="284"/>
            <ac:spMk id="5" creationId="{44BA4203-4B1F-29D4-9B45-1F495A7BBED2}"/>
          </ac:spMkLst>
        </pc:spChg>
        <pc:spChg chg="add mod">
          <ac:chgData name="Luke Gaffney" userId="6fa697cc8cd57f76" providerId="LiveId" clId="{528BD4CA-A453-43AA-8F73-3E975C3B2CFE}" dt="2025-12-22T13:31:09.968" v="1964"/>
          <ac:spMkLst>
            <pc:docMk/>
            <pc:sldMk cId="3664452497" sldId="284"/>
            <ac:spMk id="7" creationId="{CD2A6343-3F32-E1BA-2F4E-58ECF4E926AE}"/>
          </ac:spMkLst>
        </pc:spChg>
        <pc:picChg chg="add mod">
          <ac:chgData name="Luke Gaffney" userId="6fa697cc8cd57f76" providerId="LiveId" clId="{528BD4CA-A453-43AA-8F73-3E975C3B2CFE}" dt="2025-12-20T14:52:45.810" v="1912" actId="1076"/>
          <ac:picMkLst>
            <pc:docMk/>
            <pc:sldMk cId="3664452497" sldId="284"/>
            <ac:picMk id="9" creationId="{720FA8DA-5597-C22F-4496-52547033AAB2}"/>
          </ac:picMkLst>
        </pc:picChg>
      </pc:sldChg>
      <pc:sldChg chg="addSp modSp mod modNotesTx">
        <pc:chgData name="Luke Gaffney" userId="6fa697cc8cd57f76" providerId="LiveId" clId="{528BD4CA-A453-43AA-8F73-3E975C3B2CFE}" dt="2025-12-22T15:26:26.322" v="2117" actId="12"/>
        <pc:sldMkLst>
          <pc:docMk/>
          <pc:sldMk cId="3434264560" sldId="285"/>
        </pc:sldMkLst>
        <pc:spChg chg="mod">
          <ac:chgData name="Luke Gaffney" userId="6fa697cc8cd57f76" providerId="LiveId" clId="{528BD4CA-A453-43AA-8F73-3E975C3B2CFE}" dt="2025-12-18T20:13:41.767" v="988" actId="255"/>
          <ac:spMkLst>
            <pc:docMk/>
            <pc:sldMk cId="3434264560" sldId="285"/>
            <ac:spMk id="2" creationId="{B0E19932-3748-B970-1992-0517CEAD921D}"/>
          </ac:spMkLst>
        </pc:spChg>
        <pc:spChg chg="add mod">
          <ac:chgData name="Luke Gaffney" userId="6fa697cc8cd57f76" providerId="LiveId" clId="{528BD4CA-A453-43AA-8F73-3E975C3B2CFE}" dt="2025-12-19T17:00:28.062" v="1638" actId="20577"/>
          <ac:spMkLst>
            <pc:docMk/>
            <pc:sldMk cId="3434264560" sldId="285"/>
            <ac:spMk id="3" creationId="{8A614149-FDAB-936D-306E-4186EFF4198E}"/>
          </ac:spMkLst>
        </pc:spChg>
      </pc:sldChg>
      <pc:sldChg chg="addSp modSp mod modNotesTx">
        <pc:chgData name="Luke Gaffney" userId="6fa697cc8cd57f76" providerId="LiveId" clId="{528BD4CA-A453-43AA-8F73-3E975C3B2CFE}" dt="2025-12-22T15:26:21.958" v="2116" actId="12"/>
        <pc:sldMkLst>
          <pc:docMk/>
          <pc:sldMk cId="3314449408" sldId="286"/>
        </pc:sldMkLst>
        <pc:spChg chg="mod">
          <ac:chgData name="Luke Gaffney" userId="6fa697cc8cd57f76" providerId="LiveId" clId="{528BD4CA-A453-43AA-8F73-3E975C3B2CFE}" dt="2025-12-18T20:13:35.248" v="986" actId="113"/>
          <ac:spMkLst>
            <pc:docMk/>
            <pc:sldMk cId="3314449408" sldId="286"/>
            <ac:spMk id="2" creationId="{321E8CED-2FC4-4AB1-9316-5EC71D806FF8}"/>
          </ac:spMkLst>
        </pc:spChg>
        <pc:spChg chg="add mod">
          <ac:chgData name="Luke Gaffney" userId="6fa697cc8cd57f76" providerId="LiveId" clId="{528BD4CA-A453-43AA-8F73-3E975C3B2CFE}" dt="2025-12-19T17:00:16.004" v="1632" actId="20577"/>
          <ac:spMkLst>
            <pc:docMk/>
            <pc:sldMk cId="3314449408" sldId="286"/>
            <ac:spMk id="4" creationId="{85D7D54C-61CE-1353-4D47-22F7C28900B4}"/>
          </ac:spMkLst>
        </pc:spChg>
      </pc:sldChg>
      <pc:sldChg chg="addSp delSp modSp mod modNotesTx">
        <pc:chgData name="Luke Gaffney" userId="6fa697cc8cd57f76" providerId="LiveId" clId="{528BD4CA-A453-43AA-8F73-3E975C3B2CFE}" dt="2025-12-22T15:26:15.546" v="2115" actId="12"/>
        <pc:sldMkLst>
          <pc:docMk/>
          <pc:sldMk cId="2071100020" sldId="287"/>
        </pc:sldMkLst>
        <pc:spChg chg="mod">
          <ac:chgData name="Luke Gaffney" userId="6fa697cc8cd57f76" providerId="LiveId" clId="{528BD4CA-A453-43AA-8F73-3E975C3B2CFE}" dt="2025-12-18T20:13:28.121" v="984" actId="113"/>
          <ac:spMkLst>
            <pc:docMk/>
            <pc:sldMk cId="2071100020" sldId="287"/>
            <ac:spMk id="2" creationId="{B0872236-0092-44E2-42F3-D0FFBC7801D7}"/>
          </ac:spMkLst>
        </pc:spChg>
        <pc:spChg chg="add mod">
          <ac:chgData name="Luke Gaffney" userId="6fa697cc8cd57f76" providerId="LiveId" clId="{528BD4CA-A453-43AA-8F73-3E975C3B2CFE}" dt="2025-12-22T14:45:21.437" v="1999" actId="20577"/>
          <ac:spMkLst>
            <pc:docMk/>
            <pc:sldMk cId="2071100020" sldId="287"/>
            <ac:spMk id="6" creationId="{B003664B-4843-8B17-5A4C-50D54A7CADC5}"/>
          </ac:spMkLst>
        </pc:spChg>
      </pc:sldChg>
      <pc:sldChg chg="addSp delSp modSp mod modNotesTx">
        <pc:chgData name="Luke Gaffney" userId="6fa697cc8cd57f76" providerId="LiveId" clId="{528BD4CA-A453-43AA-8F73-3E975C3B2CFE}" dt="2025-12-22T15:26:10.857" v="2114" actId="12"/>
        <pc:sldMkLst>
          <pc:docMk/>
          <pc:sldMk cId="3684625901" sldId="288"/>
        </pc:sldMkLst>
        <pc:spChg chg="mod">
          <ac:chgData name="Luke Gaffney" userId="6fa697cc8cd57f76" providerId="LiveId" clId="{528BD4CA-A453-43AA-8F73-3E975C3B2CFE}" dt="2025-12-18T21:02:26.060" v="1159" actId="255"/>
          <ac:spMkLst>
            <pc:docMk/>
            <pc:sldMk cId="3684625901" sldId="288"/>
            <ac:spMk id="2" creationId="{D13892BC-B838-0EBB-9CE6-B92041741EEF}"/>
          </ac:spMkLst>
        </pc:spChg>
        <pc:spChg chg="add mod">
          <ac:chgData name="Luke Gaffney" userId="6fa697cc8cd57f76" providerId="LiveId" clId="{528BD4CA-A453-43AA-8F73-3E975C3B2CFE}" dt="2025-12-22T13:37:35.205" v="1981" actId="20577"/>
          <ac:spMkLst>
            <pc:docMk/>
            <pc:sldMk cId="3684625901" sldId="288"/>
            <ac:spMk id="5" creationId="{FD65859E-3885-553F-D101-4DA042CB4B7F}"/>
          </ac:spMkLst>
        </pc:spChg>
        <pc:spChg chg="add mod">
          <ac:chgData name="Luke Gaffney" userId="6fa697cc8cd57f76" providerId="LiveId" clId="{528BD4CA-A453-43AA-8F73-3E975C3B2CFE}" dt="2025-12-22T13:31:24.977" v="1969"/>
          <ac:spMkLst>
            <pc:docMk/>
            <pc:sldMk cId="3684625901" sldId="288"/>
            <ac:spMk id="7" creationId="{AAB38F1D-65AE-4A13-42AF-46651D5EDEFA}"/>
          </ac:spMkLst>
        </pc:spChg>
        <pc:picChg chg="add mod">
          <ac:chgData name="Luke Gaffney" userId="6fa697cc8cd57f76" providerId="LiveId" clId="{528BD4CA-A453-43AA-8F73-3E975C3B2CFE}" dt="2025-12-20T14:50:52.421" v="1909" actId="1076"/>
          <ac:picMkLst>
            <pc:docMk/>
            <pc:sldMk cId="3684625901" sldId="288"/>
            <ac:picMk id="9" creationId="{8A92313F-2E06-5EDA-827C-5B06A85D5645}"/>
          </ac:picMkLst>
        </pc:picChg>
      </pc:sldChg>
      <pc:sldChg chg="addSp delSp modSp add mod modNotesTx">
        <pc:chgData name="Luke Gaffney" userId="6fa697cc8cd57f76" providerId="LiveId" clId="{528BD4CA-A453-43AA-8F73-3E975C3B2CFE}" dt="2025-12-22T15:26:06.103" v="2113" actId="12"/>
        <pc:sldMkLst>
          <pc:docMk/>
          <pc:sldMk cId="1769301805" sldId="290"/>
        </pc:sldMkLst>
        <pc:spChg chg="mod">
          <ac:chgData name="Luke Gaffney" userId="6fa697cc8cd57f76" providerId="LiveId" clId="{528BD4CA-A453-43AA-8F73-3E975C3B2CFE}" dt="2025-12-18T21:00:19.571" v="1152" actId="255"/>
          <ac:spMkLst>
            <pc:docMk/>
            <pc:sldMk cId="1769301805" sldId="290"/>
            <ac:spMk id="2" creationId="{F3F3FCB4-8A99-77D8-DB09-84A061141F35}"/>
          </ac:spMkLst>
        </pc:spChg>
        <pc:spChg chg="add mod">
          <ac:chgData name="Luke Gaffney" userId="6fa697cc8cd57f76" providerId="LiveId" clId="{528BD4CA-A453-43AA-8F73-3E975C3B2CFE}" dt="2025-12-22T13:40:57.484" v="1990" actId="20577"/>
          <ac:spMkLst>
            <pc:docMk/>
            <pc:sldMk cId="1769301805" sldId="290"/>
            <ac:spMk id="3" creationId="{7F57997F-3107-1310-A949-2FE70FD3D3B0}"/>
          </ac:spMkLst>
        </pc:spChg>
        <pc:spChg chg="add mod">
          <ac:chgData name="Luke Gaffney" userId="6fa697cc8cd57f76" providerId="LiveId" clId="{528BD4CA-A453-43AA-8F73-3E975C3B2CFE}" dt="2025-12-22T13:31:20.165" v="1967"/>
          <ac:spMkLst>
            <pc:docMk/>
            <pc:sldMk cId="1769301805" sldId="290"/>
            <ac:spMk id="7" creationId="{A004F379-19A0-C0B8-020A-433A7D73BA73}"/>
          </ac:spMkLst>
        </pc:spChg>
        <pc:picChg chg="add mod">
          <ac:chgData name="Luke Gaffney" userId="6fa697cc8cd57f76" providerId="LiveId" clId="{528BD4CA-A453-43AA-8F73-3E975C3B2CFE}" dt="2025-12-20T14:50:21.530" v="1901" actId="1076"/>
          <ac:picMkLst>
            <pc:docMk/>
            <pc:sldMk cId="1769301805" sldId="290"/>
            <ac:picMk id="9" creationId="{8F6C37E4-8365-E571-734E-2F260AAEE8F6}"/>
          </ac:picMkLst>
        </pc:picChg>
      </pc:sldChg>
      <pc:sldChg chg="modSp add mod modNotesTx">
        <pc:chgData name="Luke Gaffney" userId="6fa697cc8cd57f76" providerId="LiveId" clId="{528BD4CA-A453-43AA-8F73-3E975C3B2CFE}" dt="2025-12-22T15:26:31.484" v="2118" actId="20577"/>
        <pc:sldMkLst>
          <pc:docMk/>
          <pc:sldMk cId="2960301856" sldId="291"/>
        </pc:sldMkLst>
        <pc:spChg chg="mod">
          <ac:chgData name="Luke Gaffney" userId="6fa697cc8cd57f76" providerId="LiveId" clId="{528BD4CA-A453-43AA-8F73-3E975C3B2CFE}" dt="2025-12-22T15:15:36.138" v="2084" actId="20577"/>
          <ac:spMkLst>
            <pc:docMk/>
            <pc:sldMk cId="2960301856" sldId="291"/>
            <ac:spMk id="2" creationId="{2822C743-1514-89D4-2DAD-3E9F08CB440F}"/>
          </ac:spMkLst>
        </pc:spChg>
        <pc:spChg chg="mod">
          <ac:chgData name="Luke Gaffney" userId="6fa697cc8cd57f76" providerId="LiveId" clId="{528BD4CA-A453-43AA-8F73-3E975C3B2CFE}" dt="2025-12-22T15:15:58.873" v="2104" actId="1076"/>
          <ac:spMkLst>
            <pc:docMk/>
            <pc:sldMk cId="2960301856" sldId="291"/>
            <ac:spMk id="3" creationId="{717DC6DB-FFF7-A177-A3E3-A53D84FD998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DC4030-9B2D-4C56-AA99-33874DEDBB43}" type="datetimeFigureOut">
              <a:rPr lang="en-US" smtClean="0"/>
              <a:t>12/19/2025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F93AA-2A77-4ACB-8117-F9E159C9069A}" type="slidenum">
              <a:rPr lang="en-US" smtClean="0"/>
              <a:t>‹#›</a:t>
            </a:fld>
            <a:endParaRPr lang="en-US"/>
          </a:p>
        </p:txBody>
      </p:sp>
    </p:spTree>
    <p:extLst>
      <p:ext uri="{BB962C8B-B14F-4D97-AF65-F5344CB8AC3E}">
        <p14:creationId xmlns:p14="http://schemas.microsoft.com/office/powerpoint/2010/main" val="361820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examines how housing affordability changed in Metro Nashville between 2020 and 2023.</a:t>
            </a:r>
          </a:p>
          <a:p>
            <a:endParaRPr lang="en-US" dirty="0"/>
          </a:p>
          <a:p>
            <a:r>
              <a:rPr lang="en-US" dirty="0"/>
              <a:t>This period includes the pandemic housing boom, rapid price appreciation, and sharp increases in mortgage interest rates.</a:t>
            </a:r>
          </a:p>
          <a:p>
            <a:endParaRPr lang="en-US" dirty="0"/>
          </a:p>
          <a:p>
            <a:r>
              <a:rPr lang="en-US" dirty="0"/>
              <a:t>The focus is specifically on </a:t>
            </a:r>
            <a:r>
              <a:rPr lang="en-US" b="1" dirty="0"/>
              <a:t>single-family homes</a:t>
            </a:r>
            <a:r>
              <a:rPr lang="en-US" dirty="0"/>
              <a:t> and affordability for </a:t>
            </a:r>
            <a:r>
              <a:rPr lang="en-US" b="1" dirty="0"/>
              <a:t>median-income households</a:t>
            </a:r>
            <a:r>
              <a:rPr lang="en-US" dirty="0"/>
              <a:t>.</a:t>
            </a:r>
          </a:p>
          <a:p>
            <a:endParaRPr lang="en-US" dirty="0"/>
          </a:p>
          <a:p>
            <a:r>
              <a:rPr lang="en-US" dirty="0"/>
              <a:t>I also look at whether affordability pressures were felt evenly across ZIP codes or varied by neighborhood.</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a:t>
            </a:fld>
            <a:endParaRPr lang="en-US"/>
          </a:p>
        </p:txBody>
      </p:sp>
    </p:spTree>
    <p:extLst>
      <p:ext uri="{BB962C8B-B14F-4D97-AF65-F5344CB8AC3E}">
        <p14:creationId xmlns:p14="http://schemas.microsoft.com/office/powerpoint/2010/main" val="3060548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 purpose of this analysis is to evaluate changes in housing affordability in Metro Nashville during a period of major market disruption.</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I focus on three key drivers of affordability: </a:t>
            </a:r>
            <a:r>
              <a:rPr lang="en-US" b="1" dirty="0"/>
              <a:t>home prices, household income, and mortgage interest rates</a:t>
            </a:r>
            <a:r>
              <a:rPr lang="en-US" dirty="0"/>
              <a: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In addition to overall trends, I examine ZIP-level differences to understand whether some neighborhoods experienced greater affordability pressures than others.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2</a:t>
            </a:fld>
            <a:endParaRPr lang="en-US"/>
          </a:p>
        </p:txBody>
      </p:sp>
    </p:spTree>
    <p:extLst>
      <p:ext uri="{BB962C8B-B14F-4D97-AF65-F5344CB8AC3E}">
        <p14:creationId xmlns:p14="http://schemas.microsoft.com/office/powerpoint/2010/main" val="1395914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This project is guided by four research questions.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First, I examine how median home prices changed relative to household income growth.</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Second, I look at housing market activity, including inventory indicators and home sales volume.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Third, I assess how rising mortgage interest rates affected affordability for a median-income household.</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Finally, I analyze whether affordability changes were evenly distributed across ZIP codes in Metro Nashville.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3</a:t>
            </a:fld>
            <a:endParaRPr lang="en-US"/>
          </a:p>
        </p:txBody>
      </p:sp>
    </p:spTree>
    <p:extLst>
      <p:ext uri="{BB962C8B-B14F-4D97-AF65-F5344CB8AC3E}">
        <p14:creationId xmlns:p14="http://schemas.microsoft.com/office/powerpoint/2010/main" val="42712383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This analysis focuses on Metro Nashville from 2020 through 2023.</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I combine multiple datasets to capture different dimensions of affordability.</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Parcel sales data provide observed transaction prices for single-family homes.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Redfin data provide housing market indicators like inventory and homes sold.</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Census ACS data provide median household income at the ZIP code level.</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Mortgage rate data come from FRED and reflect national 30-year fixed rates.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4</a:t>
            </a:fld>
            <a:endParaRPr lang="en-US"/>
          </a:p>
        </p:txBody>
      </p:sp>
    </p:spTree>
    <p:extLst>
      <p:ext uri="{BB962C8B-B14F-4D97-AF65-F5344CB8AC3E}">
        <p14:creationId xmlns:p14="http://schemas.microsoft.com/office/powerpoint/2010/main" val="32651940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This slide provides a high-level comparison between 2020 and 2023.</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Median home prices increased from about $320,000 to over $437,000.</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Median household income increased as well, but at a slower pace.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At the same time, total single-family home sales declined significantly.</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Mortgage rates more than doubled, increasing borrowing costs and reducing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5</a:t>
            </a:fld>
            <a:endParaRPr lang="en-US"/>
          </a:p>
        </p:txBody>
      </p:sp>
    </p:spTree>
    <p:extLst>
      <p:ext uri="{BB962C8B-B14F-4D97-AF65-F5344CB8AC3E}">
        <p14:creationId xmlns:p14="http://schemas.microsoft.com/office/powerpoint/2010/main" val="1719800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This slide compares trends in median home prices and median household income.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Home prices increased substantially faster than incomes over this period.</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Between 2020 and 2023, prices rose by roughly 37%, while incomes increased by about 20%.</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This growing gap suggests that affordability worsened even before considering financing costs.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6</a:t>
            </a:fld>
            <a:endParaRPr lang="en-US"/>
          </a:p>
        </p:txBody>
      </p:sp>
    </p:spTree>
    <p:extLst>
      <p:ext uri="{BB962C8B-B14F-4D97-AF65-F5344CB8AC3E}">
        <p14:creationId xmlns:p14="http://schemas.microsoft.com/office/powerpoint/2010/main" val="16524479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US" b="1" dirty="0"/>
              <a:t>Price-to-Income Ratio</a:t>
            </a:r>
          </a:p>
          <a:p>
            <a:pPr marL="742950" lvl="1" indent="-285750">
              <a:buFont typeface="Arial" panose="020B0604020202020204" pitchFamily="34" charset="0"/>
              <a:buChar char="•"/>
            </a:pPr>
            <a:r>
              <a:rPr lang="en-US" dirty="0"/>
              <a:t>The </a:t>
            </a:r>
            <a:r>
              <a:rPr lang="en-US" b="1" dirty="0"/>
              <a:t>price-to-income ratio</a:t>
            </a:r>
            <a:r>
              <a:rPr lang="en-US" dirty="0"/>
              <a:t> measures how affordable housing is by comparing the cost of a typical home to the income of a typical household.</a:t>
            </a:r>
          </a:p>
          <a:p>
            <a:pPr marL="742950" lvl="1" indent="-285750">
              <a:buFont typeface="Arial" panose="020B0604020202020204" pitchFamily="34" charset="0"/>
              <a:buChar char="•"/>
            </a:pPr>
            <a:r>
              <a:rPr lang="en-US" b="1" dirty="0"/>
              <a:t>Price-to-Income Ratio= Median Home Sale Price/Median Household Income</a:t>
            </a:r>
          </a:p>
          <a:p>
            <a:pPr marL="742950" lvl="1" indent="-285750">
              <a:buFont typeface="Arial" panose="020B0604020202020204" pitchFamily="34" charset="0"/>
              <a:buChar char="•"/>
            </a:pPr>
            <a:endParaRPr lang="en-US" b="1" dirty="0"/>
          </a:p>
          <a:p>
            <a:pPr marL="171450" indent="-171450">
              <a:buFont typeface="Arial" panose="020B0604020202020204" pitchFamily="34" charset="0"/>
              <a:buChar char="•"/>
            </a:pPr>
            <a:r>
              <a:rPr lang="en-US" dirty="0"/>
              <a:t>The price-to-income ratio summarizes the relationship between home prices and income.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A higher ratio indicates reduced affordability.</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Between 2020 and 2022, the ratio increased sharply as prices outpaced income growth.</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While income growth in 2023 slightly reduced the ratio, affordability pressure remained elevated compared to earlier years in the period.</a:t>
            </a:r>
          </a:p>
          <a:p>
            <a:pPr marL="285750" lvl="0" indent="-285750">
              <a:buFont typeface="Arial" panose="020B0604020202020204" pitchFamily="34" charset="0"/>
              <a:buChar char="•"/>
            </a:pPr>
            <a:endParaRPr lang="en-US" b="1"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7</a:t>
            </a:fld>
            <a:endParaRPr lang="en-US"/>
          </a:p>
        </p:txBody>
      </p:sp>
    </p:spTree>
    <p:extLst>
      <p:ext uri="{BB962C8B-B14F-4D97-AF65-F5344CB8AC3E}">
        <p14:creationId xmlns:p14="http://schemas.microsoft.com/office/powerpoint/2010/main" val="3524343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During this period, Metro Nashville experienced continued population growth, while housing inventory remained constrained. This imbalance between demand and available housing helps explain why prices continued to rise despite fluctuations in sales volume.  Maybe talk about population increase in the speaker notes on this one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dirty="0"/>
          </a:p>
          <a:p>
            <a:pPr marL="171450" indent="-171450">
              <a:buFont typeface="Arial" panose="020B0604020202020204" pitchFamily="34" charset="0"/>
              <a:buChar char="•"/>
            </a:pPr>
            <a:r>
              <a:rPr lang="en-US" dirty="0"/>
              <a:t>This slide shows changes in housing market conditions.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Inventory declined sharply in 2021, tightening market conditions.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Even as inventory partially recovered in later years, home sales continued to decline.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Higher prices and rising mortgage rates reduced buyer activity, contributing to continued affordability challenges.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8</a:t>
            </a:fld>
            <a:endParaRPr lang="en-US"/>
          </a:p>
        </p:txBody>
      </p:sp>
    </p:spTree>
    <p:extLst>
      <p:ext uri="{BB962C8B-B14F-4D97-AF65-F5344CB8AC3E}">
        <p14:creationId xmlns:p14="http://schemas.microsoft.com/office/powerpoint/2010/main" val="23594227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Mortgage interest rates remained historically low in 2020 and 2021.</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Beginning in 2022, rates increased rapidly.</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These increases significantly raised monthly mortgage payments.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Higher borrowing costs compounded affordability challenges created by rising home prices.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9</a:t>
            </a:fld>
            <a:endParaRPr lang="en-US"/>
          </a:p>
        </p:txBody>
      </p:sp>
    </p:spTree>
    <p:extLst>
      <p:ext uri="{BB962C8B-B14F-4D97-AF65-F5344CB8AC3E}">
        <p14:creationId xmlns:p14="http://schemas.microsoft.com/office/powerpoint/2010/main" val="418154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This slide shows the share of median household income required for mortgage payments.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The dashed line represents the commonly used 30% affordability threshold.</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By 2022, housing costs exceeded this threshold for median-income households.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Affordability worsened further in 2023, placing homeownership out of reach for many households.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10</a:t>
            </a:fld>
            <a:endParaRPr lang="en-US"/>
          </a:p>
        </p:txBody>
      </p:sp>
    </p:spTree>
    <p:extLst>
      <p:ext uri="{BB962C8B-B14F-4D97-AF65-F5344CB8AC3E}">
        <p14:creationId xmlns:p14="http://schemas.microsoft.com/office/powerpoint/2010/main" val="7360349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Affordability changes were not evenly distributed across Metro Nashville.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Some ZIP codes experienced much larger increases in price-to-income ratios than others.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These differences suggest that neighborhood-level market dynamics played an important role in shaping affordability outcomes.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This highlights the importance of examining affordability at a local level rather than relying only on metro-wide averages.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11</a:t>
            </a:fld>
            <a:endParaRPr lang="en-US"/>
          </a:p>
        </p:txBody>
      </p:sp>
    </p:spTree>
    <p:extLst>
      <p:ext uri="{BB962C8B-B14F-4D97-AF65-F5344CB8AC3E}">
        <p14:creationId xmlns:p14="http://schemas.microsoft.com/office/powerpoint/2010/main" val="466719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Home prices increased faster than incomes, widening the affordability gap.</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Rising mortgage rates significantly increased borrowing costs.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Housing market conditions tightened early in the period and remained challenging.</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Affordability pressures were uneven across ZIP codes.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Together, these factors contributed to a substantial decline in homeownership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12</a:t>
            </a:fld>
            <a:endParaRPr lang="en-US"/>
          </a:p>
        </p:txBody>
      </p:sp>
    </p:spTree>
    <p:extLst>
      <p:ext uri="{BB962C8B-B14F-4D97-AF65-F5344CB8AC3E}">
        <p14:creationId xmlns:p14="http://schemas.microsoft.com/office/powerpoint/2010/main" val="5400603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Limitations &amp; Next Steps</a:t>
            </a:r>
          </a:p>
          <a:p>
            <a:r>
              <a:rPr lang="en-US" b="1" dirty="0"/>
              <a:t>Data &amp; Geographic Limitations</a:t>
            </a:r>
          </a:p>
          <a:p>
            <a:r>
              <a:rPr lang="en-US" dirty="0"/>
              <a:t>Defining the true boundaries of </a:t>
            </a:r>
            <a:r>
              <a:rPr lang="en-US" b="1" dirty="0"/>
              <a:t>Metro Nashville at the ZIP-code level</a:t>
            </a:r>
            <a:r>
              <a:rPr lang="en-US" dirty="0"/>
              <a:t> was challenging, as different data sources include different ZIP codes within the metro area.</a:t>
            </a:r>
          </a:p>
          <a:p>
            <a:r>
              <a:rPr lang="en-US" dirty="0"/>
              <a:t>Results may vary slightly depending on which ZIP codes are classified as part of the metro region.</a:t>
            </a:r>
          </a:p>
          <a:p>
            <a:br>
              <a:rPr lang="en-US" dirty="0"/>
            </a:br>
            <a:endParaRPr lang="en-US" dirty="0"/>
          </a:p>
          <a:p>
            <a:r>
              <a:rPr lang="en-US" b="1" dirty="0"/>
              <a:t>Temporal Data Constraints</a:t>
            </a:r>
          </a:p>
          <a:p>
            <a:r>
              <a:rPr lang="en-US" dirty="0"/>
              <a:t>ZIP-code level Census income data were only consistently available for </a:t>
            </a:r>
            <a:r>
              <a:rPr lang="en-US" b="1" dirty="0"/>
              <a:t>2020–2023</a:t>
            </a:r>
            <a:r>
              <a:rPr lang="en-US" dirty="0"/>
              <a:t>, limiting the ability to analyze longer-term affordability trends at a granular level.</a:t>
            </a:r>
          </a:p>
          <a:p>
            <a:r>
              <a:rPr lang="en-US" dirty="0"/>
              <a:t>As a result, earlier affordability dynamics could not be examined at the ZIP-code scale.</a:t>
            </a:r>
          </a:p>
          <a:p>
            <a:br>
              <a:rPr lang="en-US" dirty="0"/>
            </a:br>
            <a:endParaRPr lang="en-US" dirty="0"/>
          </a:p>
          <a:p>
            <a:r>
              <a:rPr lang="en-US" b="1" dirty="0"/>
              <a:t>Future Research Opportunities</a:t>
            </a:r>
          </a:p>
          <a:p>
            <a:r>
              <a:rPr lang="en-US" dirty="0"/>
              <a:t>Expanding this analysis to cover the </a:t>
            </a:r>
            <a:r>
              <a:rPr lang="en-US" b="1" dirty="0"/>
              <a:t>past 10–20 years</a:t>
            </a:r>
            <a:r>
              <a:rPr lang="en-US" dirty="0"/>
              <a:t> would provide valuable insight into how affordability pressures have evolved over multiple housing cycles.</a:t>
            </a:r>
          </a:p>
          <a:p>
            <a:r>
              <a:rPr lang="en-US" dirty="0"/>
              <a:t>Incorporating additional geographic definitions (e.g., county or census tract level) could improve consistency and comparability across data sources.</a:t>
            </a:r>
          </a:p>
          <a:p>
            <a:r>
              <a:rPr lang="en-US" dirty="0"/>
              <a:t>Future work could also examine </a:t>
            </a:r>
            <a:r>
              <a:rPr lang="en-US" b="1" dirty="0"/>
              <a:t>demographic and tenure differences</a:t>
            </a:r>
            <a:r>
              <a:rPr lang="en-US" dirty="0"/>
              <a:t> to better understand who is most affected by rising housing costs.</a:t>
            </a:r>
          </a:p>
          <a:p>
            <a:endParaRPr lang="en-US" dirty="0"/>
          </a:p>
          <a:p>
            <a:pPr marL="171450" indent="-171450">
              <a:buFont typeface="Arial" panose="020B0604020202020204" pitchFamily="34" charset="0"/>
              <a:buChar char="•"/>
            </a:pPr>
            <a:r>
              <a:rPr lang="en-US" dirty="0"/>
              <a:t>There are several limitations to this analysis.</a:t>
            </a:r>
          </a:p>
          <a:p>
            <a:pPr marL="171450" indent="-171450">
              <a:buFont typeface="Arial" panose="020B0604020202020204" pitchFamily="34" charset="0"/>
              <a:buChar char="•"/>
            </a:pPr>
            <a:r>
              <a:rPr lang="en-US" dirty="0"/>
              <a:t>ZIP code boundaries and definitions vary across data sources.</a:t>
            </a:r>
          </a:p>
          <a:p>
            <a:pPr marL="171450" indent="-171450">
              <a:buFont typeface="Arial" panose="020B0604020202020204" pitchFamily="34" charset="0"/>
              <a:buChar char="•"/>
            </a:pPr>
            <a:r>
              <a:rPr lang="en-US" dirty="0"/>
              <a:t>Inventory measures represent market indicators rather than full housing supply.</a:t>
            </a:r>
          </a:p>
          <a:p>
            <a:pPr marL="171450" indent="-171450">
              <a:buFont typeface="Arial" panose="020B0604020202020204" pitchFamily="34" charset="0"/>
              <a:buChar char="•"/>
            </a:pPr>
            <a:r>
              <a:rPr lang="en-US" dirty="0"/>
              <a:t>Future work could examine longer time horizons or use smaller geographic units.</a:t>
            </a:r>
          </a:p>
          <a:p>
            <a:pPr marL="171450" indent="-171450">
              <a:buFont typeface="Arial" panose="020B0604020202020204" pitchFamily="34" charset="0"/>
              <a:buChar char="•"/>
            </a:pPr>
            <a:r>
              <a:rPr lang="en-US" dirty="0"/>
              <a:t>Additional factors like rents, debt burdens, or demographic changes could also be explored.</a:t>
            </a:r>
          </a:p>
          <a:p>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13</a:t>
            </a:fld>
            <a:endParaRPr lang="en-US"/>
          </a:p>
        </p:txBody>
      </p:sp>
    </p:spTree>
    <p:extLst>
      <p:ext uri="{BB962C8B-B14F-4D97-AF65-F5344CB8AC3E}">
        <p14:creationId xmlns:p14="http://schemas.microsoft.com/office/powerpoint/2010/main" val="4330422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Between 2020 and 2023, rising home prices, higher mortgage rates, and constrained market conditions significantly reduced housing affordability in Metro Nashville.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While incomes increased, they did not keep pace with housing costs.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Affordability pressures were not evenly distributed across neighborhoods.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Overall, this analysis shows how multiple market forces combined to worsen housing affordability during this period.</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14</a:t>
            </a:fld>
            <a:endParaRPr lang="en-US"/>
          </a:p>
        </p:txBody>
      </p:sp>
    </p:spTree>
    <p:extLst>
      <p:ext uri="{BB962C8B-B14F-4D97-AF65-F5344CB8AC3E}">
        <p14:creationId xmlns:p14="http://schemas.microsoft.com/office/powerpoint/2010/main" val="3967946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A23CA-F784-8609-0053-212FA3AE92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BF1ED-677E-4E16-D8CE-A99EBE92F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4D6CC0-871A-93D4-2DB3-A0558479D7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C5540D-FF74-83C1-A1BD-A09C777BF1F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56215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B0-975D-31C0-7BD2-130C245434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BB2F58E-52D2-45F0-509A-3E4302E780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F3F032-6152-B5C7-54EF-7EB35DF144E5}"/>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2E7E7F83-9F97-0164-4B11-1CACCD45E8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C8B827-DA72-76BF-61CA-181EA87576EF}"/>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6602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0E89-F670-4E88-3E52-1AA9D7600C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1374FA-5609-F22E-26ED-7885D3E35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C0E74-7F8C-66C3-FE01-9E3D2BA99CD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43335726-2349-EDE0-794B-25EA1D3044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811528-EF31-3213-AA8C-2CD786F52F19}"/>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05867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C2E8B-C2FA-9286-E03F-5062DD039F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CE3503-19AF-41A1-092B-60F71F8E30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C9196-F250-9AC7-C084-0C296B6EF68A}"/>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A342C2E2-AADD-09B1-ECA7-26C53131C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6FFD7-1E59-034B-3879-28E65E068368}"/>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8850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F1EF4-8D70-0817-DB5C-3369F32DC3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4E66F9-EA1A-E713-1129-AFC0F085A6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926150-237C-07E5-F4DF-E50753C097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AFE979-9992-5F31-187A-84483C24E7B9}"/>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2BF4108E-06EC-7DFA-4CBF-53D7FD7424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B67EB0-7D64-B128-A285-B64767E10996}"/>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05771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E9BF-D271-59F7-CDC8-4BB6BA8E31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1A5B08-8F08-2CB9-0A59-F064AB3718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89D034-3EF6-034B-72C7-61C65E3C6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3EFCF9-610A-FF4B-3D06-FF194B3FE9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5A1D2C-24CF-3533-0350-AAAEFC0537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9B8B4-32D6-2982-33F4-7DBAB725FAE0}"/>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8" name="Footer Placeholder 7">
            <a:extLst>
              <a:ext uri="{FF2B5EF4-FFF2-40B4-BE49-F238E27FC236}">
                <a16:creationId xmlns:a16="http://schemas.microsoft.com/office/drawing/2014/main" id="{7D85D933-EB9E-64DD-6AC4-6BF2DE1E16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91474B-D526-55B5-F8D0-D4D9A6659C0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612506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85F02-4A00-FEEB-7401-29905178EF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0F79DE-8C6C-EBEE-AFF4-6600C380058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4" name="Footer Placeholder 3">
            <a:extLst>
              <a:ext uri="{FF2B5EF4-FFF2-40B4-BE49-F238E27FC236}">
                <a16:creationId xmlns:a16="http://schemas.microsoft.com/office/drawing/2014/main" id="{BE0FCE67-FA2B-D1B0-BEA5-0689789FE1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48475D-4CAA-3871-ACB6-754155DC20E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333160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FCEDD4-C8B3-C0CA-26ED-C549B6235587}"/>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3" name="Footer Placeholder 2">
            <a:extLst>
              <a:ext uri="{FF2B5EF4-FFF2-40B4-BE49-F238E27FC236}">
                <a16:creationId xmlns:a16="http://schemas.microsoft.com/office/drawing/2014/main" id="{28BF2656-8F73-2AB9-3AEC-9B2747D7793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F3B3B3-4FC1-AC29-C7E4-5BADB03A3DC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9677724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570B3-B4BA-AA12-3A32-39FA11E78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7F0DEE-D2DF-E961-7282-0BC2D8876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41A205-AEB8-D897-5F94-1F12E34DB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9DFE46-2C9B-35D2-D243-72709CB269D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B990FAE4-F8DC-58C1-5838-5C112BAF56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44D7A-A481-B793-36EB-93C2ED89482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099186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ED6C8-EB4E-48A1-5CE6-DCC89B514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E20E6-9043-9EF1-69FA-9C08F6DA6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5E99AC-2F15-B873-7B49-AF750FA78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1D3D93-B00E-2BF1-1322-CA8D92BDDEF4}"/>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878AE80E-3BF8-3895-DA76-0D4FC1B365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7F440E-A6AE-421F-F21A-9158F42A602E}"/>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588069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09D6A-55E4-E96B-7AAA-490E4B1124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D28C3DA-E907-7104-FC2F-822FCB6645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0983F7-1A60-ABE5-F5C4-3FAEC5EFB796}"/>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B67EBBF6-4A85-99DB-669A-17849C39F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ED123-26C9-DDE2-9767-83C6171D943A}"/>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3938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5208DA-23A1-B2DA-EAB5-C1FC20091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3F736D-53B1-AB46-2B66-10E5DDDCC0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567765-E2E5-DB5D-13F8-0B11DEC18E89}"/>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EA3220CA-D52F-3532-C9DE-B094EED30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57A-AA84-4CD3-FCAD-F750DEFB9C73}"/>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25898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0FFFA7-441F-50E1-A716-AC6833AAAB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1FB9B9-FF4D-9244-1F7D-98F874CA93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99808-6845-39EA-3256-B3F6ED28AC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28CE2A96-42F0-C2EA-1D5D-2AB730FB5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7B05EC-6F7A-BC17-BDEC-FF9652A1FB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CD607A-72E9-4BF2-9356-F51220A4424A}" type="slidenum">
              <a:rPr lang="en-US" smtClean="0"/>
              <a:t>‹#›</a:t>
            </a:fld>
            <a:endParaRPr lang="en-US"/>
          </a:p>
        </p:txBody>
      </p:sp>
    </p:spTree>
    <p:extLst>
      <p:ext uri="{BB962C8B-B14F-4D97-AF65-F5344CB8AC3E}">
        <p14:creationId xmlns:p14="http://schemas.microsoft.com/office/powerpoint/2010/main" val="1287794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871A2F-1D02-6452-5157-8CB541F3456A}"/>
              </a:ext>
            </a:extLst>
          </p:cNvPr>
          <p:cNvSpPr>
            <a:spLocks noGrp="1"/>
          </p:cNvSpPr>
          <p:nvPr>
            <p:ph type="ctrTitle"/>
          </p:nvPr>
        </p:nvSpPr>
        <p:spPr>
          <a:xfrm>
            <a:off x="4817533" y="1317025"/>
            <a:ext cx="6251110" cy="2902077"/>
          </a:xfrm>
        </p:spPr>
        <p:txBody>
          <a:bodyPr anchor="b">
            <a:normAutofit/>
          </a:bodyPr>
          <a:lstStyle/>
          <a:p>
            <a:r>
              <a:rPr lang="en-US" sz="4400" b="1" dirty="0"/>
              <a:t>Housing Affordability in Metro Nashville During a Period of Market Disruption (2020–2023)</a:t>
            </a:r>
          </a:p>
        </p:txBody>
      </p:sp>
      <p:sp>
        <p:nvSpPr>
          <p:cNvPr id="3" name="Subtitle 2">
            <a:extLst>
              <a:ext uri="{FF2B5EF4-FFF2-40B4-BE49-F238E27FC236}">
                <a16:creationId xmlns:a16="http://schemas.microsoft.com/office/drawing/2014/main" id="{FB4789A9-F273-59F1-B441-515130EFAB92}"/>
              </a:ext>
            </a:extLst>
          </p:cNvPr>
          <p:cNvSpPr>
            <a:spLocks noGrp="1"/>
          </p:cNvSpPr>
          <p:nvPr>
            <p:ph type="subTitle" idx="1"/>
          </p:nvPr>
        </p:nvSpPr>
        <p:spPr>
          <a:xfrm>
            <a:off x="5381626" y="4617720"/>
            <a:ext cx="4655865" cy="355092"/>
          </a:xfrm>
        </p:spPr>
        <p:txBody>
          <a:bodyPr>
            <a:normAutofit lnSpcReduction="10000"/>
          </a:bodyPr>
          <a:lstStyle/>
          <a:p>
            <a:pPr algn="l"/>
            <a:r>
              <a:rPr lang="en-US" sz="2000" dirty="0"/>
              <a:t>Luke Gaffney | DDA17 Capstone Project</a:t>
            </a:r>
          </a:p>
          <a:p>
            <a:pPr algn="l"/>
            <a:endParaRPr lang="en-US" dirty="0"/>
          </a:p>
        </p:txBody>
      </p:sp>
      <p:pic>
        <p:nvPicPr>
          <p:cNvPr id="5" name="Picture 4" descr="Houses in a subdivision">
            <a:extLst>
              <a:ext uri="{FF2B5EF4-FFF2-40B4-BE49-F238E27FC236}">
                <a16:creationId xmlns:a16="http://schemas.microsoft.com/office/drawing/2014/main" id="{F2BEEBFA-CA17-EDF1-8619-5BB733B403C6}"/>
              </a:ext>
            </a:extLst>
          </p:cNvPr>
          <p:cNvPicPr>
            <a:picLocks noChangeAspect="1"/>
          </p:cNvPicPr>
          <p:nvPr/>
        </p:nvPicPr>
        <p:blipFill>
          <a:blip r:embed="rId3"/>
          <a:srcRect l="33472" r="21197" b="-1"/>
          <a:stretch>
            <a:fillRect/>
          </a:stretch>
        </p:blipFill>
        <p:spPr>
          <a:xfrm>
            <a:off x="1" y="10"/>
            <a:ext cx="4571999"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28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415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9FC05C-E79A-F5B5-327B-29607701820D}"/>
              </a:ext>
            </a:extLst>
          </p:cNvPr>
          <p:cNvSpPr>
            <a:spLocks noGrp="1"/>
          </p:cNvSpPr>
          <p:nvPr>
            <p:ph type="title"/>
          </p:nvPr>
        </p:nvSpPr>
        <p:spPr>
          <a:xfrm>
            <a:off x="841248" y="548640"/>
            <a:ext cx="3600860" cy="5431536"/>
          </a:xfrm>
        </p:spPr>
        <p:txBody>
          <a:bodyPr>
            <a:normAutofit/>
          </a:bodyPr>
          <a:lstStyle/>
          <a:p>
            <a:pPr algn="ctr"/>
            <a:r>
              <a:rPr lang="en-US" b="1" dirty="0"/>
              <a:t>Purpose of this Analysis</a:t>
            </a:r>
          </a:p>
        </p:txBody>
      </p:sp>
      <p:sp>
        <p:nvSpPr>
          <p:cNvPr id="12"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5E1C994-818C-0ACC-C41E-5E01DA946D82}"/>
              </a:ext>
            </a:extLst>
          </p:cNvPr>
          <p:cNvSpPr txBox="1"/>
          <p:nvPr/>
        </p:nvSpPr>
        <p:spPr>
          <a:xfrm>
            <a:off x="5223031" y="2602688"/>
            <a:ext cx="6403552" cy="1631216"/>
          </a:xfrm>
          <a:prstGeom prst="rect">
            <a:avLst/>
          </a:prstGeom>
          <a:noFill/>
        </p:spPr>
        <p:txBody>
          <a:bodyPr wrap="square" rtlCol="0">
            <a:spAutoFit/>
          </a:bodyPr>
          <a:lstStyle/>
          <a:p>
            <a:r>
              <a:rPr lang="en-US" sz="2000" dirty="0"/>
              <a:t>To evaluate changes in housing affordability in Metro Nashville from 2020 to 2023 by analyzing trends in home prices, mortgage interest rates, and household income, and to identify differences in affordability outcomes across ZIP codes.</a:t>
            </a:r>
          </a:p>
        </p:txBody>
      </p:sp>
    </p:spTree>
    <p:extLst>
      <p:ext uri="{BB962C8B-B14F-4D97-AF65-F5344CB8AC3E}">
        <p14:creationId xmlns:p14="http://schemas.microsoft.com/office/powerpoint/2010/main" val="348488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F011FB-0361-81F1-A411-48E3B66109D6}"/>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D2D996-43B4-913B-F7DD-59EA7C708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9B228D7-8329-3F75-828E-FC46FA1AD6D9}"/>
              </a:ext>
            </a:extLst>
          </p:cNvPr>
          <p:cNvSpPr>
            <a:spLocks noGrp="1"/>
          </p:cNvSpPr>
          <p:nvPr>
            <p:ph type="title"/>
          </p:nvPr>
        </p:nvSpPr>
        <p:spPr>
          <a:xfrm>
            <a:off x="841248" y="548640"/>
            <a:ext cx="3600860" cy="5431536"/>
          </a:xfrm>
        </p:spPr>
        <p:txBody>
          <a:bodyPr>
            <a:normAutofit/>
          </a:bodyPr>
          <a:lstStyle/>
          <a:p>
            <a:pPr algn="ctr"/>
            <a:r>
              <a:rPr lang="en-US" b="1" dirty="0"/>
              <a:t>Research Questions</a:t>
            </a:r>
          </a:p>
        </p:txBody>
      </p:sp>
      <p:sp>
        <p:nvSpPr>
          <p:cNvPr id="12" name="sketch line">
            <a:extLst>
              <a:ext uri="{FF2B5EF4-FFF2-40B4-BE49-F238E27FC236}">
                <a16:creationId xmlns:a16="http://schemas.microsoft.com/office/drawing/2014/main" id="{836549C7-EDAA-8C20-68F5-F3CDC5C14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45E13C00-C4B2-AC65-DFCC-5BF7B4C0D768}"/>
              </a:ext>
            </a:extLst>
          </p:cNvPr>
          <p:cNvSpPr>
            <a:spLocks noGrp="1"/>
          </p:cNvSpPr>
          <p:nvPr>
            <p:ph idx="1"/>
          </p:nvPr>
        </p:nvSpPr>
        <p:spPr>
          <a:xfrm>
            <a:off x="5126418" y="552091"/>
            <a:ext cx="6224335" cy="5431536"/>
          </a:xfrm>
        </p:spPr>
        <p:txBody>
          <a:bodyPr anchor="ctr">
            <a:normAutofit/>
          </a:bodyPr>
          <a:lstStyle/>
          <a:p>
            <a:endParaRPr lang="en-US" sz="1900" dirty="0"/>
          </a:p>
          <a:p>
            <a:pPr marL="0" indent="0">
              <a:buNone/>
            </a:pPr>
            <a:endParaRPr lang="en-US" sz="1900" dirty="0">
              <a:latin typeface="Calibri" panose="020F0502020204030204" pitchFamily="34" charset="0"/>
              <a:ea typeface="Calibri" panose="020F0502020204030204" pitchFamily="34" charset="0"/>
            </a:endParaRPr>
          </a:p>
          <a:p>
            <a:endParaRPr lang="en-US" sz="1900" dirty="0"/>
          </a:p>
        </p:txBody>
      </p:sp>
      <p:sp>
        <p:nvSpPr>
          <p:cNvPr id="4" name="TextBox 3">
            <a:extLst>
              <a:ext uri="{FF2B5EF4-FFF2-40B4-BE49-F238E27FC236}">
                <a16:creationId xmlns:a16="http://schemas.microsoft.com/office/drawing/2014/main" id="{337C5CAA-78BD-6151-0CC5-8CA452F48391}"/>
              </a:ext>
            </a:extLst>
          </p:cNvPr>
          <p:cNvSpPr txBox="1"/>
          <p:nvPr/>
        </p:nvSpPr>
        <p:spPr>
          <a:xfrm>
            <a:off x="5354759" y="962152"/>
            <a:ext cx="6149788" cy="5355312"/>
          </a:xfrm>
          <a:prstGeom prst="rect">
            <a:avLst/>
          </a:prstGeom>
          <a:noFill/>
        </p:spPr>
        <p:txBody>
          <a:bodyPr wrap="square" rtlCol="0">
            <a:spAutoFit/>
          </a:bodyPr>
          <a:lstStyle/>
          <a:p>
            <a:pPr marL="342900" indent="-342900">
              <a:buAutoNum type="arabicPeriod"/>
            </a:pPr>
            <a:r>
              <a:rPr lang="en-US" dirty="0"/>
              <a:t>How did median single-family home sale prices in Metro Nashville change between 2020 and 2023, and to what extent did median household income growth keep pace with these price changes?</a:t>
            </a:r>
          </a:p>
          <a:p>
            <a:pPr marL="342900" indent="-342900">
              <a:buFont typeface="+mj-lt"/>
              <a:buAutoNum type="arabicPeriod"/>
            </a:pPr>
            <a:endParaRPr lang="en-US" dirty="0"/>
          </a:p>
          <a:p>
            <a:pPr marL="342900" indent="-342900">
              <a:buFontTx/>
              <a:buAutoNum type="arabicPeriod"/>
            </a:pPr>
            <a:r>
              <a:rPr lang="en-US" dirty="0"/>
              <a:t>How did housing inventory levels and home sales volume in Metro Nashville change between 2020 and 2023, and how did these market conditions correspond with changes in median home sale prices?</a:t>
            </a:r>
          </a:p>
          <a:p>
            <a:pPr marL="342900" indent="-342900">
              <a:buFont typeface="+mj-lt"/>
              <a:buAutoNum type="arabicPeriod"/>
            </a:pPr>
            <a:endParaRPr lang="en-US" dirty="0"/>
          </a:p>
          <a:p>
            <a:pPr marL="342900" indent="-342900">
              <a:buFontTx/>
              <a:buAutoNum type="arabicPeriod"/>
            </a:pPr>
            <a:r>
              <a:rPr lang="en-US" dirty="0"/>
              <a:t>How did changes in 30-year fixed mortgage interest rates between 2020 and 2023 influence homeownership affordability for a median-income household in Metro Nashville?</a:t>
            </a:r>
          </a:p>
          <a:p>
            <a:pPr marL="342900" indent="-342900">
              <a:buFont typeface="+mj-lt"/>
              <a:buAutoNum type="arabicPeriod"/>
            </a:pPr>
            <a:endParaRPr lang="en-US" dirty="0"/>
          </a:p>
          <a:p>
            <a:pPr marL="342900" indent="-342900">
              <a:buFont typeface="+mj-lt"/>
              <a:buAutoNum type="arabicPeriod"/>
            </a:pPr>
            <a:r>
              <a:rPr lang="en-US" dirty="0"/>
              <a:t>Were changes in housing affordability evenly distributed across ZIP codes in Metro Nashville between 2020 and 2023, or did certain ZIP codes experience disproportionately larger shifts in affordability?</a:t>
            </a:r>
          </a:p>
        </p:txBody>
      </p:sp>
    </p:spTree>
    <p:extLst>
      <p:ext uri="{BB962C8B-B14F-4D97-AF65-F5344CB8AC3E}">
        <p14:creationId xmlns:p14="http://schemas.microsoft.com/office/powerpoint/2010/main" val="4045112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F808D7-A765-76F0-9157-9650D33648A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34538BD-5182-757D-AA03-7FE43366C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BA9AF-2BD7-97AC-F960-51216C2F9482}"/>
              </a:ext>
            </a:extLst>
          </p:cNvPr>
          <p:cNvSpPr>
            <a:spLocks noGrp="1"/>
          </p:cNvSpPr>
          <p:nvPr>
            <p:ph type="title"/>
          </p:nvPr>
        </p:nvSpPr>
        <p:spPr>
          <a:xfrm>
            <a:off x="838200" y="365125"/>
            <a:ext cx="10515600" cy="1325563"/>
          </a:xfrm>
        </p:spPr>
        <p:txBody>
          <a:bodyPr>
            <a:normAutofit/>
          </a:bodyPr>
          <a:lstStyle/>
          <a:p>
            <a:r>
              <a:rPr lang="en-US" b="1" dirty="0"/>
              <a:t>About the data</a:t>
            </a:r>
          </a:p>
        </p:txBody>
      </p:sp>
      <p:sp>
        <p:nvSpPr>
          <p:cNvPr id="19" name="sketch line">
            <a:extLst>
              <a:ext uri="{FF2B5EF4-FFF2-40B4-BE49-F238E27FC236}">
                <a16:creationId xmlns:a16="http://schemas.microsoft.com/office/drawing/2014/main" id="{E2E8BF61-004B-D31B-5057-33B6A1A09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BFD046D5-C800-2F5C-68F0-9AD62A89727F}"/>
              </a:ext>
            </a:extLst>
          </p:cNvPr>
          <p:cNvSpPr txBox="1"/>
          <p:nvPr/>
        </p:nvSpPr>
        <p:spPr>
          <a:xfrm>
            <a:off x="956733" y="2286000"/>
            <a:ext cx="9050867" cy="3693319"/>
          </a:xfrm>
          <a:prstGeom prst="rect">
            <a:avLst/>
          </a:prstGeom>
          <a:noFill/>
        </p:spPr>
        <p:txBody>
          <a:bodyPr wrap="square" rtlCol="0">
            <a:spAutoFit/>
          </a:bodyPr>
          <a:lstStyle/>
          <a:p>
            <a:pPr marL="285750" indent="-285750">
              <a:buFont typeface="Arial" panose="020B0604020202020204" pitchFamily="34" charset="0"/>
              <a:buChar char="•"/>
            </a:pPr>
            <a:r>
              <a:rPr lang="en-US" b="1" dirty="0"/>
              <a:t>Scope</a:t>
            </a:r>
            <a:endParaRPr lang="en-US" dirty="0"/>
          </a:p>
          <a:p>
            <a:pPr marL="742950" lvl="1" indent="-285750">
              <a:buFont typeface="Arial" panose="020B0604020202020204" pitchFamily="34" charset="0"/>
              <a:buChar char="•"/>
            </a:pPr>
            <a:r>
              <a:rPr lang="en-US" b="1" dirty="0"/>
              <a:t>Location:</a:t>
            </a:r>
            <a:r>
              <a:rPr lang="en-US" dirty="0"/>
              <a:t> Metro Nashville</a:t>
            </a:r>
          </a:p>
          <a:p>
            <a:pPr marL="742950" lvl="1" indent="-285750">
              <a:buFont typeface="Arial" panose="020B0604020202020204" pitchFamily="34" charset="0"/>
              <a:buChar char="•"/>
            </a:pPr>
            <a:r>
              <a:rPr lang="en-US" b="1" dirty="0"/>
              <a:t>Period:</a:t>
            </a:r>
            <a:r>
              <a:rPr lang="en-US" dirty="0"/>
              <a:t> 2020–2023</a:t>
            </a:r>
          </a:p>
          <a:p>
            <a:pPr marL="742950" lvl="1" indent="-285750">
              <a:buFont typeface="Arial" panose="020B0604020202020204" pitchFamily="34" charset="0"/>
              <a:buChar char="•"/>
            </a:pPr>
            <a:r>
              <a:rPr lang="en-US" b="1" dirty="0"/>
              <a:t>Focus:</a:t>
            </a:r>
            <a:r>
              <a:rPr lang="en-US" dirty="0"/>
              <a:t> Single-family housing affordability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Data Sources</a:t>
            </a:r>
            <a:endParaRPr lang="en-US" dirty="0"/>
          </a:p>
          <a:p>
            <a:pPr marL="742950" lvl="1" indent="-285750">
              <a:buFont typeface="Arial" panose="020B0604020202020204" pitchFamily="34" charset="0"/>
              <a:buChar char="•"/>
            </a:pPr>
            <a:r>
              <a:rPr lang="en-US" b="1" dirty="0"/>
              <a:t>Metro Nashville Parcel Sales Data:</a:t>
            </a:r>
            <a:r>
              <a:rPr lang="en-US" dirty="0"/>
              <a:t> Used to calculate </a:t>
            </a:r>
            <a:r>
              <a:rPr lang="en-US" b="1" dirty="0"/>
              <a:t>median single-family home sale prices</a:t>
            </a:r>
            <a:r>
              <a:rPr lang="en-US" dirty="0"/>
              <a:t> from observed transactions</a:t>
            </a:r>
          </a:p>
          <a:p>
            <a:pPr marL="742950" lvl="1" indent="-285750">
              <a:buFont typeface="Arial" panose="020B0604020202020204" pitchFamily="34" charset="0"/>
              <a:buChar char="•"/>
            </a:pPr>
            <a:r>
              <a:rPr lang="en-US" b="1" dirty="0"/>
              <a:t>Redfin Market Data:</a:t>
            </a:r>
            <a:r>
              <a:rPr lang="en-US" dirty="0"/>
              <a:t> Used for </a:t>
            </a:r>
            <a:r>
              <a:rPr lang="en-US" b="1" dirty="0"/>
              <a:t>inventory indicators, homes sold, days on market, and market competitiveness</a:t>
            </a:r>
            <a:endParaRPr lang="en-US" dirty="0"/>
          </a:p>
          <a:p>
            <a:pPr marL="742950" lvl="1" indent="-285750">
              <a:buFont typeface="Arial" panose="020B0604020202020204" pitchFamily="34" charset="0"/>
              <a:buChar char="•"/>
            </a:pPr>
            <a:r>
              <a:rPr lang="en-US" b="1" dirty="0"/>
              <a:t>U.S. Census ACS:</a:t>
            </a:r>
            <a:r>
              <a:rPr lang="en-US" dirty="0"/>
              <a:t> Used for </a:t>
            </a:r>
            <a:r>
              <a:rPr lang="en-US" b="1" dirty="0"/>
              <a:t>median household income and housing context</a:t>
            </a:r>
            <a:r>
              <a:rPr lang="en-US" dirty="0"/>
              <a:t> at the ZIP (ZCTA) level</a:t>
            </a:r>
          </a:p>
          <a:p>
            <a:pPr marL="742950" lvl="1" indent="-285750">
              <a:buFont typeface="Arial" panose="020B0604020202020204" pitchFamily="34" charset="0"/>
              <a:buChar char="•"/>
            </a:pPr>
            <a:r>
              <a:rPr lang="en-US" b="1" dirty="0"/>
              <a:t>FRED:</a:t>
            </a:r>
            <a:r>
              <a:rPr lang="en-US" dirty="0"/>
              <a:t> Used for </a:t>
            </a:r>
            <a:r>
              <a:rPr lang="en-US" b="1" dirty="0"/>
              <a:t>30-year fixed mortgage interest rates</a:t>
            </a:r>
            <a:endParaRPr lang="en-US" dirty="0"/>
          </a:p>
        </p:txBody>
      </p:sp>
    </p:spTree>
    <p:extLst>
      <p:ext uri="{BB962C8B-B14F-4D97-AF65-F5344CB8AC3E}">
        <p14:creationId xmlns:p14="http://schemas.microsoft.com/office/powerpoint/2010/main" val="835599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2F295F-C423-1C7A-F0D5-B4FEC5277C9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464FE2B-8E3D-B874-D701-0EA99F5F1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B1300D-AC32-6A7E-3302-C38583BC0E9A}"/>
              </a:ext>
            </a:extLst>
          </p:cNvPr>
          <p:cNvSpPr>
            <a:spLocks noGrp="1"/>
          </p:cNvSpPr>
          <p:nvPr>
            <p:ph type="title"/>
          </p:nvPr>
        </p:nvSpPr>
        <p:spPr>
          <a:xfrm>
            <a:off x="838200" y="365125"/>
            <a:ext cx="11201400" cy="1325563"/>
          </a:xfrm>
        </p:spPr>
        <p:txBody>
          <a:bodyPr>
            <a:normAutofit/>
          </a:bodyPr>
          <a:lstStyle/>
          <a:p>
            <a:r>
              <a:rPr lang="nb-NO" b="1" dirty="0"/>
              <a:t>Metro Nashville Housing Market Snapshot</a:t>
            </a:r>
            <a:endParaRPr lang="en-US" b="1" dirty="0"/>
          </a:p>
        </p:txBody>
      </p:sp>
      <p:sp>
        <p:nvSpPr>
          <p:cNvPr id="19" name="sketch line">
            <a:extLst>
              <a:ext uri="{FF2B5EF4-FFF2-40B4-BE49-F238E27FC236}">
                <a16:creationId xmlns:a16="http://schemas.microsoft.com/office/drawing/2014/main" id="{7E048FF6-6921-1686-C0B2-27EB2F41AE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7B064B8D-B47F-4375-2B50-CF6CF3893C03}"/>
              </a:ext>
            </a:extLst>
          </p:cNvPr>
          <p:cNvSpPr/>
          <p:nvPr/>
        </p:nvSpPr>
        <p:spPr>
          <a:xfrm>
            <a:off x="669036"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A0F0684F-4197-6064-55B4-98EB35BEC608}"/>
              </a:ext>
            </a:extLst>
          </p:cNvPr>
          <p:cNvSpPr/>
          <p:nvPr/>
        </p:nvSpPr>
        <p:spPr>
          <a:xfrm>
            <a:off x="3525013"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1EDDE1D7-883C-62FF-3687-9FBB1577874D}"/>
              </a:ext>
            </a:extLst>
          </p:cNvPr>
          <p:cNvSpPr/>
          <p:nvPr/>
        </p:nvSpPr>
        <p:spPr>
          <a:xfrm>
            <a:off x="3513695"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F9704708-6D90-46C9-1CAE-40013BD95D43}"/>
              </a:ext>
            </a:extLst>
          </p:cNvPr>
          <p:cNvSpPr/>
          <p:nvPr/>
        </p:nvSpPr>
        <p:spPr>
          <a:xfrm>
            <a:off x="9236966"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F92D9006-4F0B-4761-2C1A-A8C48A31A008}"/>
              </a:ext>
            </a:extLst>
          </p:cNvPr>
          <p:cNvSpPr/>
          <p:nvPr/>
        </p:nvSpPr>
        <p:spPr>
          <a:xfrm>
            <a:off x="9203012"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7" name="Rectangle 56">
            <a:extLst>
              <a:ext uri="{FF2B5EF4-FFF2-40B4-BE49-F238E27FC236}">
                <a16:creationId xmlns:a16="http://schemas.microsoft.com/office/drawing/2014/main" id="{32D69E2D-ACD2-E3BF-DC2D-FE6E5D6DFB26}"/>
              </a:ext>
            </a:extLst>
          </p:cNvPr>
          <p:cNvSpPr/>
          <p:nvPr/>
        </p:nvSpPr>
        <p:spPr>
          <a:xfrm>
            <a:off x="669036"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A2B05C51-F692-ADF1-1A14-326A496A24C3}"/>
              </a:ext>
            </a:extLst>
          </p:cNvPr>
          <p:cNvSpPr/>
          <p:nvPr/>
        </p:nvSpPr>
        <p:spPr>
          <a:xfrm>
            <a:off x="6380990"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Rectangle 59">
            <a:extLst>
              <a:ext uri="{FF2B5EF4-FFF2-40B4-BE49-F238E27FC236}">
                <a16:creationId xmlns:a16="http://schemas.microsoft.com/office/drawing/2014/main" id="{9BFF97D0-ED64-E128-C274-C00499EFFAE4}"/>
              </a:ext>
            </a:extLst>
          </p:cNvPr>
          <p:cNvSpPr/>
          <p:nvPr/>
        </p:nvSpPr>
        <p:spPr>
          <a:xfrm>
            <a:off x="6358354"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TextBox 61">
            <a:extLst>
              <a:ext uri="{FF2B5EF4-FFF2-40B4-BE49-F238E27FC236}">
                <a16:creationId xmlns:a16="http://schemas.microsoft.com/office/drawing/2014/main" id="{EC08A544-DE54-C799-B423-36CDCF2C5E78}"/>
              </a:ext>
            </a:extLst>
          </p:cNvPr>
          <p:cNvSpPr txBox="1"/>
          <p:nvPr/>
        </p:nvSpPr>
        <p:spPr>
          <a:xfrm>
            <a:off x="898058" y="2977872"/>
            <a:ext cx="2056555" cy="830997"/>
          </a:xfrm>
          <a:prstGeom prst="rect">
            <a:avLst/>
          </a:prstGeom>
          <a:noFill/>
        </p:spPr>
        <p:txBody>
          <a:bodyPr wrap="square" rtlCol="0">
            <a:spAutoFit/>
          </a:bodyPr>
          <a:lstStyle/>
          <a:p>
            <a:pPr algn="ctr"/>
            <a:r>
              <a:rPr lang="en-US" sz="3400" b="1" dirty="0"/>
              <a:t>$320,000</a:t>
            </a:r>
          </a:p>
          <a:p>
            <a:pPr algn="ctr"/>
            <a:r>
              <a:rPr lang="en-US" sz="1400" dirty="0"/>
              <a:t>Median Sale Price</a:t>
            </a:r>
          </a:p>
        </p:txBody>
      </p:sp>
      <p:sp>
        <p:nvSpPr>
          <p:cNvPr id="63" name="TextBox 62">
            <a:extLst>
              <a:ext uri="{FF2B5EF4-FFF2-40B4-BE49-F238E27FC236}">
                <a16:creationId xmlns:a16="http://schemas.microsoft.com/office/drawing/2014/main" id="{5CDB8C99-1CCB-5587-C46B-2A5DF5A29899}"/>
              </a:ext>
            </a:extLst>
          </p:cNvPr>
          <p:cNvSpPr txBox="1"/>
          <p:nvPr/>
        </p:nvSpPr>
        <p:spPr>
          <a:xfrm>
            <a:off x="6574972" y="2977872"/>
            <a:ext cx="2089881" cy="830997"/>
          </a:xfrm>
          <a:prstGeom prst="rect">
            <a:avLst/>
          </a:prstGeom>
          <a:noFill/>
        </p:spPr>
        <p:txBody>
          <a:bodyPr wrap="square" rtlCol="0">
            <a:spAutoFit/>
          </a:bodyPr>
          <a:lstStyle/>
          <a:p>
            <a:pPr algn="ctr"/>
            <a:r>
              <a:rPr lang="en-US" sz="3400" b="1" dirty="0"/>
              <a:t>$437,200</a:t>
            </a:r>
          </a:p>
          <a:p>
            <a:pPr algn="ctr"/>
            <a:r>
              <a:rPr lang="en-US" sz="1400" dirty="0"/>
              <a:t>Median Sale Price</a:t>
            </a:r>
          </a:p>
        </p:txBody>
      </p:sp>
      <p:sp>
        <p:nvSpPr>
          <p:cNvPr id="65" name="TextBox 64">
            <a:extLst>
              <a:ext uri="{FF2B5EF4-FFF2-40B4-BE49-F238E27FC236}">
                <a16:creationId xmlns:a16="http://schemas.microsoft.com/office/drawing/2014/main" id="{40D337F7-9BCF-4A96-AD0F-AE467E9DF863}"/>
              </a:ext>
            </a:extLst>
          </p:cNvPr>
          <p:cNvSpPr txBox="1"/>
          <p:nvPr/>
        </p:nvSpPr>
        <p:spPr>
          <a:xfrm>
            <a:off x="3599856" y="2977872"/>
            <a:ext cx="2329873" cy="830997"/>
          </a:xfrm>
          <a:prstGeom prst="rect">
            <a:avLst/>
          </a:prstGeom>
          <a:noFill/>
        </p:spPr>
        <p:txBody>
          <a:bodyPr wrap="square" rtlCol="0">
            <a:spAutoFit/>
          </a:bodyPr>
          <a:lstStyle/>
          <a:p>
            <a:pPr algn="ctr"/>
            <a:r>
              <a:rPr lang="en-US" sz="3400" b="1" dirty="0"/>
              <a:t>$74,974</a:t>
            </a:r>
          </a:p>
          <a:p>
            <a:pPr algn="ctr"/>
            <a:r>
              <a:rPr lang="en-US" sz="1400" dirty="0"/>
              <a:t>Median Household Income</a:t>
            </a:r>
          </a:p>
        </p:txBody>
      </p:sp>
      <p:sp>
        <p:nvSpPr>
          <p:cNvPr id="67" name="TextBox 66">
            <a:extLst>
              <a:ext uri="{FF2B5EF4-FFF2-40B4-BE49-F238E27FC236}">
                <a16:creationId xmlns:a16="http://schemas.microsoft.com/office/drawing/2014/main" id="{CD7201A7-9E3A-067E-7422-34FDC06F2DFB}"/>
              </a:ext>
            </a:extLst>
          </p:cNvPr>
          <p:cNvSpPr txBox="1"/>
          <p:nvPr/>
        </p:nvSpPr>
        <p:spPr>
          <a:xfrm>
            <a:off x="9310097" y="2977872"/>
            <a:ext cx="2368338" cy="830997"/>
          </a:xfrm>
          <a:prstGeom prst="rect">
            <a:avLst/>
          </a:prstGeom>
          <a:noFill/>
        </p:spPr>
        <p:txBody>
          <a:bodyPr wrap="square" rtlCol="0">
            <a:spAutoFit/>
          </a:bodyPr>
          <a:lstStyle/>
          <a:p>
            <a:pPr algn="ctr"/>
            <a:r>
              <a:rPr lang="en-US" sz="3400" b="1" dirty="0"/>
              <a:t>$90,246</a:t>
            </a:r>
          </a:p>
          <a:p>
            <a:pPr algn="ctr"/>
            <a:r>
              <a:rPr lang="en-US" sz="1400" dirty="0"/>
              <a:t>Median Household Income</a:t>
            </a:r>
          </a:p>
        </p:txBody>
      </p:sp>
      <p:sp>
        <p:nvSpPr>
          <p:cNvPr id="3" name="TextBox 2">
            <a:extLst>
              <a:ext uri="{FF2B5EF4-FFF2-40B4-BE49-F238E27FC236}">
                <a16:creationId xmlns:a16="http://schemas.microsoft.com/office/drawing/2014/main" id="{BD7F736E-6940-81F4-8CCE-71C9F3341512}"/>
              </a:ext>
            </a:extLst>
          </p:cNvPr>
          <p:cNvSpPr txBox="1"/>
          <p:nvPr/>
        </p:nvSpPr>
        <p:spPr>
          <a:xfrm>
            <a:off x="2799451" y="1816327"/>
            <a:ext cx="1428488" cy="646331"/>
          </a:xfrm>
          <a:prstGeom prst="rect">
            <a:avLst/>
          </a:prstGeom>
          <a:noFill/>
        </p:spPr>
        <p:txBody>
          <a:bodyPr wrap="square" rtlCol="0">
            <a:spAutoFit/>
          </a:bodyPr>
          <a:lstStyle/>
          <a:p>
            <a:r>
              <a:rPr lang="en-US" sz="3600" b="1" dirty="0"/>
              <a:t>2020</a:t>
            </a:r>
          </a:p>
        </p:txBody>
      </p:sp>
      <p:sp>
        <p:nvSpPr>
          <p:cNvPr id="4" name="TextBox 3">
            <a:extLst>
              <a:ext uri="{FF2B5EF4-FFF2-40B4-BE49-F238E27FC236}">
                <a16:creationId xmlns:a16="http://schemas.microsoft.com/office/drawing/2014/main" id="{E493CBD1-94BF-5E0A-77DB-FF5C226FD519}"/>
              </a:ext>
            </a:extLst>
          </p:cNvPr>
          <p:cNvSpPr txBox="1"/>
          <p:nvPr/>
        </p:nvSpPr>
        <p:spPr>
          <a:xfrm>
            <a:off x="8488768" y="1863382"/>
            <a:ext cx="1428488" cy="646331"/>
          </a:xfrm>
          <a:prstGeom prst="rect">
            <a:avLst/>
          </a:prstGeom>
          <a:noFill/>
        </p:spPr>
        <p:txBody>
          <a:bodyPr wrap="square" rtlCol="0">
            <a:spAutoFit/>
          </a:bodyPr>
          <a:lstStyle/>
          <a:p>
            <a:r>
              <a:rPr lang="en-US" sz="3600" b="1" dirty="0"/>
              <a:t>2023</a:t>
            </a:r>
          </a:p>
        </p:txBody>
      </p:sp>
      <p:sp>
        <p:nvSpPr>
          <p:cNvPr id="5" name="TextBox 4">
            <a:extLst>
              <a:ext uri="{FF2B5EF4-FFF2-40B4-BE49-F238E27FC236}">
                <a16:creationId xmlns:a16="http://schemas.microsoft.com/office/drawing/2014/main" id="{7188F6DC-749C-0E58-9C52-708EB0881C1C}"/>
              </a:ext>
            </a:extLst>
          </p:cNvPr>
          <p:cNvSpPr txBox="1"/>
          <p:nvPr/>
        </p:nvSpPr>
        <p:spPr>
          <a:xfrm>
            <a:off x="898057" y="4765128"/>
            <a:ext cx="2056555" cy="1261884"/>
          </a:xfrm>
          <a:prstGeom prst="rect">
            <a:avLst/>
          </a:prstGeom>
          <a:noFill/>
        </p:spPr>
        <p:txBody>
          <a:bodyPr wrap="square" rtlCol="0">
            <a:spAutoFit/>
          </a:bodyPr>
          <a:lstStyle/>
          <a:p>
            <a:pPr algn="ctr"/>
            <a:r>
              <a:rPr lang="en-US" sz="3400" b="1" dirty="0"/>
              <a:t>38,234</a:t>
            </a:r>
          </a:p>
          <a:p>
            <a:pPr algn="ctr"/>
            <a:r>
              <a:rPr lang="en-US" sz="1400" dirty="0"/>
              <a:t>Total Single-Family Home Sales</a:t>
            </a:r>
          </a:p>
          <a:p>
            <a:pPr algn="ctr"/>
            <a:endParaRPr lang="en-US" sz="1400" dirty="0"/>
          </a:p>
        </p:txBody>
      </p:sp>
      <p:sp>
        <p:nvSpPr>
          <p:cNvPr id="6" name="TextBox 5">
            <a:extLst>
              <a:ext uri="{FF2B5EF4-FFF2-40B4-BE49-F238E27FC236}">
                <a16:creationId xmlns:a16="http://schemas.microsoft.com/office/drawing/2014/main" id="{E9D36018-8142-2EDD-EF2A-A6BBC8C171D8}"/>
              </a:ext>
            </a:extLst>
          </p:cNvPr>
          <p:cNvSpPr txBox="1"/>
          <p:nvPr/>
        </p:nvSpPr>
        <p:spPr>
          <a:xfrm>
            <a:off x="9432034" y="4765128"/>
            <a:ext cx="2056555" cy="830997"/>
          </a:xfrm>
          <a:prstGeom prst="rect">
            <a:avLst/>
          </a:prstGeom>
          <a:noFill/>
        </p:spPr>
        <p:txBody>
          <a:bodyPr wrap="square" rtlCol="0">
            <a:spAutoFit/>
          </a:bodyPr>
          <a:lstStyle/>
          <a:p>
            <a:pPr algn="ctr"/>
            <a:r>
              <a:rPr lang="en-US" sz="3400" b="1" dirty="0"/>
              <a:t>6.81%</a:t>
            </a:r>
          </a:p>
          <a:p>
            <a:pPr algn="ctr"/>
            <a:r>
              <a:rPr lang="en-US" sz="1400" dirty="0"/>
              <a:t>Avg 30-Yr Mortgage Rate</a:t>
            </a:r>
          </a:p>
        </p:txBody>
      </p:sp>
      <p:sp>
        <p:nvSpPr>
          <p:cNvPr id="7" name="TextBox 6">
            <a:extLst>
              <a:ext uri="{FF2B5EF4-FFF2-40B4-BE49-F238E27FC236}">
                <a16:creationId xmlns:a16="http://schemas.microsoft.com/office/drawing/2014/main" id="{29E4D0B8-5AD9-3177-AEEB-D8BF77B12F2A}"/>
              </a:ext>
            </a:extLst>
          </p:cNvPr>
          <p:cNvSpPr txBox="1"/>
          <p:nvPr/>
        </p:nvSpPr>
        <p:spPr>
          <a:xfrm>
            <a:off x="6587375" y="4765128"/>
            <a:ext cx="2056555" cy="1261884"/>
          </a:xfrm>
          <a:prstGeom prst="rect">
            <a:avLst/>
          </a:prstGeom>
          <a:noFill/>
        </p:spPr>
        <p:txBody>
          <a:bodyPr wrap="square" rtlCol="0">
            <a:spAutoFit/>
          </a:bodyPr>
          <a:lstStyle/>
          <a:p>
            <a:pPr algn="ctr"/>
            <a:r>
              <a:rPr lang="en-US" sz="3400" b="1" dirty="0"/>
              <a:t>26,570</a:t>
            </a:r>
          </a:p>
          <a:p>
            <a:pPr algn="ctr"/>
            <a:r>
              <a:rPr lang="en-US" sz="1400" dirty="0"/>
              <a:t>Total Single-Family Home Sales</a:t>
            </a:r>
          </a:p>
          <a:p>
            <a:pPr algn="ctr"/>
            <a:endParaRPr lang="en-US" sz="1400" dirty="0"/>
          </a:p>
        </p:txBody>
      </p:sp>
      <p:sp>
        <p:nvSpPr>
          <p:cNvPr id="8" name="TextBox 7">
            <a:extLst>
              <a:ext uri="{FF2B5EF4-FFF2-40B4-BE49-F238E27FC236}">
                <a16:creationId xmlns:a16="http://schemas.microsoft.com/office/drawing/2014/main" id="{C50D66DC-6DC7-0FFF-14AB-BE095496AAF2}"/>
              </a:ext>
            </a:extLst>
          </p:cNvPr>
          <p:cNvSpPr txBox="1"/>
          <p:nvPr/>
        </p:nvSpPr>
        <p:spPr>
          <a:xfrm>
            <a:off x="3742716" y="4765128"/>
            <a:ext cx="2056555" cy="830997"/>
          </a:xfrm>
          <a:prstGeom prst="rect">
            <a:avLst/>
          </a:prstGeom>
          <a:noFill/>
        </p:spPr>
        <p:txBody>
          <a:bodyPr wrap="square" rtlCol="0">
            <a:spAutoFit/>
          </a:bodyPr>
          <a:lstStyle/>
          <a:p>
            <a:pPr algn="ctr"/>
            <a:r>
              <a:rPr lang="en-US" sz="3400" b="1" dirty="0"/>
              <a:t>3.11%</a:t>
            </a:r>
          </a:p>
          <a:p>
            <a:pPr algn="ctr"/>
            <a:r>
              <a:rPr lang="en-US" sz="1400" dirty="0"/>
              <a:t>Avg 30-Yr Mortgage Rate</a:t>
            </a:r>
          </a:p>
        </p:txBody>
      </p:sp>
      <p:sp>
        <p:nvSpPr>
          <p:cNvPr id="9" name="TextBox 8">
            <a:extLst>
              <a:ext uri="{FF2B5EF4-FFF2-40B4-BE49-F238E27FC236}">
                <a16:creationId xmlns:a16="http://schemas.microsoft.com/office/drawing/2014/main" id="{3C7FBA32-85DE-EFE7-0D4A-994A972D3294}"/>
              </a:ext>
            </a:extLst>
          </p:cNvPr>
          <p:cNvSpPr txBox="1"/>
          <p:nvPr/>
        </p:nvSpPr>
        <p:spPr>
          <a:xfrm>
            <a:off x="129545" y="6537321"/>
            <a:ext cx="4873450" cy="215444"/>
          </a:xfrm>
          <a:prstGeom prst="rect">
            <a:avLst/>
          </a:prstGeom>
          <a:noFill/>
        </p:spPr>
        <p:txBody>
          <a:bodyPr wrap="square" rtlCol="0">
            <a:spAutoFit/>
          </a:bodyPr>
          <a:lstStyle/>
          <a:p>
            <a:r>
              <a:rPr lang="en-US" sz="800" i="1" dirty="0"/>
              <a:t>Sources: Metro Nashville Parcel Data, Redfin, U.S. Census ACS, FRED</a:t>
            </a:r>
          </a:p>
        </p:txBody>
      </p:sp>
    </p:spTree>
    <p:extLst>
      <p:ext uri="{BB962C8B-B14F-4D97-AF65-F5344CB8AC3E}">
        <p14:creationId xmlns:p14="http://schemas.microsoft.com/office/powerpoint/2010/main" val="542633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644FC-F1EA-B271-90B9-23789C241C95}"/>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CA92C0F-82BD-C8E1-30EE-506B07DFE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061BB3-7E15-2851-2DDF-7643C2B84269}"/>
              </a:ext>
            </a:extLst>
          </p:cNvPr>
          <p:cNvSpPr>
            <a:spLocks noGrp="1"/>
          </p:cNvSpPr>
          <p:nvPr>
            <p:ph type="title"/>
          </p:nvPr>
        </p:nvSpPr>
        <p:spPr>
          <a:xfrm>
            <a:off x="836676" y="360954"/>
            <a:ext cx="10515600" cy="1325563"/>
          </a:xfrm>
        </p:spPr>
        <p:txBody>
          <a:bodyPr>
            <a:normAutofit/>
          </a:bodyPr>
          <a:lstStyle/>
          <a:p>
            <a:r>
              <a:rPr lang="en-US" b="1" dirty="0"/>
              <a:t>Sale Price vs Income in Metro Nashville</a:t>
            </a:r>
          </a:p>
        </p:txBody>
      </p:sp>
      <p:sp>
        <p:nvSpPr>
          <p:cNvPr id="19" name="sketch line">
            <a:extLst>
              <a:ext uri="{FF2B5EF4-FFF2-40B4-BE49-F238E27FC236}">
                <a16:creationId xmlns:a16="http://schemas.microsoft.com/office/drawing/2014/main" id="{0A0DC3D1-8C1B-10C4-AFDA-7BA4AB262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600A8C6F-BFC4-607E-3627-E251A8A378A6}"/>
              </a:ext>
            </a:extLst>
          </p:cNvPr>
          <p:cNvSpPr txBox="1"/>
          <p:nvPr/>
        </p:nvSpPr>
        <p:spPr>
          <a:xfrm>
            <a:off x="1211580" y="1860404"/>
            <a:ext cx="10311384" cy="369332"/>
          </a:xfrm>
          <a:prstGeom prst="rect">
            <a:avLst/>
          </a:prstGeom>
          <a:noFill/>
        </p:spPr>
        <p:txBody>
          <a:bodyPr wrap="square" rtlCol="0">
            <a:spAutoFit/>
          </a:bodyPr>
          <a:lstStyle/>
          <a:p>
            <a:r>
              <a:rPr lang="en-US" dirty="0"/>
              <a:t>Median home prices increased substantially faster than household incomes between 2020 and 2023.</a:t>
            </a:r>
          </a:p>
        </p:txBody>
      </p:sp>
      <p:sp>
        <p:nvSpPr>
          <p:cNvPr id="7" name="TextBox 6">
            <a:extLst>
              <a:ext uri="{FF2B5EF4-FFF2-40B4-BE49-F238E27FC236}">
                <a16:creationId xmlns:a16="http://schemas.microsoft.com/office/drawing/2014/main" id="{F8680954-FCF1-9813-090F-D0E3B62B1BC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9" name="Picture 8" descr="A graph of a line&#10;&#10;AI-generated content may be incorrect.">
            <a:extLst>
              <a:ext uri="{FF2B5EF4-FFF2-40B4-BE49-F238E27FC236}">
                <a16:creationId xmlns:a16="http://schemas.microsoft.com/office/drawing/2014/main" id="{6FF178BC-FBD3-AB90-954C-F71B135174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31976" y="2420858"/>
            <a:ext cx="9525000" cy="3957145"/>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98755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977AFE-D466-5A50-8F6A-F7BAE56E51C7}"/>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722BA4-4F7D-7C10-6E2B-8C6046A1BF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D3A3AA-476B-A498-4856-A7F18AA6D853}"/>
              </a:ext>
            </a:extLst>
          </p:cNvPr>
          <p:cNvSpPr>
            <a:spLocks noGrp="1"/>
          </p:cNvSpPr>
          <p:nvPr>
            <p:ph type="title"/>
          </p:nvPr>
        </p:nvSpPr>
        <p:spPr>
          <a:xfrm>
            <a:off x="746871" y="360954"/>
            <a:ext cx="10938933" cy="1325563"/>
          </a:xfrm>
        </p:spPr>
        <p:txBody>
          <a:bodyPr>
            <a:normAutofit/>
          </a:bodyPr>
          <a:lstStyle/>
          <a:p>
            <a:r>
              <a:rPr lang="en-US" b="1" dirty="0"/>
              <a:t>The Price-to-Income Gap in Metro Nashville</a:t>
            </a:r>
          </a:p>
        </p:txBody>
      </p:sp>
      <p:sp>
        <p:nvSpPr>
          <p:cNvPr id="19" name="sketch line">
            <a:extLst>
              <a:ext uri="{FF2B5EF4-FFF2-40B4-BE49-F238E27FC236}">
                <a16:creationId xmlns:a16="http://schemas.microsoft.com/office/drawing/2014/main" id="{6C00AC07-3FE6-CA90-2B30-496FA1554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C17B134-C5BC-C626-F537-43616E13A7E1}"/>
              </a:ext>
            </a:extLst>
          </p:cNvPr>
          <p:cNvSpPr txBox="1"/>
          <p:nvPr/>
        </p:nvSpPr>
        <p:spPr>
          <a:xfrm>
            <a:off x="6805676" y="3887164"/>
            <a:ext cx="4800600" cy="1754326"/>
          </a:xfrm>
          <a:prstGeom prst="rect">
            <a:avLst/>
          </a:prstGeom>
          <a:noFill/>
        </p:spPr>
        <p:txBody>
          <a:bodyPr wrap="square" rtlCol="0">
            <a:spAutoFit/>
          </a:bodyPr>
          <a:lstStyle/>
          <a:p>
            <a:r>
              <a:rPr lang="en-US" dirty="0"/>
              <a:t>Between 2020 and 2022, median home prices rose faster than incomes, increasing the price-to-income ratio from </a:t>
            </a:r>
            <a:r>
              <a:rPr lang="en-US" b="1" dirty="0"/>
              <a:t>4.3 to 5</a:t>
            </a:r>
            <a:r>
              <a:rPr lang="en-US" dirty="0"/>
              <a:t>. While incomes rose in 2023, affordability remained strained, with the ratio remaining elevated relative to earlier pandemic years.</a:t>
            </a:r>
          </a:p>
        </p:txBody>
      </p:sp>
      <p:sp>
        <p:nvSpPr>
          <p:cNvPr id="10" name="TextBox 9">
            <a:extLst>
              <a:ext uri="{FF2B5EF4-FFF2-40B4-BE49-F238E27FC236}">
                <a16:creationId xmlns:a16="http://schemas.microsoft.com/office/drawing/2014/main" id="{0C14E7C4-BD1E-A981-A7EF-4E5642FCA054}"/>
              </a:ext>
            </a:extLst>
          </p:cNvPr>
          <p:cNvSpPr txBox="1"/>
          <p:nvPr/>
        </p:nvSpPr>
        <p:spPr>
          <a:xfrm>
            <a:off x="6497996" y="2601505"/>
            <a:ext cx="2624667" cy="369332"/>
          </a:xfrm>
          <a:prstGeom prst="rect">
            <a:avLst/>
          </a:prstGeom>
          <a:noFill/>
        </p:spPr>
        <p:txBody>
          <a:bodyPr wrap="square" rtlCol="0">
            <a:spAutoFit/>
          </a:bodyPr>
          <a:lstStyle/>
          <a:p>
            <a:r>
              <a:rPr lang="en-US" dirty="0"/>
              <a:t>Price-to-Income Ratio =</a:t>
            </a:r>
          </a:p>
        </p:txBody>
      </p:sp>
      <p:sp>
        <p:nvSpPr>
          <p:cNvPr id="11" name="TextBox 10">
            <a:extLst>
              <a:ext uri="{FF2B5EF4-FFF2-40B4-BE49-F238E27FC236}">
                <a16:creationId xmlns:a16="http://schemas.microsoft.com/office/drawing/2014/main" id="{B14B5E4F-FAE5-273D-4212-BDC05E0394AC}"/>
              </a:ext>
            </a:extLst>
          </p:cNvPr>
          <p:cNvSpPr txBox="1"/>
          <p:nvPr/>
        </p:nvSpPr>
        <p:spPr>
          <a:xfrm>
            <a:off x="9048715" y="2375847"/>
            <a:ext cx="2624668" cy="369332"/>
          </a:xfrm>
          <a:prstGeom prst="rect">
            <a:avLst/>
          </a:prstGeom>
          <a:noFill/>
        </p:spPr>
        <p:txBody>
          <a:bodyPr wrap="square" rtlCol="0">
            <a:spAutoFit/>
          </a:bodyPr>
          <a:lstStyle/>
          <a:p>
            <a:r>
              <a:rPr lang="en-US" dirty="0"/>
              <a:t>Median Home Sale Price</a:t>
            </a:r>
          </a:p>
        </p:txBody>
      </p:sp>
      <p:sp>
        <p:nvSpPr>
          <p:cNvPr id="12" name="TextBox 11">
            <a:extLst>
              <a:ext uri="{FF2B5EF4-FFF2-40B4-BE49-F238E27FC236}">
                <a16:creationId xmlns:a16="http://schemas.microsoft.com/office/drawing/2014/main" id="{106330F7-4175-F54E-5BFC-7E5FDF1409EC}"/>
              </a:ext>
            </a:extLst>
          </p:cNvPr>
          <p:cNvSpPr txBox="1"/>
          <p:nvPr/>
        </p:nvSpPr>
        <p:spPr>
          <a:xfrm>
            <a:off x="8933156" y="2786171"/>
            <a:ext cx="2929734" cy="369332"/>
          </a:xfrm>
          <a:prstGeom prst="rect">
            <a:avLst/>
          </a:prstGeom>
          <a:noFill/>
        </p:spPr>
        <p:txBody>
          <a:bodyPr wrap="square" rtlCol="0">
            <a:spAutoFit/>
          </a:bodyPr>
          <a:lstStyle/>
          <a:p>
            <a:r>
              <a:rPr lang="en-US" dirty="0"/>
              <a:t>Median Household Income</a:t>
            </a:r>
          </a:p>
        </p:txBody>
      </p:sp>
      <p:cxnSp>
        <p:nvCxnSpPr>
          <p:cNvPr id="14" name="Straight Connector 13">
            <a:extLst>
              <a:ext uri="{FF2B5EF4-FFF2-40B4-BE49-F238E27FC236}">
                <a16:creationId xmlns:a16="http://schemas.microsoft.com/office/drawing/2014/main" id="{8B58EA03-6D38-5D8F-C94A-F215E27DE5F9}"/>
              </a:ext>
            </a:extLst>
          </p:cNvPr>
          <p:cNvCxnSpPr>
            <a:cxnSpLocks/>
          </p:cNvCxnSpPr>
          <p:nvPr/>
        </p:nvCxnSpPr>
        <p:spPr>
          <a:xfrm>
            <a:off x="9048715" y="2786171"/>
            <a:ext cx="2474249" cy="0"/>
          </a:xfrm>
          <a:prstGeom prst="line">
            <a:avLst/>
          </a:prstGeom>
        </p:spPr>
        <p:style>
          <a:lnRef idx="2">
            <a:schemeClr val="dk1"/>
          </a:lnRef>
          <a:fillRef idx="0">
            <a:schemeClr val="dk1"/>
          </a:fillRef>
          <a:effectRef idx="1">
            <a:schemeClr val="dk1"/>
          </a:effectRef>
          <a:fontRef idx="minor">
            <a:schemeClr val="tx1"/>
          </a:fontRef>
        </p:style>
      </p:cxnSp>
      <p:sp>
        <p:nvSpPr>
          <p:cNvPr id="5" name="TextBox 4">
            <a:extLst>
              <a:ext uri="{FF2B5EF4-FFF2-40B4-BE49-F238E27FC236}">
                <a16:creationId xmlns:a16="http://schemas.microsoft.com/office/drawing/2014/main" id="{02DDFBE0-D271-E4EC-47A5-AABCE4FE786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9" name="Picture 8" descr="A graph showing the price of income&#10;&#10;AI-generated content may be incorrect.">
            <a:extLst>
              <a:ext uri="{FF2B5EF4-FFF2-40B4-BE49-F238E27FC236}">
                <a16:creationId xmlns:a16="http://schemas.microsoft.com/office/drawing/2014/main" id="{5C497C67-C0A9-CB4E-1F9E-3062ED8BA5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9246" y="2161403"/>
            <a:ext cx="5744921" cy="375779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76759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5E8FF1-0B7C-B260-49EB-B6D21E94B6F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E7921F-E1EA-18E5-9334-1677A4D20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5C7DD5-93F4-87B9-7BE2-CF7C4DD653E2}"/>
              </a:ext>
            </a:extLst>
          </p:cNvPr>
          <p:cNvSpPr>
            <a:spLocks noGrp="1"/>
          </p:cNvSpPr>
          <p:nvPr>
            <p:ph type="title"/>
          </p:nvPr>
        </p:nvSpPr>
        <p:spPr>
          <a:xfrm>
            <a:off x="838200" y="365125"/>
            <a:ext cx="10515600" cy="1325563"/>
          </a:xfrm>
        </p:spPr>
        <p:txBody>
          <a:bodyPr>
            <a:normAutofit/>
          </a:bodyPr>
          <a:lstStyle/>
          <a:p>
            <a:r>
              <a:rPr lang="en-US" b="1" dirty="0"/>
              <a:t>Housing Supply Trends</a:t>
            </a:r>
          </a:p>
        </p:txBody>
      </p:sp>
      <p:sp>
        <p:nvSpPr>
          <p:cNvPr id="19" name="sketch line">
            <a:extLst>
              <a:ext uri="{FF2B5EF4-FFF2-40B4-BE49-F238E27FC236}">
                <a16:creationId xmlns:a16="http://schemas.microsoft.com/office/drawing/2014/main" id="{1D4651A1-DDB8-CDAF-EA48-546286D4D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9D29D358-04B9-5357-361B-0994D1A9FA6E}"/>
              </a:ext>
            </a:extLst>
          </p:cNvPr>
          <p:cNvSpPr txBox="1"/>
          <p:nvPr/>
        </p:nvSpPr>
        <p:spPr>
          <a:xfrm>
            <a:off x="7425732" y="3075503"/>
            <a:ext cx="4258268" cy="2308324"/>
          </a:xfrm>
          <a:prstGeom prst="rect">
            <a:avLst/>
          </a:prstGeom>
          <a:noFill/>
        </p:spPr>
        <p:txBody>
          <a:bodyPr wrap="square" rtlCol="0">
            <a:spAutoFit/>
          </a:bodyPr>
          <a:lstStyle/>
          <a:p>
            <a:r>
              <a:rPr lang="en-US" dirty="0"/>
              <a:t>Housing market conditions tightened sharply in 2021 as inventory declined and sales activity remained elevated. Even as inventory partially recovered after 2021, higher prices and rising mortgage rates reduced sales activity, contributing to continued price pressure and affordability challenges.</a:t>
            </a:r>
          </a:p>
        </p:txBody>
      </p:sp>
      <p:sp>
        <p:nvSpPr>
          <p:cNvPr id="5" name="TextBox 4">
            <a:extLst>
              <a:ext uri="{FF2B5EF4-FFF2-40B4-BE49-F238E27FC236}">
                <a16:creationId xmlns:a16="http://schemas.microsoft.com/office/drawing/2014/main" id="{47234CCC-923A-7AC6-E216-680BA1BD92B6}"/>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9" name="Picture 8" descr="A graph showing the average by year&#10;&#10;AI-generated content may be incorrect.">
            <a:extLst>
              <a:ext uri="{FF2B5EF4-FFF2-40B4-BE49-F238E27FC236}">
                <a16:creationId xmlns:a16="http://schemas.microsoft.com/office/drawing/2014/main" id="{447BF319-110E-8C7E-255E-0BF26EF164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55813"/>
            <a:ext cx="6251744" cy="407067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26719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0F607B-AF95-8825-CD41-507AFF4CE37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F1FAD6C-F451-7E57-E4AE-A50CE06C8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1F9CD1A-A750-7D78-ECE6-CEB7E83AE85A}"/>
              </a:ext>
            </a:extLst>
          </p:cNvPr>
          <p:cNvSpPr>
            <a:spLocks noGrp="1"/>
          </p:cNvSpPr>
          <p:nvPr>
            <p:ph type="title"/>
          </p:nvPr>
        </p:nvSpPr>
        <p:spPr>
          <a:xfrm>
            <a:off x="838200" y="365125"/>
            <a:ext cx="10515600" cy="1325563"/>
          </a:xfrm>
        </p:spPr>
        <p:txBody>
          <a:bodyPr>
            <a:normAutofit/>
          </a:bodyPr>
          <a:lstStyle/>
          <a:p>
            <a:r>
              <a:rPr lang="en-US" sz="3600" b="1" dirty="0"/>
              <a:t>Rising Mortgage Rates Increased Borrowing Costs</a:t>
            </a:r>
          </a:p>
        </p:txBody>
      </p:sp>
      <p:sp>
        <p:nvSpPr>
          <p:cNvPr id="19" name="sketch line">
            <a:extLst>
              <a:ext uri="{FF2B5EF4-FFF2-40B4-BE49-F238E27FC236}">
                <a16:creationId xmlns:a16="http://schemas.microsoft.com/office/drawing/2014/main" id="{43906963-7694-25CF-7143-F37984178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4BA4203-4B1F-29D4-9B45-1F495A7BBED2}"/>
              </a:ext>
            </a:extLst>
          </p:cNvPr>
          <p:cNvSpPr txBox="1"/>
          <p:nvPr/>
        </p:nvSpPr>
        <p:spPr>
          <a:xfrm>
            <a:off x="7449038" y="3278182"/>
            <a:ext cx="4224866" cy="1477328"/>
          </a:xfrm>
          <a:prstGeom prst="rect">
            <a:avLst/>
          </a:prstGeom>
          <a:noFill/>
        </p:spPr>
        <p:txBody>
          <a:bodyPr wrap="square" rtlCol="0">
            <a:spAutoFit/>
          </a:bodyPr>
          <a:lstStyle/>
          <a:p>
            <a:r>
              <a:rPr lang="en-US" dirty="0"/>
              <a:t>Mortgage interest rates remained historically low in 2020–2021, but rose sharply beginning in 2022, increasing monthly mortgage payments and the cost of financing a home purchase.</a:t>
            </a:r>
          </a:p>
        </p:txBody>
      </p:sp>
      <p:sp>
        <p:nvSpPr>
          <p:cNvPr id="7" name="TextBox 6">
            <a:extLst>
              <a:ext uri="{FF2B5EF4-FFF2-40B4-BE49-F238E27FC236}">
                <a16:creationId xmlns:a16="http://schemas.microsoft.com/office/drawing/2014/main" id="{CD2A6343-3F32-E1BA-2F4E-58ECF4E926AE}"/>
              </a:ext>
            </a:extLst>
          </p:cNvPr>
          <p:cNvSpPr txBox="1"/>
          <p:nvPr/>
        </p:nvSpPr>
        <p:spPr>
          <a:xfrm>
            <a:off x="162437" y="6559179"/>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9" name="Picture 8" descr="A graph showing a line going up&#10;&#10;AI-generated content may be incorrect.">
            <a:extLst>
              <a:ext uri="{FF2B5EF4-FFF2-40B4-BE49-F238E27FC236}">
                <a16:creationId xmlns:a16="http://schemas.microsoft.com/office/drawing/2014/main" id="{720FA8DA-5597-C22F-4496-52547033AA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76709"/>
            <a:ext cx="6481704" cy="410142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64452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A99AC-C2E7-4667-DC96-8F2421398D8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D7046A-681E-9BE6-361F-2C6D58E713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F3FCB4-8A99-77D8-DB09-84A061141F35}"/>
              </a:ext>
            </a:extLst>
          </p:cNvPr>
          <p:cNvSpPr>
            <a:spLocks noGrp="1"/>
          </p:cNvSpPr>
          <p:nvPr>
            <p:ph type="title"/>
          </p:nvPr>
        </p:nvSpPr>
        <p:spPr>
          <a:xfrm>
            <a:off x="838200" y="365125"/>
            <a:ext cx="11353800" cy="1325563"/>
          </a:xfrm>
        </p:spPr>
        <p:txBody>
          <a:bodyPr>
            <a:normAutofit/>
          </a:bodyPr>
          <a:lstStyle/>
          <a:p>
            <a:r>
              <a:rPr lang="en-US" sz="3200" b="1" dirty="0"/>
              <a:t>Higher Mortgage Rates Reduced Homeownership Affordability</a:t>
            </a:r>
          </a:p>
        </p:txBody>
      </p:sp>
      <p:sp>
        <p:nvSpPr>
          <p:cNvPr id="19" name="sketch line">
            <a:extLst>
              <a:ext uri="{FF2B5EF4-FFF2-40B4-BE49-F238E27FC236}">
                <a16:creationId xmlns:a16="http://schemas.microsoft.com/office/drawing/2014/main" id="{31D6C79A-ED1C-995F-7F10-D47BF78B5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F57997F-3107-1310-A949-2FE70FD3D3B0}"/>
              </a:ext>
            </a:extLst>
          </p:cNvPr>
          <p:cNvSpPr txBox="1"/>
          <p:nvPr/>
        </p:nvSpPr>
        <p:spPr>
          <a:xfrm>
            <a:off x="7079318" y="3002936"/>
            <a:ext cx="4809067" cy="2031325"/>
          </a:xfrm>
          <a:prstGeom prst="rect">
            <a:avLst/>
          </a:prstGeom>
          <a:noFill/>
        </p:spPr>
        <p:txBody>
          <a:bodyPr wrap="square" rtlCol="0">
            <a:spAutoFit/>
          </a:bodyPr>
          <a:lstStyle/>
          <a:p>
            <a:r>
              <a:rPr lang="en-US" dirty="0"/>
              <a:t>As mortgage rates increased, the share of median household income required for mortgage payments rose sharply. By 2023, typical housing costs exceeded the 30% affordability threshold, reducing affordability for many median-income households under standard housing cost thresholds.</a:t>
            </a:r>
          </a:p>
        </p:txBody>
      </p:sp>
      <p:sp>
        <p:nvSpPr>
          <p:cNvPr id="7" name="TextBox 6">
            <a:extLst>
              <a:ext uri="{FF2B5EF4-FFF2-40B4-BE49-F238E27FC236}">
                <a16:creationId xmlns:a16="http://schemas.microsoft.com/office/drawing/2014/main" id="{A004F379-19A0-C0B8-020A-433A7D73BA73}"/>
              </a:ext>
            </a:extLst>
          </p:cNvPr>
          <p:cNvSpPr txBox="1"/>
          <p:nvPr/>
        </p:nvSpPr>
        <p:spPr>
          <a:xfrm>
            <a:off x="247956" y="6537321"/>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9" name="Picture 8" descr="A graph showing the growth of a number of income&#10;&#10;AI-generated content may be incorrect.">
            <a:extLst>
              <a:ext uri="{FF2B5EF4-FFF2-40B4-BE49-F238E27FC236}">
                <a16:creationId xmlns:a16="http://schemas.microsoft.com/office/drawing/2014/main" id="{8F6C37E4-8365-E571-734E-2F260AAEE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102612"/>
            <a:ext cx="5988322" cy="4087873"/>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769301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8C34E1-C983-D72E-F0DD-FA8F7A58E41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5BB166D-188A-9749-E129-4A9CF08B3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3892BC-B838-0EBB-9CE6-B92041741EEF}"/>
              </a:ext>
            </a:extLst>
          </p:cNvPr>
          <p:cNvSpPr>
            <a:spLocks noGrp="1"/>
          </p:cNvSpPr>
          <p:nvPr>
            <p:ph type="title"/>
          </p:nvPr>
        </p:nvSpPr>
        <p:spPr>
          <a:xfrm>
            <a:off x="838200" y="365125"/>
            <a:ext cx="10515600" cy="1325563"/>
          </a:xfrm>
        </p:spPr>
        <p:txBody>
          <a:bodyPr>
            <a:normAutofit/>
          </a:bodyPr>
          <a:lstStyle/>
          <a:p>
            <a:r>
              <a:rPr lang="en-US" sz="3200" b="1" dirty="0"/>
              <a:t>Affordability Pressures Varied Widely Across ZIP Codes</a:t>
            </a:r>
          </a:p>
        </p:txBody>
      </p:sp>
      <p:sp>
        <p:nvSpPr>
          <p:cNvPr id="19" name="sketch line">
            <a:extLst>
              <a:ext uri="{FF2B5EF4-FFF2-40B4-BE49-F238E27FC236}">
                <a16:creationId xmlns:a16="http://schemas.microsoft.com/office/drawing/2014/main" id="{E4A2A22C-7C26-0D10-5FAD-F56E81242C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D65859E-3885-553F-D101-4DA042CB4B7F}"/>
              </a:ext>
            </a:extLst>
          </p:cNvPr>
          <p:cNvSpPr txBox="1"/>
          <p:nvPr/>
        </p:nvSpPr>
        <p:spPr>
          <a:xfrm>
            <a:off x="7321317" y="2379566"/>
            <a:ext cx="4292600" cy="3693319"/>
          </a:xfrm>
          <a:prstGeom prst="rect">
            <a:avLst/>
          </a:prstGeom>
          <a:noFill/>
        </p:spPr>
        <p:txBody>
          <a:bodyPr wrap="square" rtlCol="0">
            <a:spAutoFit/>
          </a:bodyPr>
          <a:lstStyle/>
          <a:p>
            <a:r>
              <a:rPr lang="en-US" dirty="0"/>
              <a:t>Housing affordability changes were not evenly distributed across Metro Nashville. Between 2020 and 2023, several ZIP codes experienced significantly larger increases in price-to-income ratios, indicating more rapid increases in affordability pressure compared to other ZIP codes.</a:t>
            </a:r>
          </a:p>
          <a:p>
            <a:endParaRPr lang="en-US" dirty="0"/>
          </a:p>
          <a:p>
            <a:r>
              <a:rPr lang="en-US" dirty="0"/>
              <a:t>These disparities suggest that neighborhood-level market dynamics played an important role in shaping housing affordability outcomes.</a:t>
            </a:r>
          </a:p>
        </p:txBody>
      </p:sp>
      <p:sp>
        <p:nvSpPr>
          <p:cNvPr id="7" name="TextBox 6">
            <a:extLst>
              <a:ext uri="{FF2B5EF4-FFF2-40B4-BE49-F238E27FC236}">
                <a16:creationId xmlns:a16="http://schemas.microsoft.com/office/drawing/2014/main" id="{AAB38F1D-65AE-4A13-42AF-46651D5EDEFA}"/>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9" name="Picture 8" descr="A graph of blue rectangular bars&#10;&#10;AI-generated content may be incorrect.">
            <a:extLst>
              <a:ext uri="{FF2B5EF4-FFF2-40B4-BE49-F238E27FC236}">
                <a16:creationId xmlns:a16="http://schemas.microsoft.com/office/drawing/2014/main" id="{8A92313F-2E06-5EDA-827C-5B06A85D56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55813"/>
            <a:ext cx="6330400" cy="4147364"/>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846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9FF664-8693-681C-36CA-9B24FCEE2D64}"/>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F220A47-9D43-9A86-2309-7BF2E0F090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872236-0092-44E2-42F3-D0FFBC7801D7}"/>
              </a:ext>
            </a:extLst>
          </p:cNvPr>
          <p:cNvSpPr>
            <a:spLocks noGrp="1"/>
          </p:cNvSpPr>
          <p:nvPr>
            <p:ph type="title"/>
          </p:nvPr>
        </p:nvSpPr>
        <p:spPr>
          <a:xfrm>
            <a:off x="838200" y="365125"/>
            <a:ext cx="10515600" cy="1325563"/>
          </a:xfrm>
        </p:spPr>
        <p:txBody>
          <a:bodyPr>
            <a:normAutofit/>
          </a:bodyPr>
          <a:lstStyle/>
          <a:p>
            <a:r>
              <a:rPr lang="en-US" b="1" dirty="0"/>
              <a:t>Key Findings</a:t>
            </a:r>
          </a:p>
        </p:txBody>
      </p:sp>
      <p:sp>
        <p:nvSpPr>
          <p:cNvPr id="19" name="sketch line">
            <a:extLst>
              <a:ext uri="{FF2B5EF4-FFF2-40B4-BE49-F238E27FC236}">
                <a16:creationId xmlns:a16="http://schemas.microsoft.com/office/drawing/2014/main" id="{8D71E955-3FD8-418D-38DF-AC095F32E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03664B-4843-8B17-5A4C-50D54A7CADC5}"/>
              </a:ext>
            </a:extLst>
          </p:cNvPr>
          <p:cNvSpPr txBox="1"/>
          <p:nvPr/>
        </p:nvSpPr>
        <p:spPr>
          <a:xfrm>
            <a:off x="838200" y="1895056"/>
            <a:ext cx="9745134" cy="4770537"/>
          </a:xfrm>
          <a:prstGeom prst="rect">
            <a:avLst/>
          </a:prstGeom>
          <a:noFill/>
        </p:spPr>
        <p:txBody>
          <a:bodyPr wrap="square" rtlCol="0">
            <a:spAutoFit/>
          </a:bodyPr>
          <a:lstStyle/>
          <a:p>
            <a:pPr marL="285750" indent="-285750">
              <a:buFont typeface="Arial" panose="020B0604020202020204" pitchFamily="34" charset="0"/>
              <a:buChar char="•"/>
            </a:pPr>
            <a:r>
              <a:rPr lang="en-US" sz="1600" dirty="0"/>
              <a:t>Home Prices Outpaced Income Growth</a:t>
            </a:r>
          </a:p>
          <a:p>
            <a:pPr marL="742950" lvl="1" indent="-285750">
              <a:buFont typeface="Arial" panose="020B0604020202020204" pitchFamily="34" charset="0"/>
              <a:buChar char="•"/>
            </a:pPr>
            <a:r>
              <a:rPr lang="en-US" sz="1600" dirty="0"/>
              <a:t>Median home sale prices in Metro Nashville rose </a:t>
            </a:r>
            <a:r>
              <a:rPr lang="en-US" sz="1600" b="1" dirty="0"/>
              <a:t>37% between 2020 and 2023</a:t>
            </a:r>
            <a:r>
              <a:rPr lang="en-US" sz="1600" dirty="0"/>
              <a:t>, while median household income increased by only </a:t>
            </a:r>
            <a:r>
              <a:rPr lang="en-US" sz="1600" b="1" dirty="0"/>
              <a:t>20%</a:t>
            </a:r>
            <a:r>
              <a:rPr lang="en-US" sz="1600" dirty="0"/>
              <a:t>.</a:t>
            </a:r>
          </a:p>
          <a:p>
            <a:pPr marL="742950" lvl="1" indent="-285750">
              <a:buFont typeface="Arial" panose="020B0604020202020204" pitchFamily="34" charset="0"/>
              <a:buChar char="•"/>
            </a:pPr>
            <a:r>
              <a:rPr lang="en-US" sz="1600" dirty="0"/>
              <a:t>This widening gap reduced affordability for median-income households.</a:t>
            </a:r>
          </a:p>
          <a:p>
            <a:pPr marL="285750" indent="-285750">
              <a:buFont typeface="Arial" panose="020B0604020202020204" pitchFamily="34" charset="0"/>
              <a:buChar char="•"/>
            </a:pPr>
            <a:r>
              <a:rPr lang="en-US" sz="1600" dirty="0"/>
              <a:t>Affordability Declined Despite Income Gains</a:t>
            </a:r>
          </a:p>
          <a:p>
            <a:pPr marL="742950" lvl="1" indent="-285750">
              <a:buFont typeface="Arial" panose="020B0604020202020204" pitchFamily="34" charset="0"/>
              <a:buChar char="•"/>
            </a:pPr>
            <a:r>
              <a:rPr lang="en-US" sz="1600" dirty="0"/>
              <a:t>The price-to-income ratio increased from </a:t>
            </a:r>
            <a:r>
              <a:rPr lang="en-US" sz="1600" b="1" dirty="0"/>
              <a:t>4.3% in 2020 to a peak of 5% in 2022</a:t>
            </a:r>
            <a:r>
              <a:rPr lang="en-US" sz="1600" dirty="0"/>
              <a:t>, remaining elevated in 2023.</a:t>
            </a:r>
          </a:p>
          <a:p>
            <a:pPr marL="742950" lvl="1" indent="-285750">
              <a:buFont typeface="Arial" panose="020B0604020202020204" pitchFamily="34" charset="0"/>
              <a:buChar char="•"/>
            </a:pPr>
            <a:r>
              <a:rPr lang="en-US" sz="1600" dirty="0"/>
              <a:t>Higher home prices required households to devote a larger share of income to housing.</a:t>
            </a:r>
          </a:p>
          <a:p>
            <a:pPr marL="285750" indent="-285750">
              <a:buFont typeface="Arial" panose="020B0604020202020204" pitchFamily="34" charset="0"/>
              <a:buChar char="•"/>
            </a:pPr>
            <a:r>
              <a:rPr lang="en-US" sz="1600" dirty="0"/>
              <a:t>Rising Mortgage Rates Drove Affordability Losses</a:t>
            </a:r>
          </a:p>
          <a:p>
            <a:pPr marL="742950" lvl="1" indent="-285750">
              <a:buFont typeface="Arial" panose="020B0604020202020204" pitchFamily="34" charset="0"/>
              <a:buChar char="•"/>
            </a:pPr>
            <a:r>
              <a:rPr lang="en-US" sz="1600" dirty="0"/>
              <a:t>30-year fixed mortgage rates rose sharply after 2021, exceeding </a:t>
            </a:r>
            <a:r>
              <a:rPr lang="en-US" sz="1600" b="1" dirty="0"/>
              <a:t>6% by 2023</a:t>
            </a:r>
            <a:r>
              <a:rPr lang="en-US" sz="1600" dirty="0"/>
              <a:t>.</a:t>
            </a:r>
          </a:p>
          <a:p>
            <a:pPr marL="742950" lvl="1" indent="-285750">
              <a:buFont typeface="Arial" panose="020B0604020202020204" pitchFamily="34" charset="0"/>
              <a:buChar char="•"/>
            </a:pPr>
            <a:r>
              <a:rPr lang="en-US" sz="1600" dirty="0"/>
              <a:t>Mortgage payments increased from </a:t>
            </a:r>
            <a:r>
              <a:rPr lang="en-US" sz="1600" b="1" dirty="0"/>
              <a:t>19% to over 34% of median income</a:t>
            </a:r>
            <a:r>
              <a:rPr lang="en-US" sz="1600" dirty="0"/>
              <a:t>, surpassing standard affordability thresholds.</a:t>
            </a:r>
          </a:p>
          <a:p>
            <a:pPr marL="285750" indent="-285750">
              <a:buFont typeface="Arial" panose="020B0604020202020204" pitchFamily="34" charset="0"/>
              <a:buChar char="•"/>
            </a:pPr>
            <a:r>
              <a:rPr lang="en-US" sz="1600" dirty="0"/>
              <a:t>Housing Supply Remained Constrained</a:t>
            </a:r>
          </a:p>
          <a:p>
            <a:pPr marL="742950" lvl="1" indent="-285750">
              <a:buFont typeface="Arial" panose="020B0604020202020204" pitchFamily="34" charset="0"/>
              <a:buChar char="•"/>
            </a:pPr>
            <a:r>
              <a:rPr lang="en-US" sz="1600" dirty="0"/>
              <a:t>Inventory fell sharply in 2021 and only partially recovered by 2023.</a:t>
            </a:r>
          </a:p>
          <a:p>
            <a:pPr marL="742950" lvl="1" indent="-285750">
              <a:buFont typeface="Arial" panose="020B0604020202020204" pitchFamily="34" charset="0"/>
              <a:buChar char="•"/>
            </a:pPr>
            <a:r>
              <a:rPr lang="en-US" sz="1600" dirty="0"/>
              <a:t>As affordability worsened, home sales declined even as prices remained high.</a:t>
            </a:r>
          </a:p>
          <a:p>
            <a:pPr marL="285750" indent="-285750">
              <a:buFont typeface="Arial" panose="020B0604020202020204" pitchFamily="34" charset="0"/>
              <a:buChar char="•"/>
            </a:pPr>
            <a:r>
              <a:rPr lang="en-US" sz="1600" dirty="0"/>
              <a:t>Affordability Impacts Varied by ZIP Code</a:t>
            </a:r>
          </a:p>
          <a:p>
            <a:pPr marL="742950" lvl="1" indent="-285750">
              <a:buFont typeface="Arial" panose="020B0604020202020204" pitchFamily="34" charset="0"/>
              <a:buChar char="•"/>
            </a:pPr>
            <a:r>
              <a:rPr lang="en-US" sz="1600" dirty="0"/>
              <a:t>Changes in affordability were </a:t>
            </a:r>
            <a:r>
              <a:rPr lang="en-US" sz="1600" b="1" dirty="0"/>
              <a:t>not evenly distributed</a:t>
            </a:r>
            <a:r>
              <a:rPr lang="en-US" sz="1600" dirty="0"/>
              <a:t> across Metro Nashville.</a:t>
            </a:r>
          </a:p>
          <a:p>
            <a:pPr marL="742950" lvl="1" indent="-285750">
              <a:buFont typeface="Arial" panose="020B0604020202020204" pitchFamily="34" charset="0"/>
              <a:buChar char="•"/>
            </a:pPr>
            <a:r>
              <a:rPr lang="en-US" sz="1600" dirty="0"/>
              <a:t>Several ZIP codes experienced </a:t>
            </a:r>
            <a:r>
              <a:rPr lang="en-US" sz="1600" b="1" dirty="0"/>
              <a:t>substantially larger increases</a:t>
            </a:r>
            <a:r>
              <a:rPr lang="en-US" sz="1600" dirty="0"/>
              <a:t> in affordability pressure than the metro average.</a:t>
            </a:r>
          </a:p>
        </p:txBody>
      </p:sp>
    </p:spTree>
    <p:extLst>
      <p:ext uri="{BB962C8B-B14F-4D97-AF65-F5344CB8AC3E}">
        <p14:creationId xmlns:p14="http://schemas.microsoft.com/office/powerpoint/2010/main" val="2071100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3B1B37-3CEC-4929-8B05-514A33B4645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7627AB5-121B-2E44-2C36-5DCB8D564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21E8CED-2FC4-4AB1-9316-5EC71D806FF8}"/>
              </a:ext>
            </a:extLst>
          </p:cNvPr>
          <p:cNvSpPr>
            <a:spLocks noGrp="1"/>
          </p:cNvSpPr>
          <p:nvPr>
            <p:ph type="title"/>
          </p:nvPr>
        </p:nvSpPr>
        <p:spPr>
          <a:xfrm>
            <a:off x="838200" y="365125"/>
            <a:ext cx="10515600" cy="1325563"/>
          </a:xfrm>
        </p:spPr>
        <p:txBody>
          <a:bodyPr>
            <a:normAutofit/>
          </a:bodyPr>
          <a:lstStyle/>
          <a:p>
            <a:r>
              <a:rPr lang="en-US" b="1" dirty="0"/>
              <a:t>Limitations &amp; Next Steps</a:t>
            </a:r>
          </a:p>
        </p:txBody>
      </p:sp>
      <p:sp>
        <p:nvSpPr>
          <p:cNvPr id="19" name="sketch line">
            <a:extLst>
              <a:ext uri="{FF2B5EF4-FFF2-40B4-BE49-F238E27FC236}">
                <a16:creationId xmlns:a16="http://schemas.microsoft.com/office/drawing/2014/main" id="{09A60E60-03C5-2C94-4D54-2B5D03595A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5D7D54C-61CE-1353-4D47-22F7C28900B4}"/>
              </a:ext>
            </a:extLst>
          </p:cNvPr>
          <p:cNvSpPr txBox="1"/>
          <p:nvPr/>
        </p:nvSpPr>
        <p:spPr>
          <a:xfrm>
            <a:off x="1007533" y="2240532"/>
            <a:ext cx="96774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Metro Nashville ZIP code boundaries vary across data sources, creating challenges in defining a consistent study area.</a:t>
            </a:r>
          </a:p>
          <a:p>
            <a:endParaRPr lang="en-US" dirty="0"/>
          </a:p>
          <a:p>
            <a:pPr marL="285750" indent="-285750">
              <a:buFont typeface="Arial" panose="020B0604020202020204" pitchFamily="34" charset="0"/>
              <a:buChar char="•"/>
            </a:pPr>
            <a:r>
              <a:rPr lang="en-US" dirty="0"/>
              <a:t>ZIP code level income data limited the analysis to 2020–2023.</a:t>
            </a:r>
          </a:p>
          <a:p>
            <a:endParaRPr lang="en-US" dirty="0"/>
          </a:p>
          <a:p>
            <a:pPr marL="285750" indent="-285750">
              <a:buFont typeface="Arial" panose="020B0604020202020204" pitchFamily="34" charset="0"/>
              <a:buChar char="•"/>
            </a:pPr>
            <a:r>
              <a:rPr lang="en-US" dirty="0"/>
              <a:t>Future research could extend this work over a longer time horizon and explore alternative geographic units to deepen insight into long-term affordability trends.</a:t>
            </a:r>
          </a:p>
        </p:txBody>
      </p:sp>
    </p:spTree>
    <p:extLst>
      <p:ext uri="{BB962C8B-B14F-4D97-AF65-F5344CB8AC3E}">
        <p14:creationId xmlns:p14="http://schemas.microsoft.com/office/powerpoint/2010/main" val="3314449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527D56-13EA-15F6-0EE8-075557F14B39}"/>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64E8F23-9096-BB07-59E2-A56E2F657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E19932-3748-B970-1992-0517CEAD921D}"/>
              </a:ext>
            </a:extLst>
          </p:cNvPr>
          <p:cNvSpPr>
            <a:spLocks noGrp="1"/>
          </p:cNvSpPr>
          <p:nvPr>
            <p:ph type="title"/>
          </p:nvPr>
        </p:nvSpPr>
        <p:spPr>
          <a:xfrm>
            <a:off x="838200" y="365125"/>
            <a:ext cx="10515600" cy="1325563"/>
          </a:xfrm>
        </p:spPr>
        <p:txBody>
          <a:bodyPr>
            <a:normAutofit/>
          </a:bodyPr>
          <a:lstStyle/>
          <a:p>
            <a:r>
              <a:rPr lang="en-US" b="1" dirty="0"/>
              <a:t>Conclusion</a:t>
            </a:r>
          </a:p>
        </p:txBody>
      </p:sp>
      <p:sp>
        <p:nvSpPr>
          <p:cNvPr id="19" name="sketch line">
            <a:extLst>
              <a:ext uri="{FF2B5EF4-FFF2-40B4-BE49-F238E27FC236}">
                <a16:creationId xmlns:a16="http://schemas.microsoft.com/office/drawing/2014/main" id="{8CE5727C-00C0-1F08-580E-DB361AA87B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8A614149-FDAB-936D-306E-4186EFF4198E}"/>
              </a:ext>
            </a:extLst>
          </p:cNvPr>
          <p:cNvSpPr txBox="1"/>
          <p:nvPr/>
        </p:nvSpPr>
        <p:spPr>
          <a:xfrm>
            <a:off x="1176866" y="2323962"/>
            <a:ext cx="9237133" cy="1754326"/>
          </a:xfrm>
          <a:prstGeom prst="rect">
            <a:avLst/>
          </a:prstGeom>
          <a:noFill/>
        </p:spPr>
        <p:txBody>
          <a:bodyPr wrap="square" rtlCol="0">
            <a:spAutoFit/>
          </a:bodyPr>
          <a:lstStyle/>
          <a:p>
            <a:r>
              <a:rPr lang="en-US" dirty="0"/>
              <a:t>Between 2020 and 2023, rising home prices, higher mortgage rates, and constrained housing supply combined to significantly reduce homeownership affordability for median-income households in Metro Nashville, with uneven impacts across ZIP codes</a:t>
            </a:r>
          </a:p>
          <a:p>
            <a:endParaRPr lang="en-US" dirty="0"/>
          </a:p>
          <a:p>
            <a:r>
              <a:rPr lang="en-US" dirty="0"/>
              <a:t>Together, these findings highlight how multiple market forces not prices alone shaped worsening housing affordability in Metro Nashville.</a:t>
            </a:r>
          </a:p>
        </p:txBody>
      </p:sp>
    </p:spTree>
    <p:extLst>
      <p:ext uri="{BB962C8B-B14F-4D97-AF65-F5344CB8AC3E}">
        <p14:creationId xmlns:p14="http://schemas.microsoft.com/office/powerpoint/2010/main" val="34342645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129134-68B0-D803-EB90-6CBB36DBD5E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2F497DA-E1E0-88A0-E713-86FE6261C9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822C743-1514-89D4-2DAD-3E9F08CB440F}"/>
              </a:ext>
            </a:extLst>
          </p:cNvPr>
          <p:cNvSpPr>
            <a:spLocks noGrp="1"/>
          </p:cNvSpPr>
          <p:nvPr>
            <p:ph type="title"/>
          </p:nvPr>
        </p:nvSpPr>
        <p:spPr>
          <a:xfrm>
            <a:off x="838200" y="365125"/>
            <a:ext cx="10515600" cy="1325563"/>
          </a:xfrm>
        </p:spPr>
        <p:txBody>
          <a:bodyPr>
            <a:normAutofit/>
          </a:bodyPr>
          <a:lstStyle/>
          <a:p>
            <a:r>
              <a:rPr lang="en-US" b="1" dirty="0"/>
              <a:t>Q&amp;A</a:t>
            </a:r>
          </a:p>
        </p:txBody>
      </p:sp>
      <p:sp>
        <p:nvSpPr>
          <p:cNvPr id="19" name="sketch line">
            <a:extLst>
              <a:ext uri="{FF2B5EF4-FFF2-40B4-BE49-F238E27FC236}">
                <a16:creationId xmlns:a16="http://schemas.microsoft.com/office/drawing/2014/main" id="{F8977E18-51BF-1A23-DDB8-51F1B26B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17DC6DB-FFF7-A177-A3E3-A53D84FD998F}"/>
              </a:ext>
            </a:extLst>
          </p:cNvPr>
          <p:cNvSpPr txBox="1"/>
          <p:nvPr/>
        </p:nvSpPr>
        <p:spPr>
          <a:xfrm>
            <a:off x="4382000" y="2967335"/>
            <a:ext cx="342495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Thank you!</a:t>
            </a:r>
          </a:p>
        </p:txBody>
      </p:sp>
    </p:spTree>
    <p:extLst>
      <p:ext uri="{BB962C8B-B14F-4D97-AF65-F5344CB8AC3E}">
        <p14:creationId xmlns:p14="http://schemas.microsoft.com/office/powerpoint/2010/main" val="2960301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11926</TotalTime>
  <Words>2113</Words>
  <Application>Microsoft Office PowerPoint</Application>
  <PresentationFormat>Widescreen</PresentationFormat>
  <Paragraphs>234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Calibri</vt:lpstr>
      <vt:lpstr>Office Theme</vt:lpstr>
      <vt:lpstr>Housing Affordability in Metro Nashville During a Period of Market Disruption (2020–2023)</vt:lpstr>
      <vt:lpstr>Purpose of this Analysis</vt:lpstr>
      <vt:lpstr>Research Questions</vt:lpstr>
      <vt:lpstr>About the data</vt:lpstr>
      <vt:lpstr>Metro Nashville Housing Market Snapshot</vt:lpstr>
      <vt:lpstr>Sale Price vs Income in Metro Nashville</vt:lpstr>
      <vt:lpstr>The Price-to-Income Gap in Metro Nashville</vt:lpstr>
      <vt:lpstr>Housing Supply Trends</vt:lpstr>
      <vt:lpstr>Rising Mortgage Rates Increased Borrowing Costs</vt:lpstr>
      <vt:lpstr>Higher Mortgage Rates Reduced Homeownership Affordability</vt:lpstr>
      <vt:lpstr>Affordability Pressures Varied Widely Across ZIP Codes</vt:lpstr>
      <vt:lpstr>Key Findings</vt:lpstr>
      <vt:lpstr>Limitations &amp; Next Steps</vt:lpstr>
      <vt:lpstr>Conclusion</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Gaffney</dc:creator>
  <cp:lastModifiedBy>Luke Gaffney</cp:lastModifiedBy>
  <cp:revision>5</cp:revision>
  <dcterms:created xsi:type="dcterms:W3CDTF">2025-12-12T20:32:27Z</dcterms:created>
  <dcterms:modified xsi:type="dcterms:W3CDTF">2025-12-22T15:26:32Z</dcterms:modified>
</cp:coreProperties>
</file>