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75" r:id="rId4"/>
    <p:sldId id="278" r:id="rId5"/>
    <p:sldId id="277" r:id="rId6"/>
    <p:sldId id="280" r:id="rId7"/>
    <p:sldId id="282" r:id="rId8"/>
    <p:sldId id="283" r:id="rId9"/>
    <p:sldId id="284" r:id="rId10"/>
    <p:sldId id="290" r:id="rId11"/>
    <p:sldId id="288" r:id="rId12"/>
    <p:sldId id="287" r:id="rId13"/>
    <p:sldId id="286" r:id="rId14"/>
    <p:sldId id="285"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0D10D6-1D88-4B0E-87C1-EF36A8B2A437}" v="109" dt="2025-12-19T17:02:23.97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768" autoAdjust="0"/>
    <p:restoredTop sz="82080" autoAdjust="0"/>
  </p:normalViewPr>
  <p:slideViewPr>
    <p:cSldViewPr snapToGrid="0">
      <p:cViewPr varScale="1">
        <p:scale>
          <a:sx n="114" d="100"/>
          <a:sy n="114" d="100"/>
        </p:scale>
        <p:origin x="126" y="4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uke Gaffney" userId="6fa697cc8cd57f76" providerId="LiveId" clId="{528BD4CA-A453-43AA-8F73-3E975C3B2CFE}"/>
    <pc:docChg chg="undo custSel addSld delSld modSld">
      <pc:chgData name="Luke Gaffney" userId="6fa697cc8cd57f76" providerId="LiveId" clId="{528BD4CA-A453-43AA-8F73-3E975C3B2CFE}" dt="2025-12-19T21:02:58.742" v="1704" actId="20577"/>
      <pc:docMkLst>
        <pc:docMk/>
      </pc:docMkLst>
      <pc:sldChg chg="modSp mod modNotesTx">
        <pc:chgData name="Luke Gaffney" userId="6fa697cc8cd57f76" providerId="LiveId" clId="{528BD4CA-A453-43AA-8F73-3E975C3B2CFE}" dt="2025-12-18T20:12:24.774" v="972" actId="1076"/>
        <pc:sldMkLst>
          <pc:docMk/>
          <pc:sldMk cId="101415907" sldId="256"/>
        </pc:sldMkLst>
        <pc:spChg chg="mod">
          <ac:chgData name="Luke Gaffney" userId="6fa697cc8cd57f76" providerId="LiveId" clId="{528BD4CA-A453-43AA-8F73-3E975C3B2CFE}" dt="2025-12-18T20:12:24.774" v="972" actId="1076"/>
          <ac:spMkLst>
            <pc:docMk/>
            <pc:sldMk cId="101415907" sldId="256"/>
            <ac:spMk id="2" creationId="{D5871A2F-1D02-6452-5157-8CB541F3456A}"/>
          </ac:spMkLst>
        </pc:spChg>
      </pc:sldChg>
      <pc:sldChg chg="modSp mod">
        <pc:chgData name="Luke Gaffney" userId="6fa697cc8cd57f76" providerId="LiveId" clId="{528BD4CA-A453-43AA-8F73-3E975C3B2CFE}" dt="2025-12-18T20:12:03.507" v="969" actId="113"/>
        <pc:sldMkLst>
          <pc:docMk/>
          <pc:sldMk cId="3484887589" sldId="257"/>
        </pc:sldMkLst>
        <pc:spChg chg="mod">
          <ac:chgData name="Luke Gaffney" userId="6fa697cc8cd57f76" providerId="LiveId" clId="{528BD4CA-A453-43AA-8F73-3E975C3B2CFE}" dt="2025-12-18T20:12:03.507" v="969" actId="113"/>
          <ac:spMkLst>
            <pc:docMk/>
            <pc:sldMk cId="3484887589" sldId="257"/>
            <ac:spMk id="2" creationId="{DE9FC05C-E79A-F5B5-327B-29607701820D}"/>
          </ac:spMkLst>
        </pc:spChg>
        <pc:spChg chg="mod">
          <ac:chgData name="Luke Gaffney" userId="6fa697cc8cd57f76" providerId="LiveId" clId="{528BD4CA-A453-43AA-8F73-3E975C3B2CFE}" dt="2025-12-18T20:00:14.545" v="800" actId="20577"/>
          <ac:spMkLst>
            <pc:docMk/>
            <pc:sldMk cId="3484887589" sldId="257"/>
            <ac:spMk id="4" creationId="{35E1C994-818C-0ACC-C41E-5E01DA946D82}"/>
          </ac:spMkLst>
        </pc:spChg>
      </pc:sldChg>
      <pc:sldChg chg="addSp delSp modSp mod">
        <pc:chgData name="Luke Gaffney" userId="6fa697cc8cd57f76" providerId="LiveId" clId="{528BD4CA-A453-43AA-8F73-3E975C3B2CFE}" dt="2025-12-18T21:41:24.673" v="1240" actId="20577"/>
        <pc:sldMkLst>
          <pc:docMk/>
          <pc:sldMk cId="4045112871" sldId="275"/>
        </pc:sldMkLst>
        <pc:spChg chg="mod">
          <ac:chgData name="Luke Gaffney" userId="6fa697cc8cd57f76" providerId="LiveId" clId="{528BD4CA-A453-43AA-8F73-3E975C3B2CFE}" dt="2025-12-18T20:12:11.998" v="970" actId="113"/>
          <ac:spMkLst>
            <pc:docMk/>
            <pc:sldMk cId="4045112871" sldId="275"/>
            <ac:spMk id="2" creationId="{C9B228D7-8329-3F75-828E-FC46FA1AD6D9}"/>
          </ac:spMkLst>
        </pc:spChg>
        <pc:spChg chg="mod">
          <ac:chgData name="Luke Gaffney" userId="6fa697cc8cd57f76" providerId="LiveId" clId="{528BD4CA-A453-43AA-8F73-3E975C3B2CFE}" dt="2025-12-18T21:41:24.673" v="1240" actId="20577"/>
          <ac:spMkLst>
            <pc:docMk/>
            <pc:sldMk cId="4045112871" sldId="275"/>
            <ac:spMk id="4" creationId="{337C5CAA-78BD-6151-0CC5-8CA452F48391}"/>
          </ac:spMkLst>
        </pc:spChg>
        <pc:picChg chg="add del mod">
          <ac:chgData name="Luke Gaffney" userId="6fa697cc8cd57f76" providerId="LiveId" clId="{528BD4CA-A453-43AA-8F73-3E975C3B2CFE}" dt="2025-12-18T17:08:40.189" v="535" actId="478"/>
          <ac:picMkLst>
            <pc:docMk/>
            <pc:sldMk cId="4045112871" sldId="275"/>
            <ac:picMk id="6" creationId="{7BABD241-79ED-DF5A-7F96-0F9F5A1A871D}"/>
          </ac:picMkLst>
        </pc:picChg>
      </pc:sldChg>
      <pc:sldChg chg="addSp delSp modSp mod modNotesTx">
        <pc:chgData name="Luke Gaffney" userId="6fa697cc8cd57f76" providerId="LiveId" clId="{528BD4CA-A453-43AA-8F73-3E975C3B2CFE}" dt="2025-12-19T21:02:58.742" v="1704" actId="20577"/>
        <pc:sldMkLst>
          <pc:docMk/>
          <pc:sldMk cId="542633763" sldId="277"/>
        </pc:sldMkLst>
        <pc:spChg chg="mod">
          <ac:chgData name="Luke Gaffney" userId="6fa697cc8cd57f76" providerId="LiveId" clId="{528BD4CA-A453-43AA-8F73-3E975C3B2CFE}" dt="2025-12-18T20:12:38.193" v="974" actId="113"/>
          <ac:spMkLst>
            <pc:docMk/>
            <pc:sldMk cId="542633763" sldId="277"/>
            <ac:spMk id="2" creationId="{AFB1300D-AC32-6A7E-3302-C38583BC0E9A}"/>
          </ac:spMkLst>
        </pc:spChg>
        <pc:spChg chg="add mod">
          <ac:chgData name="Luke Gaffney" userId="6fa697cc8cd57f76" providerId="LiveId" clId="{528BD4CA-A453-43AA-8F73-3E975C3B2CFE}" dt="2025-12-19T16:03:45.807" v="1413" actId="1076"/>
          <ac:spMkLst>
            <pc:docMk/>
            <pc:sldMk cId="542633763" sldId="277"/>
            <ac:spMk id="3" creationId="{BD7F736E-6940-81F4-8CCE-71C9F3341512}"/>
          </ac:spMkLst>
        </pc:spChg>
        <pc:spChg chg="add mod">
          <ac:chgData name="Luke Gaffney" userId="6fa697cc8cd57f76" providerId="LiveId" clId="{528BD4CA-A453-43AA-8F73-3E975C3B2CFE}" dt="2025-12-19T16:03:49.932" v="1415" actId="20577"/>
          <ac:spMkLst>
            <pc:docMk/>
            <pc:sldMk cId="542633763" sldId="277"/>
            <ac:spMk id="4" creationId="{E493CBD1-94BF-5E0A-77DB-FF5C226FD519}"/>
          </ac:spMkLst>
        </pc:spChg>
        <pc:spChg chg="add mod">
          <ac:chgData name="Luke Gaffney" userId="6fa697cc8cd57f76" providerId="LiveId" clId="{528BD4CA-A453-43AA-8F73-3E975C3B2CFE}" dt="2025-12-19T16:11:54.100" v="1509" actId="554"/>
          <ac:spMkLst>
            <pc:docMk/>
            <pc:sldMk cId="542633763" sldId="277"/>
            <ac:spMk id="5" creationId="{7188F6DC-749C-0E58-9C52-708EB0881C1C}"/>
          </ac:spMkLst>
        </pc:spChg>
        <pc:spChg chg="add mod">
          <ac:chgData name="Luke Gaffney" userId="6fa697cc8cd57f76" providerId="LiveId" clId="{528BD4CA-A453-43AA-8F73-3E975C3B2CFE}" dt="2025-12-19T16:11:54.100" v="1509" actId="554"/>
          <ac:spMkLst>
            <pc:docMk/>
            <pc:sldMk cId="542633763" sldId="277"/>
            <ac:spMk id="6" creationId="{E9D36018-8142-2EDD-EF2A-A6BBC8C171D8}"/>
          </ac:spMkLst>
        </pc:spChg>
        <pc:spChg chg="add mod">
          <ac:chgData name="Luke Gaffney" userId="6fa697cc8cd57f76" providerId="LiveId" clId="{528BD4CA-A453-43AA-8F73-3E975C3B2CFE}" dt="2025-12-19T16:11:56.909" v="1510" actId="408"/>
          <ac:spMkLst>
            <pc:docMk/>
            <pc:sldMk cId="542633763" sldId="277"/>
            <ac:spMk id="7" creationId="{29E4D0B8-5AD9-3177-AEEB-D8BF77B12F2A}"/>
          </ac:spMkLst>
        </pc:spChg>
        <pc:spChg chg="add mod">
          <ac:chgData name="Luke Gaffney" userId="6fa697cc8cd57f76" providerId="LiveId" clId="{528BD4CA-A453-43AA-8F73-3E975C3B2CFE}" dt="2025-12-19T16:11:56.909" v="1510" actId="408"/>
          <ac:spMkLst>
            <pc:docMk/>
            <pc:sldMk cId="542633763" sldId="277"/>
            <ac:spMk id="8" creationId="{C50D66DC-6DC7-0FFF-14AB-BE095496AAF2}"/>
          </ac:spMkLst>
        </pc:spChg>
        <pc:spChg chg="add mod">
          <ac:chgData name="Luke Gaffney" userId="6fa697cc8cd57f76" providerId="LiveId" clId="{528BD4CA-A453-43AA-8F73-3E975C3B2CFE}" dt="2025-12-19T17:02:23.972" v="1650"/>
          <ac:spMkLst>
            <pc:docMk/>
            <pc:sldMk cId="542633763" sldId="277"/>
            <ac:spMk id="9" creationId="{3C7FBA32-85DE-EFE7-0D4A-994A972D3294}"/>
          </ac:spMkLst>
        </pc:spChg>
        <pc:spChg chg="mod">
          <ac:chgData name="Luke Gaffney" userId="6fa697cc8cd57f76" providerId="LiveId" clId="{528BD4CA-A453-43AA-8F73-3E975C3B2CFE}" dt="2025-12-19T16:38:08.701" v="1612" actId="208"/>
          <ac:spMkLst>
            <pc:docMk/>
            <pc:sldMk cId="542633763" sldId="277"/>
            <ac:spMk id="50" creationId="{7B064B8D-B47F-4375-2B50-CF6CF3893C03}"/>
          </ac:spMkLst>
        </pc:spChg>
        <pc:spChg chg="del mod">
          <ac:chgData name="Luke Gaffney" userId="6fa697cc8cd57f76" providerId="LiveId" clId="{528BD4CA-A453-43AA-8F73-3E975C3B2CFE}" dt="2025-12-19T16:02:23.451" v="1399" actId="21"/>
          <ac:spMkLst>
            <pc:docMk/>
            <pc:sldMk cId="542633763" sldId="277"/>
            <ac:spMk id="52" creationId="{D8F05392-D2AB-832C-F0A7-FDBEC20C334A}"/>
          </ac:spMkLst>
        </pc:spChg>
        <pc:spChg chg="mod">
          <ac:chgData name="Luke Gaffney" userId="6fa697cc8cd57f76" providerId="LiveId" clId="{528BD4CA-A453-43AA-8F73-3E975C3B2CFE}" dt="2025-12-19T16:38:33.175" v="1617" actId="208"/>
          <ac:spMkLst>
            <pc:docMk/>
            <pc:sldMk cId="542633763" sldId="277"/>
            <ac:spMk id="53" creationId="{A0F0684F-4197-6064-55B4-98EB35BEC608}"/>
          </ac:spMkLst>
        </pc:spChg>
        <pc:spChg chg="mod">
          <ac:chgData name="Luke Gaffney" userId="6fa697cc8cd57f76" providerId="LiveId" clId="{528BD4CA-A453-43AA-8F73-3E975C3B2CFE}" dt="2025-12-19T16:38:14.740" v="1613" actId="208"/>
          <ac:spMkLst>
            <pc:docMk/>
            <pc:sldMk cId="542633763" sldId="277"/>
            <ac:spMk id="54" creationId="{1EDDE1D7-883C-62FF-3687-9FBB1577874D}"/>
          </ac:spMkLst>
        </pc:spChg>
        <pc:spChg chg="mod">
          <ac:chgData name="Luke Gaffney" userId="6fa697cc8cd57f76" providerId="LiveId" clId="{528BD4CA-A453-43AA-8F73-3E975C3B2CFE}" dt="2025-12-19T16:38:41.250" v="1619" actId="208"/>
          <ac:spMkLst>
            <pc:docMk/>
            <pc:sldMk cId="542633763" sldId="277"/>
            <ac:spMk id="55" creationId="{F9704708-6D90-46C9-1CAE-40013BD95D43}"/>
          </ac:spMkLst>
        </pc:spChg>
        <pc:spChg chg="mod">
          <ac:chgData name="Luke Gaffney" userId="6fa697cc8cd57f76" providerId="LiveId" clId="{528BD4CA-A453-43AA-8F73-3E975C3B2CFE}" dt="2025-12-19T16:38:24.953" v="1615" actId="208"/>
          <ac:spMkLst>
            <pc:docMk/>
            <pc:sldMk cId="542633763" sldId="277"/>
            <ac:spMk id="56" creationId="{F92D9006-4F0B-4761-2C1A-A8C48A31A008}"/>
          </ac:spMkLst>
        </pc:spChg>
        <pc:spChg chg="mod">
          <ac:chgData name="Luke Gaffney" userId="6fa697cc8cd57f76" providerId="LiveId" clId="{528BD4CA-A453-43AA-8F73-3E975C3B2CFE}" dt="2025-12-19T16:38:29.285" v="1616" actId="208"/>
          <ac:spMkLst>
            <pc:docMk/>
            <pc:sldMk cId="542633763" sldId="277"/>
            <ac:spMk id="57" creationId="{32D69E2D-ACD2-E3BF-DC2D-FE6E5D6DFB26}"/>
          </ac:spMkLst>
        </pc:spChg>
        <pc:spChg chg="mod">
          <ac:chgData name="Luke Gaffney" userId="6fa697cc8cd57f76" providerId="LiveId" clId="{528BD4CA-A453-43AA-8F73-3E975C3B2CFE}" dt="2025-12-19T16:38:37.291" v="1618" actId="208"/>
          <ac:spMkLst>
            <pc:docMk/>
            <pc:sldMk cId="542633763" sldId="277"/>
            <ac:spMk id="58" creationId="{A2B05C51-F692-ADF1-1A14-326A496A24C3}"/>
          </ac:spMkLst>
        </pc:spChg>
        <pc:spChg chg="mod">
          <ac:chgData name="Luke Gaffney" userId="6fa697cc8cd57f76" providerId="LiveId" clId="{528BD4CA-A453-43AA-8F73-3E975C3B2CFE}" dt="2025-12-19T16:38:21.695" v="1614" actId="208"/>
          <ac:spMkLst>
            <pc:docMk/>
            <pc:sldMk cId="542633763" sldId="277"/>
            <ac:spMk id="60" creationId="{9BFF97D0-ED64-E128-C274-C00499EFFAE4}"/>
          </ac:spMkLst>
        </pc:spChg>
        <pc:spChg chg="del mod">
          <ac:chgData name="Luke Gaffney" userId="6fa697cc8cd57f76" providerId="LiveId" clId="{528BD4CA-A453-43AA-8F73-3E975C3B2CFE}" dt="2025-12-19T16:02:21.192" v="1398" actId="21"/>
          <ac:spMkLst>
            <pc:docMk/>
            <pc:sldMk cId="542633763" sldId="277"/>
            <ac:spMk id="61" creationId="{18AD629B-E91D-DE53-3D91-9B4392A59A0C}"/>
          </ac:spMkLst>
        </pc:spChg>
        <pc:spChg chg="mod">
          <ac:chgData name="Luke Gaffney" userId="6fa697cc8cd57f76" providerId="LiveId" clId="{528BD4CA-A453-43AA-8F73-3E975C3B2CFE}" dt="2025-12-19T20:57:25.300" v="1667" actId="20577"/>
          <ac:spMkLst>
            <pc:docMk/>
            <pc:sldMk cId="542633763" sldId="277"/>
            <ac:spMk id="62" creationId="{EC08A544-DE54-C799-B423-36CDCF2C5E78}"/>
          </ac:spMkLst>
        </pc:spChg>
        <pc:spChg chg="mod">
          <ac:chgData name="Luke Gaffney" userId="6fa697cc8cd57f76" providerId="LiveId" clId="{528BD4CA-A453-43AA-8F73-3E975C3B2CFE}" dt="2025-12-19T20:57:36.011" v="1677" actId="20577"/>
          <ac:spMkLst>
            <pc:docMk/>
            <pc:sldMk cId="542633763" sldId="277"/>
            <ac:spMk id="63" creationId="{5CDB8C99-1CCB-5587-C46B-2A5DF5A29899}"/>
          </ac:spMkLst>
        </pc:spChg>
        <pc:spChg chg="del mod">
          <ac:chgData name="Luke Gaffney" userId="6fa697cc8cd57f76" providerId="LiveId" clId="{528BD4CA-A453-43AA-8F73-3E975C3B2CFE}" dt="2025-12-19T16:02:08.246" v="1396" actId="21"/>
          <ac:spMkLst>
            <pc:docMk/>
            <pc:sldMk cId="542633763" sldId="277"/>
            <ac:spMk id="64" creationId="{52E77D86-07E9-33B7-C2FD-38107DBCFFB2}"/>
          </ac:spMkLst>
        </pc:spChg>
        <pc:spChg chg="mod">
          <ac:chgData name="Luke Gaffney" userId="6fa697cc8cd57f76" providerId="LiveId" clId="{528BD4CA-A453-43AA-8F73-3E975C3B2CFE}" dt="2025-12-19T21:02:43.034" v="1689" actId="20577"/>
          <ac:spMkLst>
            <pc:docMk/>
            <pc:sldMk cId="542633763" sldId="277"/>
            <ac:spMk id="65" creationId="{40D337F7-9BCF-4A96-AD0F-AE467E9DF863}"/>
          </ac:spMkLst>
        </pc:spChg>
        <pc:spChg chg="del mod">
          <ac:chgData name="Luke Gaffney" userId="6fa697cc8cd57f76" providerId="LiveId" clId="{528BD4CA-A453-43AA-8F73-3E975C3B2CFE}" dt="2025-12-19T16:02:17.148" v="1397" actId="21"/>
          <ac:spMkLst>
            <pc:docMk/>
            <pc:sldMk cId="542633763" sldId="277"/>
            <ac:spMk id="66" creationId="{22F225A1-E99E-2815-850D-21FA018A2195}"/>
          </ac:spMkLst>
        </pc:spChg>
        <pc:spChg chg="mod">
          <ac:chgData name="Luke Gaffney" userId="6fa697cc8cd57f76" providerId="LiveId" clId="{528BD4CA-A453-43AA-8F73-3E975C3B2CFE}" dt="2025-12-19T21:02:58.742" v="1704" actId="20577"/>
          <ac:spMkLst>
            <pc:docMk/>
            <pc:sldMk cId="542633763" sldId="277"/>
            <ac:spMk id="67" creationId="{CD7201A7-9E3A-067E-7422-34FDC06F2DFB}"/>
          </ac:spMkLst>
        </pc:spChg>
      </pc:sldChg>
      <pc:sldChg chg="addSp delSp modSp mod">
        <pc:chgData name="Luke Gaffney" userId="6fa697cc8cd57f76" providerId="LiveId" clId="{528BD4CA-A453-43AA-8F73-3E975C3B2CFE}" dt="2025-12-18T20:24:47.832" v="994" actId="20577"/>
        <pc:sldMkLst>
          <pc:docMk/>
          <pc:sldMk cId="835599444" sldId="278"/>
        </pc:sldMkLst>
        <pc:spChg chg="mod">
          <ac:chgData name="Luke Gaffney" userId="6fa697cc8cd57f76" providerId="LiveId" clId="{528BD4CA-A453-43AA-8F73-3E975C3B2CFE}" dt="2025-12-18T20:12:34.010" v="973" actId="113"/>
          <ac:spMkLst>
            <pc:docMk/>
            <pc:sldMk cId="835599444" sldId="278"/>
            <ac:spMk id="2" creationId="{0D3BA9AF-2BD7-97AC-F960-51216C2F9482}"/>
          </ac:spMkLst>
        </pc:spChg>
        <pc:spChg chg="del">
          <ac:chgData name="Luke Gaffney" userId="6fa697cc8cd57f76" providerId="LiveId" clId="{528BD4CA-A453-43AA-8F73-3E975C3B2CFE}" dt="2025-12-18T19:12:42.177" v="627" actId="21"/>
          <ac:spMkLst>
            <pc:docMk/>
            <pc:sldMk cId="835599444" sldId="278"/>
            <ac:spMk id="60" creationId="{EACC3C81-5AC3-F7E2-DD04-AF63D0053FB8}"/>
          </ac:spMkLst>
        </pc:spChg>
        <pc:spChg chg="add mod">
          <ac:chgData name="Luke Gaffney" userId="6fa697cc8cd57f76" providerId="LiveId" clId="{528BD4CA-A453-43AA-8F73-3E975C3B2CFE}" dt="2025-12-18T20:24:47.832" v="994" actId="20577"/>
          <ac:spMkLst>
            <pc:docMk/>
            <pc:sldMk cId="835599444" sldId="278"/>
            <ac:spMk id="61" creationId="{BFD046D5-C800-2F5C-68F0-9AD62A89727F}"/>
          </ac:spMkLst>
        </pc:spChg>
        <pc:spChg chg="add">
          <ac:chgData name="Luke Gaffney" userId="6fa697cc8cd57f76" providerId="LiveId" clId="{528BD4CA-A453-43AA-8F73-3E975C3B2CFE}" dt="2025-12-18T19:12:53.759" v="629"/>
          <ac:spMkLst>
            <pc:docMk/>
            <pc:sldMk cId="835599444" sldId="278"/>
            <ac:spMk id="62" creationId="{E373D256-AB44-8017-9C44-F02DD871016B}"/>
          </ac:spMkLst>
        </pc:spChg>
        <pc:graphicFrameChg chg="del modGraphic">
          <ac:chgData name="Luke Gaffney" userId="6fa697cc8cd57f76" providerId="LiveId" clId="{528BD4CA-A453-43AA-8F73-3E975C3B2CFE}" dt="2025-12-18T19:12:39.380" v="626" actId="21"/>
          <ac:graphicFrameMkLst>
            <pc:docMk/>
            <pc:sldMk cId="835599444" sldId="278"/>
            <ac:graphicFrameMk id="59" creationId="{BCFE9DD7-46AB-7613-56F3-56A484D83033}"/>
          </ac:graphicFrameMkLst>
        </pc:graphicFrameChg>
      </pc:sldChg>
      <pc:sldChg chg="addSp delSp modSp mod">
        <pc:chgData name="Luke Gaffney" userId="6fa697cc8cd57f76" providerId="LiveId" clId="{528BD4CA-A453-43AA-8F73-3E975C3B2CFE}" dt="2025-12-19T17:01:55.519" v="1644" actId="1076"/>
        <pc:sldMkLst>
          <pc:docMk/>
          <pc:sldMk cId="1987554360" sldId="280"/>
        </pc:sldMkLst>
        <pc:spChg chg="mod">
          <ac:chgData name="Luke Gaffney" userId="6fa697cc8cd57f76" providerId="LiveId" clId="{528BD4CA-A453-43AA-8F73-3E975C3B2CFE}" dt="2025-12-18T20:11:57.458" v="968" actId="255"/>
          <ac:spMkLst>
            <pc:docMk/>
            <pc:sldMk cId="1987554360" sldId="280"/>
            <ac:spMk id="2" creationId="{29061BB3-7E15-2851-2DDF-7643C2B84269}"/>
          </ac:spMkLst>
        </pc:spChg>
        <pc:spChg chg="add mod">
          <ac:chgData name="Luke Gaffney" userId="6fa697cc8cd57f76" providerId="LiveId" clId="{528BD4CA-A453-43AA-8F73-3E975C3B2CFE}" dt="2025-12-19T17:01:55.519" v="1644" actId="1076"/>
          <ac:spMkLst>
            <pc:docMk/>
            <pc:sldMk cId="1987554360" sldId="280"/>
            <ac:spMk id="7" creationId="{F8680954-FCF1-9813-090F-D0E3B62B1BC5}"/>
          </ac:spMkLst>
        </pc:spChg>
        <pc:spChg chg="del mod">
          <ac:chgData name="Luke Gaffney" userId="6fa697cc8cd57f76" providerId="LiveId" clId="{528BD4CA-A453-43AA-8F73-3E975C3B2CFE}" dt="2025-12-18T20:33:47.083" v="1125" actId="21"/>
          <ac:spMkLst>
            <pc:docMk/>
            <pc:sldMk cId="1987554360" sldId="280"/>
            <ac:spMk id="13" creationId="{F5978D41-A1D0-C3FA-6E4A-CBD806CA2CFC}"/>
          </ac:spMkLst>
        </pc:spChg>
        <pc:spChg chg="del mod">
          <ac:chgData name="Luke Gaffney" userId="6fa697cc8cd57f76" providerId="LiveId" clId="{528BD4CA-A453-43AA-8F73-3E975C3B2CFE}" dt="2025-12-18T19:28:54.918" v="653" actId="21"/>
          <ac:spMkLst>
            <pc:docMk/>
            <pc:sldMk cId="1987554360" sldId="280"/>
            <ac:spMk id="14" creationId="{184AB04E-7903-0A7E-518C-76A24AE8D5EE}"/>
          </ac:spMkLst>
        </pc:spChg>
        <pc:spChg chg="add mod">
          <ac:chgData name="Luke Gaffney" userId="6fa697cc8cd57f76" providerId="LiveId" clId="{528BD4CA-A453-43AA-8F73-3E975C3B2CFE}" dt="2025-12-19T16:32:49.578" v="1547" actId="1076"/>
          <ac:spMkLst>
            <pc:docMk/>
            <pc:sldMk cId="1987554360" sldId="280"/>
            <ac:spMk id="21" creationId="{600A8C6F-BFC4-607E-3627-E251A8A378A6}"/>
          </ac:spMkLst>
        </pc:spChg>
        <pc:picChg chg="add del mod">
          <ac:chgData name="Luke Gaffney" userId="6fa697cc8cd57f76" providerId="LiveId" clId="{528BD4CA-A453-43AA-8F73-3E975C3B2CFE}" dt="2025-12-19T16:30:10.324" v="1517" actId="21"/>
          <ac:picMkLst>
            <pc:docMk/>
            <pc:sldMk cId="1987554360" sldId="280"/>
            <ac:picMk id="4" creationId="{00B91D9E-3FE6-288F-48AA-D503AE620FB9}"/>
          </ac:picMkLst>
        </pc:picChg>
        <pc:picChg chg="add mod">
          <ac:chgData name="Luke Gaffney" userId="6fa697cc8cd57f76" providerId="LiveId" clId="{528BD4CA-A453-43AA-8F73-3E975C3B2CFE}" dt="2025-12-19T16:37:12.073" v="1606" actId="208"/>
          <ac:picMkLst>
            <pc:docMk/>
            <pc:sldMk cId="1987554360" sldId="280"/>
            <ac:picMk id="6" creationId="{77D74E8A-7840-298A-D4E2-4ECE77828DAF}"/>
          </ac:picMkLst>
        </pc:picChg>
        <pc:picChg chg="del">
          <ac:chgData name="Luke Gaffney" userId="6fa697cc8cd57f76" providerId="LiveId" clId="{528BD4CA-A453-43AA-8F73-3E975C3B2CFE}" dt="2025-12-18T19:28:06.178" v="646" actId="478"/>
          <ac:picMkLst>
            <pc:docMk/>
            <pc:sldMk cId="1987554360" sldId="280"/>
            <ac:picMk id="16" creationId="{C01580BE-5937-35C6-CE81-8CB9F6E7EACB}"/>
          </ac:picMkLst>
        </pc:picChg>
        <pc:picChg chg="add del mod">
          <ac:chgData name="Luke Gaffney" userId="6fa697cc8cd57f76" providerId="LiveId" clId="{528BD4CA-A453-43AA-8F73-3E975C3B2CFE}" dt="2025-12-19T16:31:27.813" v="1518" actId="478"/>
          <ac:picMkLst>
            <pc:docMk/>
            <pc:sldMk cId="1987554360" sldId="280"/>
            <ac:picMk id="20" creationId="{D6B1AE58-D5D8-4517-E679-BDEF35A0840C}"/>
          </ac:picMkLst>
        </pc:picChg>
      </pc:sldChg>
      <pc:sldChg chg="addSp delSp modSp mod">
        <pc:chgData name="Luke Gaffney" userId="6fa697cc8cd57f76" providerId="LiveId" clId="{528BD4CA-A453-43AA-8F73-3E975C3B2CFE}" dt="2025-12-19T17:02:01.933" v="1645"/>
        <pc:sldMkLst>
          <pc:docMk/>
          <pc:sldMk cId="2767592310" sldId="282"/>
        </pc:sldMkLst>
        <pc:spChg chg="mod">
          <ac:chgData name="Luke Gaffney" userId="6fa697cc8cd57f76" providerId="LiveId" clId="{528BD4CA-A453-43AA-8F73-3E975C3B2CFE}" dt="2025-12-18T19:31:11.300" v="682" actId="255"/>
          <ac:spMkLst>
            <pc:docMk/>
            <pc:sldMk cId="2767592310" sldId="282"/>
            <ac:spMk id="2" creationId="{9CD3A3AA-476B-A498-4856-A7F18AA6D853}"/>
          </ac:spMkLst>
        </pc:spChg>
        <pc:spChg chg="add mod">
          <ac:chgData name="Luke Gaffney" userId="6fa697cc8cd57f76" providerId="LiveId" clId="{528BD4CA-A453-43AA-8F73-3E975C3B2CFE}" dt="2025-12-19T17:02:01.933" v="1645"/>
          <ac:spMkLst>
            <pc:docMk/>
            <pc:sldMk cId="2767592310" sldId="282"/>
            <ac:spMk id="5" creationId="{02DDFBE0-D271-E4EC-47A5-AABCE4FE7865}"/>
          </ac:spMkLst>
        </pc:spChg>
        <pc:spChg chg="del">
          <ac:chgData name="Luke Gaffney" userId="6fa697cc8cd57f76" providerId="LiveId" clId="{528BD4CA-A453-43AA-8F73-3E975C3B2CFE}" dt="2025-12-18T20:29:44.216" v="1121" actId="21"/>
          <ac:spMkLst>
            <pc:docMk/>
            <pc:sldMk cId="2767592310" sldId="282"/>
            <ac:spMk id="5" creationId="{BF24B234-FCE9-73B0-EE9A-B3C50C0E6F3E}"/>
          </ac:spMkLst>
        </pc:spChg>
        <pc:spChg chg="mod">
          <ac:chgData name="Luke Gaffney" userId="6fa697cc8cd57f76" providerId="LiveId" clId="{528BD4CA-A453-43AA-8F73-3E975C3B2CFE}" dt="2025-12-18T20:54:05.272" v="1135"/>
          <ac:spMkLst>
            <pc:docMk/>
            <pc:sldMk cId="2767592310" sldId="282"/>
            <ac:spMk id="6" creationId="{7C17B134-C5BC-C626-F537-43616E13A7E1}"/>
          </ac:spMkLst>
        </pc:spChg>
        <pc:spChg chg="add del mod">
          <ac:chgData name="Luke Gaffney" userId="6fa697cc8cd57f76" providerId="LiveId" clId="{528BD4CA-A453-43AA-8F73-3E975C3B2CFE}" dt="2025-12-18T20:25:53.989" v="1024" actId="21"/>
          <ac:spMkLst>
            <pc:docMk/>
            <pc:sldMk cId="2767592310" sldId="282"/>
            <ac:spMk id="9" creationId="{DBD1A4E0-D2DD-28AC-4767-4FE3779C55DB}"/>
          </ac:spMkLst>
        </pc:spChg>
        <pc:spChg chg="add mod">
          <ac:chgData name="Luke Gaffney" userId="6fa697cc8cd57f76" providerId="LiveId" clId="{528BD4CA-A453-43AA-8F73-3E975C3B2CFE}" dt="2025-12-18T20:29:05.070" v="1112" actId="1076"/>
          <ac:spMkLst>
            <pc:docMk/>
            <pc:sldMk cId="2767592310" sldId="282"/>
            <ac:spMk id="10" creationId="{0C14E7C4-BD1E-A981-A7EF-4E5642FCA054}"/>
          </ac:spMkLst>
        </pc:spChg>
        <pc:spChg chg="add mod">
          <ac:chgData name="Luke Gaffney" userId="6fa697cc8cd57f76" providerId="LiveId" clId="{528BD4CA-A453-43AA-8F73-3E975C3B2CFE}" dt="2025-12-18T20:29:23.438" v="1117" actId="1076"/>
          <ac:spMkLst>
            <pc:docMk/>
            <pc:sldMk cId="2767592310" sldId="282"/>
            <ac:spMk id="11" creationId="{B14B5E4F-FAE5-273D-4212-BDC05E0394AC}"/>
          </ac:spMkLst>
        </pc:spChg>
        <pc:spChg chg="add mod">
          <ac:chgData name="Luke Gaffney" userId="6fa697cc8cd57f76" providerId="LiveId" clId="{528BD4CA-A453-43AA-8F73-3E975C3B2CFE}" dt="2025-12-18T20:29:35.177" v="1119" actId="1076"/>
          <ac:spMkLst>
            <pc:docMk/>
            <pc:sldMk cId="2767592310" sldId="282"/>
            <ac:spMk id="12" creationId="{106330F7-4175-F54E-5BFC-7E5FDF1409EC}"/>
          </ac:spMkLst>
        </pc:spChg>
        <pc:picChg chg="add mod">
          <ac:chgData name="Luke Gaffney" userId="6fa697cc8cd57f76" providerId="LiveId" clId="{528BD4CA-A453-43AA-8F73-3E975C3B2CFE}" dt="2025-12-19T16:37:23.927" v="1607" actId="208"/>
          <ac:picMkLst>
            <pc:docMk/>
            <pc:sldMk cId="2767592310" sldId="282"/>
            <ac:picMk id="4" creationId="{81C2F2B9-F46E-BEFD-D723-DB00C6B71162}"/>
          </ac:picMkLst>
        </pc:picChg>
        <pc:picChg chg="del">
          <ac:chgData name="Luke Gaffney" userId="6fa697cc8cd57f76" providerId="LiveId" clId="{528BD4CA-A453-43AA-8F73-3E975C3B2CFE}" dt="2025-12-18T19:41:21.549" v="687" actId="478"/>
          <ac:picMkLst>
            <pc:docMk/>
            <pc:sldMk cId="2767592310" sldId="282"/>
            <ac:picMk id="4" creationId="{CBCDD5BD-E41D-96BD-F14F-9DEBD40C62F7}"/>
          </ac:picMkLst>
        </pc:picChg>
        <pc:picChg chg="add del mod">
          <ac:chgData name="Luke Gaffney" userId="6fa697cc8cd57f76" providerId="LiveId" clId="{528BD4CA-A453-43AA-8F73-3E975C3B2CFE}" dt="2025-12-19T16:31:37.909" v="1524" actId="478"/>
          <ac:picMkLst>
            <pc:docMk/>
            <pc:sldMk cId="2767592310" sldId="282"/>
            <ac:picMk id="8" creationId="{A7261C30-2903-48D2-DB63-C01B4E0A123C}"/>
          </ac:picMkLst>
        </pc:picChg>
        <pc:cxnChg chg="add mod">
          <ac:chgData name="Luke Gaffney" userId="6fa697cc8cd57f76" providerId="LiveId" clId="{528BD4CA-A453-43AA-8F73-3E975C3B2CFE}" dt="2025-12-18T20:29:12.594" v="1114" actId="1076"/>
          <ac:cxnSpMkLst>
            <pc:docMk/>
            <pc:sldMk cId="2767592310" sldId="282"/>
            <ac:cxnSpMk id="14" creationId="{8B58EA03-6D38-5D8F-C94A-F215E27DE5F9}"/>
          </ac:cxnSpMkLst>
        </pc:cxnChg>
      </pc:sldChg>
      <pc:sldChg chg="addSp delSp modSp mod">
        <pc:chgData name="Luke Gaffney" userId="6fa697cc8cd57f76" providerId="LiveId" clId="{528BD4CA-A453-43AA-8F73-3E975C3B2CFE}" dt="2025-12-19T17:02:07.389" v="1646"/>
        <pc:sldMkLst>
          <pc:docMk/>
          <pc:sldMk cId="2267194495" sldId="283"/>
        </pc:sldMkLst>
        <pc:spChg chg="mod">
          <ac:chgData name="Luke Gaffney" userId="6fa697cc8cd57f76" providerId="LiveId" clId="{528BD4CA-A453-43AA-8F73-3E975C3B2CFE}" dt="2025-12-18T20:12:55.663" v="976" actId="113"/>
          <ac:spMkLst>
            <pc:docMk/>
            <pc:sldMk cId="2267194495" sldId="283"/>
            <ac:spMk id="2" creationId="{FF5C7DD5-93F4-87B9-7BE2-CF7C4DD653E2}"/>
          </ac:spMkLst>
        </pc:spChg>
        <pc:spChg chg="del">
          <ac:chgData name="Luke Gaffney" userId="6fa697cc8cd57f76" providerId="LiveId" clId="{528BD4CA-A453-43AA-8F73-3E975C3B2CFE}" dt="2025-12-18T19:47:19.537" v="700" actId="21"/>
          <ac:spMkLst>
            <pc:docMk/>
            <pc:sldMk cId="2267194495" sldId="283"/>
            <ac:spMk id="3" creationId="{EC0A0C89-1E1F-F145-68DD-4741EE1F21A2}"/>
          </ac:spMkLst>
        </pc:spChg>
        <pc:spChg chg="add mod">
          <ac:chgData name="Luke Gaffney" userId="6fa697cc8cd57f76" providerId="LiveId" clId="{528BD4CA-A453-43AA-8F73-3E975C3B2CFE}" dt="2025-12-19T17:02:07.389" v="1646"/>
          <ac:spMkLst>
            <pc:docMk/>
            <pc:sldMk cId="2267194495" sldId="283"/>
            <ac:spMk id="5" creationId="{47234CCC-923A-7AC6-E216-680BA1BD92B6}"/>
          </ac:spMkLst>
        </pc:spChg>
        <pc:spChg chg="add mod">
          <ac:chgData name="Luke Gaffney" userId="6fa697cc8cd57f76" providerId="LiveId" clId="{528BD4CA-A453-43AA-8F73-3E975C3B2CFE}" dt="2025-12-19T16:35:01.028" v="1572" actId="14100"/>
          <ac:spMkLst>
            <pc:docMk/>
            <pc:sldMk cId="2267194495" sldId="283"/>
            <ac:spMk id="8" creationId="{9D29D358-04B9-5357-361B-0994D1A9FA6E}"/>
          </ac:spMkLst>
        </pc:spChg>
        <pc:picChg chg="add mod">
          <ac:chgData name="Luke Gaffney" userId="6fa697cc8cd57f76" providerId="LiveId" clId="{528BD4CA-A453-43AA-8F73-3E975C3B2CFE}" dt="2025-12-19T16:37:36.896" v="1608" actId="208"/>
          <ac:picMkLst>
            <pc:docMk/>
            <pc:sldMk cId="2267194495" sldId="283"/>
            <ac:picMk id="4" creationId="{16790ABE-1FE4-4DDF-939D-A6D93D939BAE}"/>
          </ac:picMkLst>
        </pc:picChg>
        <pc:picChg chg="del">
          <ac:chgData name="Luke Gaffney" userId="6fa697cc8cd57f76" providerId="LiveId" clId="{528BD4CA-A453-43AA-8F73-3E975C3B2CFE}" dt="2025-12-18T19:47:16.876" v="699" actId="478"/>
          <ac:picMkLst>
            <pc:docMk/>
            <pc:sldMk cId="2267194495" sldId="283"/>
            <ac:picMk id="5" creationId="{3ABD3270-EED2-272F-5DB7-267DB37C4CCA}"/>
          </ac:picMkLst>
        </pc:picChg>
        <pc:picChg chg="add del mod">
          <ac:chgData name="Luke Gaffney" userId="6fa697cc8cd57f76" providerId="LiveId" clId="{528BD4CA-A453-43AA-8F73-3E975C3B2CFE}" dt="2025-12-19T16:31:44" v="1528" actId="478"/>
          <ac:picMkLst>
            <pc:docMk/>
            <pc:sldMk cId="2267194495" sldId="283"/>
            <ac:picMk id="7" creationId="{03D5F38E-0178-A593-8139-0AF0A5BC4C97}"/>
          </ac:picMkLst>
        </pc:picChg>
      </pc:sldChg>
      <pc:sldChg chg="addSp delSp modSp mod">
        <pc:chgData name="Luke Gaffney" userId="6fa697cc8cd57f76" providerId="LiveId" clId="{528BD4CA-A453-43AA-8F73-3E975C3B2CFE}" dt="2025-12-19T17:02:11.270" v="1647"/>
        <pc:sldMkLst>
          <pc:docMk/>
          <pc:sldMk cId="3664452497" sldId="284"/>
        </pc:sldMkLst>
        <pc:spChg chg="mod">
          <ac:chgData name="Luke Gaffney" userId="6fa697cc8cd57f76" providerId="LiveId" clId="{528BD4CA-A453-43AA-8F73-3E975C3B2CFE}" dt="2025-12-18T21:01:12.125" v="1156" actId="255"/>
          <ac:spMkLst>
            <pc:docMk/>
            <pc:sldMk cId="3664452497" sldId="284"/>
            <ac:spMk id="2" creationId="{51F9CD1A-A750-7D78-ECE6-CEB7E83AE85A}"/>
          </ac:spMkLst>
        </pc:spChg>
        <pc:spChg chg="add mod">
          <ac:chgData name="Luke Gaffney" userId="6fa697cc8cd57f76" providerId="LiveId" clId="{528BD4CA-A453-43AA-8F73-3E975C3B2CFE}" dt="2025-12-19T16:35:45.365" v="1585" actId="1076"/>
          <ac:spMkLst>
            <pc:docMk/>
            <pc:sldMk cId="3664452497" sldId="284"/>
            <ac:spMk id="5" creationId="{44BA4203-4B1F-29D4-9B45-1F495A7BBED2}"/>
          </ac:spMkLst>
        </pc:spChg>
        <pc:spChg chg="add mod">
          <ac:chgData name="Luke Gaffney" userId="6fa697cc8cd57f76" providerId="LiveId" clId="{528BD4CA-A453-43AA-8F73-3E975C3B2CFE}" dt="2025-12-19T17:02:11.270" v="1647"/>
          <ac:spMkLst>
            <pc:docMk/>
            <pc:sldMk cId="3664452497" sldId="284"/>
            <ac:spMk id="7" creationId="{CD2A6343-3F32-E1BA-2F4E-58ECF4E926AE}"/>
          </ac:spMkLst>
        </pc:spChg>
        <pc:picChg chg="add del mod">
          <ac:chgData name="Luke Gaffney" userId="6fa697cc8cd57f76" providerId="LiveId" clId="{528BD4CA-A453-43AA-8F73-3E975C3B2CFE}" dt="2025-12-19T16:31:50.373" v="1532" actId="478"/>
          <ac:picMkLst>
            <pc:docMk/>
            <pc:sldMk cId="3664452497" sldId="284"/>
            <ac:picMk id="4" creationId="{A9BE2DA3-AE8E-0BAD-F93C-9F9E5374244F}"/>
          </ac:picMkLst>
        </pc:picChg>
        <pc:picChg chg="add mod">
          <ac:chgData name="Luke Gaffney" userId="6fa697cc8cd57f76" providerId="LiveId" clId="{528BD4CA-A453-43AA-8F73-3E975C3B2CFE}" dt="2025-12-19T16:37:43.517" v="1609" actId="208"/>
          <ac:picMkLst>
            <pc:docMk/>
            <pc:sldMk cId="3664452497" sldId="284"/>
            <ac:picMk id="6" creationId="{54612A8B-9643-974C-DCE9-2E7FD4A71A57}"/>
          </ac:picMkLst>
        </pc:picChg>
      </pc:sldChg>
      <pc:sldChg chg="addSp modSp mod">
        <pc:chgData name="Luke Gaffney" userId="6fa697cc8cd57f76" providerId="LiveId" clId="{528BD4CA-A453-43AA-8F73-3E975C3B2CFE}" dt="2025-12-19T17:00:28.062" v="1638" actId="20577"/>
        <pc:sldMkLst>
          <pc:docMk/>
          <pc:sldMk cId="3434264560" sldId="285"/>
        </pc:sldMkLst>
        <pc:spChg chg="mod">
          <ac:chgData name="Luke Gaffney" userId="6fa697cc8cd57f76" providerId="LiveId" clId="{528BD4CA-A453-43AA-8F73-3E975C3B2CFE}" dt="2025-12-18T20:13:41.767" v="988" actId="255"/>
          <ac:spMkLst>
            <pc:docMk/>
            <pc:sldMk cId="3434264560" sldId="285"/>
            <ac:spMk id="2" creationId="{B0E19932-3748-B970-1992-0517CEAD921D}"/>
          </ac:spMkLst>
        </pc:spChg>
        <pc:spChg chg="add mod">
          <ac:chgData name="Luke Gaffney" userId="6fa697cc8cd57f76" providerId="LiveId" clId="{528BD4CA-A453-43AA-8F73-3E975C3B2CFE}" dt="2025-12-19T17:00:28.062" v="1638" actId="20577"/>
          <ac:spMkLst>
            <pc:docMk/>
            <pc:sldMk cId="3434264560" sldId="285"/>
            <ac:spMk id="3" creationId="{8A614149-FDAB-936D-306E-4186EFF4198E}"/>
          </ac:spMkLst>
        </pc:spChg>
      </pc:sldChg>
      <pc:sldChg chg="addSp modSp mod modNotesTx">
        <pc:chgData name="Luke Gaffney" userId="6fa697cc8cd57f76" providerId="LiveId" clId="{528BD4CA-A453-43AA-8F73-3E975C3B2CFE}" dt="2025-12-19T17:00:16.004" v="1632" actId="20577"/>
        <pc:sldMkLst>
          <pc:docMk/>
          <pc:sldMk cId="3314449408" sldId="286"/>
        </pc:sldMkLst>
        <pc:spChg chg="mod">
          <ac:chgData name="Luke Gaffney" userId="6fa697cc8cd57f76" providerId="LiveId" clId="{528BD4CA-A453-43AA-8F73-3E975C3B2CFE}" dt="2025-12-18T20:13:35.248" v="986" actId="113"/>
          <ac:spMkLst>
            <pc:docMk/>
            <pc:sldMk cId="3314449408" sldId="286"/>
            <ac:spMk id="2" creationId="{321E8CED-2FC4-4AB1-9316-5EC71D806FF8}"/>
          </ac:spMkLst>
        </pc:spChg>
        <pc:spChg chg="add mod">
          <ac:chgData name="Luke Gaffney" userId="6fa697cc8cd57f76" providerId="LiveId" clId="{528BD4CA-A453-43AA-8F73-3E975C3B2CFE}" dt="2025-12-19T17:00:16.004" v="1632" actId="20577"/>
          <ac:spMkLst>
            <pc:docMk/>
            <pc:sldMk cId="3314449408" sldId="286"/>
            <ac:spMk id="4" creationId="{85D7D54C-61CE-1353-4D47-22F7C28900B4}"/>
          </ac:spMkLst>
        </pc:spChg>
      </pc:sldChg>
      <pc:sldChg chg="addSp delSp modSp mod modNotesTx">
        <pc:chgData name="Luke Gaffney" userId="6fa697cc8cd57f76" providerId="LiveId" clId="{528BD4CA-A453-43AA-8F73-3E975C3B2CFE}" dt="2025-12-19T16:51:43.854" v="1626" actId="313"/>
        <pc:sldMkLst>
          <pc:docMk/>
          <pc:sldMk cId="2071100020" sldId="287"/>
        </pc:sldMkLst>
        <pc:spChg chg="mod">
          <ac:chgData name="Luke Gaffney" userId="6fa697cc8cd57f76" providerId="LiveId" clId="{528BD4CA-A453-43AA-8F73-3E975C3B2CFE}" dt="2025-12-18T20:13:28.121" v="984" actId="113"/>
          <ac:spMkLst>
            <pc:docMk/>
            <pc:sldMk cId="2071100020" sldId="287"/>
            <ac:spMk id="2" creationId="{B0872236-0092-44E2-42F3-D0FFBC7801D7}"/>
          </ac:spMkLst>
        </pc:spChg>
        <pc:spChg chg="add del mod">
          <ac:chgData name="Luke Gaffney" userId="6fa697cc8cd57f76" providerId="LiveId" clId="{528BD4CA-A453-43AA-8F73-3E975C3B2CFE}" dt="2025-12-18T21:04:29.678" v="1174"/>
          <ac:spMkLst>
            <pc:docMk/>
            <pc:sldMk cId="2071100020" sldId="287"/>
            <ac:spMk id="3" creationId="{FEAAFC99-8217-6FA3-249E-01A6029DAC26}"/>
          </ac:spMkLst>
        </pc:spChg>
        <pc:spChg chg="add mod">
          <ac:chgData name="Luke Gaffney" userId="6fa697cc8cd57f76" providerId="LiveId" clId="{528BD4CA-A453-43AA-8F73-3E975C3B2CFE}" dt="2025-12-19T16:48:51.379" v="1624" actId="20577"/>
          <ac:spMkLst>
            <pc:docMk/>
            <pc:sldMk cId="2071100020" sldId="287"/>
            <ac:spMk id="6" creationId="{B003664B-4843-8B17-5A4C-50D54A7CADC5}"/>
          </ac:spMkLst>
        </pc:spChg>
        <pc:picChg chg="add del mod">
          <ac:chgData name="Luke Gaffney" userId="6fa697cc8cd57f76" providerId="LiveId" clId="{528BD4CA-A453-43AA-8F73-3E975C3B2CFE}" dt="2025-12-18T21:04:29.677" v="1172" actId="478"/>
          <ac:picMkLst>
            <pc:docMk/>
            <pc:sldMk cId="2071100020" sldId="287"/>
            <ac:picMk id="5" creationId="{1EED85A3-8D54-E880-CBC7-E28A5065F7F8}"/>
          </ac:picMkLst>
        </pc:picChg>
      </pc:sldChg>
      <pc:sldChg chg="addSp delSp modSp mod">
        <pc:chgData name="Luke Gaffney" userId="6fa697cc8cd57f76" providerId="LiveId" clId="{528BD4CA-A453-43AA-8F73-3E975C3B2CFE}" dt="2025-12-19T17:02:18.379" v="1649"/>
        <pc:sldMkLst>
          <pc:docMk/>
          <pc:sldMk cId="3684625901" sldId="288"/>
        </pc:sldMkLst>
        <pc:spChg chg="mod">
          <ac:chgData name="Luke Gaffney" userId="6fa697cc8cd57f76" providerId="LiveId" clId="{528BD4CA-A453-43AA-8F73-3E975C3B2CFE}" dt="2025-12-18T21:02:26.060" v="1159" actId="255"/>
          <ac:spMkLst>
            <pc:docMk/>
            <pc:sldMk cId="3684625901" sldId="288"/>
            <ac:spMk id="2" creationId="{D13892BC-B838-0EBB-9CE6-B92041741EEF}"/>
          </ac:spMkLst>
        </pc:spChg>
        <pc:spChg chg="add mod">
          <ac:chgData name="Luke Gaffney" userId="6fa697cc8cd57f76" providerId="LiveId" clId="{528BD4CA-A453-43AA-8F73-3E975C3B2CFE}" dt="2025-12-19T16:36:48.179" v="1605" actId="1076"/>
          <ac:spMkLst>
            <pc:docMk/>
            <pc:sldMk cId="3684625901" sldId="288"/>
            <ac:spMk id="5" creationId="{FD65859E-3885-553F-D101-4DA042CB4B7F}"/>
          </ac:spMkLst>
        </pc:spChg>
        <pc:spChg chg="add mod">
          <ac:chgData name="Luke Gaffney" userId="6fa697cc8cd57f76" providerId="LiveId" clId="{528BD4CA-A453-43AA-8F73-3E975C3B2CFE}" dt="2025-12-19T17:02:18.379" v="1649"/>
          <ac:spMkLst>
            <pc:docMk/>
            <pc:sldMk cId="3684625901" sldId="288"/>
            <ac:spMk id="7" creationId="{AAB38F1D-65AE-4A13-42AF-46651D5EDEFA}"/>
          </ac:spMkLst>
        </pc:spChg>
        <pc:picChg chg="add del mod">
          <ac:chgData name="Luke Gaffney" userId="6fa697cc8cd57f76" providerId="LiveId" clId="{528BD4CA-A453-43AA-8F73-3E975C3B2CFE}" dt="2025-12-19T16:32:05.853" v="1540" actId="478"/>
          <ac:picMkLst>
            <pc:docMk/>
            <pc:sldMk cId="3684625901" sldId="288"/>
            <ac:picMk id="4" creationId="{E3E521B4-28F8-B155-39D9-FFC2A322F275}"/>
          </ac:picMkLst>
        </pc:picChg>
        <pc:picChg chg="add mod">
          <ac:chgData name="Luke Gaffney" userId="6fa697cc8cd57f76" providerId="LiveId" clId="{528BD4CA-A453-43AA-8F73-3E975C3B2CFE}" dt="2025-12-19T16:37:55.761" v="1611" actId="208"/>
          <ac:picMkLst>
            <pc:docMk/>
            <pc:sldMk cId="3684625901" sldId="288"/>
            <ac:picMk id="6" creationId="{2504C8FC-6A5A-EEC5-4754-C9C6FE4A9504}"/>
          </ac:picMkLst>
        </pc:picChg>
      </pc:sldChg>
      <pc:sldChg chg="modSp new del mod">
        <pc:chgData name="Luke Gaffney" userId="6fa697cc8cd57f76" providerId="LiveId" clId="{528BD4CA-A453-43AA-8F73-3E975C3B2CFE}" dt="2025-12-18T19:58:48.591" v="754" actId="2696"/>
        <pc:sldMkLst>
          <pc:docMk/>
          <pc:sldMk cId="2609907667" sldId="289"/>
        </pc:sldMkLst>
        <pc:spChg chg="mod">
          <ac:chgData name="Luke Gaffney" userId="6fa697cc8cd57f76" providerId="LiveId" clId="{528BD4CA-A453-43AA-8F73-3E975C3B2CFE}" dt="2025-12-18T02:52:50.590" v="72" actId="20577"/>
          <ac:spMkLst>
            <pc:docMk/>
            <pc:sldMk cId="2609907667" sldId="289"/>
            <ac:spMk id="2" creationId="{1BF6A540-65F5-A0C9-5E62-B03928578317}"/>
          </ac:spMkLst>
        </pc:spChg>
      </pc:sldChg>
      <pc:sldChg chg="addSp delSp modSp add mod modNotesTx">
        <pc:chgData name="Luke Gaffney" userId="6fa697cc8cd57f76" providerId="LiveId" clId="{528BD4CA-A453-43AA-8F73-3E975C3B2CFE}" dt="2025-12-19T17:02:15.323" v="1648"/>
        <pc:sldMkLst>
          <pc:docMk/>
          <pc:sldMk cId="1769301805" sldId="290"/>
        </pc:sldMkLst>
        <pc:spChg chg="mod">
          <ac:chgData name="Luke Gaffney" userId="6fa697cc8cd57f76" providerId="LiveId" clId="{528BD4CA-A453-43AA-8F73-3E975C3B2CFE}" dt="2025-12-18T21:00:19.571" v="1152" actId="255"/>
          <ac:spMkLst>
            <pc:docMk/>
            <pc:sldMk cId="1769301805" sldId="290"/>
            <ac:spMk id="2" creationId="{F3F3FCB4-8A99-77D8-DB09-84A061141F35}"/>
          </ac:spMkLst>
        </pc:spChg>
        <pc:spChg chg="add mod">
          <ac:chgData name="Luke Gaffney" userId="6fa697cc8cd57f76" providerId="LiveId" clId="{528BD4CA-A453-43AA-8F73-3E975C3B2CFE}" dt="2025-12-19T16:36:09.052" v="1592" actId="1076"/>
          <ac:spMkLst>
            <pc:docMk/>
            <pc:sldMk cId="1769301805" sldId="290"/>
            <ac:spMk id="3" creationId="{7F57997F-3107-1310-A949-2FE70FD3D3B0}"/>
          </ac:spMkLst>
        </pc:spChg>
        <pc:spChg chg="add mod">
          <ac:chgData name="Luke Gaffney" userId="6fa697cc8cd57f76" providerId="LiveId" clId="{528BD4CA-A453-43AA-8F73-3E975C3B2CFE}" dt="2025-12-19T17:02:15.323" v="1648"/>
          <ac:spMkLst>
            <pc:docMk/>
            <pc:sldMk cId="1769301805" sldId="290"/>
            <ac:spMk id="7" creationId="{A004F379-19A0-C0B8-020A-433A7D73BA73}"/>
          </ac:spMkLst>
        </pc:spChg>
        <pc:picChg chg="add del mod">
          <ac:chgData name="Luke Gaffney" userId="6fa697cc8cd57f76" providerId="LiveId" clId="{528BD4CA-A453-43AA-8F73-3E975C3B2CFE}" dt="2025-12-19T16:31:59.658" v="1536" actId="478"/>
          <ac:picMkLst>
            <pc:docMk/>
            <pc:sldMk cId="1769301805" sldId="290"/>
            <ac:picMk id="5" creationId="{4C079BC6-8B69-7F43-AE1A-294524428087}"/>
          </ac:picMkLst>
        </pc:picChg>
        <pc:picChg chg="add mod">
          <ac:chgData name="Luke Gaffney" userId="6fa697cc8cd57f76" providerId="LiveId" clId="{528BD4CA-A453-43AA-8F73-3E975C3B2CFE}" dt="2025-12-19T16:37:49.657" v="1610" actId="208"/>
          <ac:picMkLst>
            <pc:docMk/>
            <pc:sldMk cId="1769301805" sldId="290"/>
            <ac:picMk id="6" creationId="{7C99DD9C-200C-6757-2144-D4A58CED240B}"/>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DC4030-9B2D-4C56-AA99-33874DEDBB43}" type="datetimeFigureOut">
              <a:rPr lang="en-US" smtClean="0"/>
              <a:t>12/19/2025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4F93AA-2A77-4ACB-8117-F9E159C9069A}" type="slidenum">
              <a:rPr lang="en-US" smtClean="0"/>
              <a:t>‹#›</a:t>
            </a:fld>
            <a:endParaRPr lang="en-US"/>
          </a:p>
        </p:txBody>
      </p:sp>
    </p:spTree>
    <p:extLst>
      <p:ext uri="{BB962C8B-B14F-4D97-AF65-F5344CB8AC3E}">
        <p14:creationId xmlns:p14="http://schemas.microsoft.com/office/powerpoint/2010/main" val="361820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2020 and 2023, Metro Nashville experienced historically low mortgage rates, rapid home price growth, and then the fastest interest-rate increases in decades. This project examines how those market disruptions affected housing affordability overall  and how uneven those impacts were across ZIP codes.</a:t>
            </a:r>
          </a:p>
        </p:txBody>
      </p:sp>
      <p:sp>
        <p:nvSpPr>
          <p:cNvPr id="4" name="Slide Number Placeholder 3"/>
          <p:cNvSpPr>
            <a:spLocks noGrp="1"/>
          </p:cNvSpPr>
          <p:nvPr>
            <p:ph type="sldNum" sz="quarter" idx="5"/>
          </p:nvPr>
        </p:nvSpPr>
        <p:spPr/>
        <p:txBody>
          <a:bodyPr/>
          <a:lstStyle/>
          <a:p>
            <a:fld id="{F04F93AA-2A77-4ACB-8117-F9E159C9069A}" type="slidenum">
              <a:rPr lang="en-US" smtClean="0"/>
              <a:t>1</a:t>
            </a:fld>
            <a:endParaRPr lang="en-US"/>
          </a:p>
        </p:txBody>
      </p:sp>
    </p:spTree>
    <p:extLst>
      <p:ext uri="{BB962C8B-B14F-4D97-AF65-F5344CB8AC3E}">
        <p14:creationId xmlns:p14="http://schemas.microsoft.com/office/powerpoint/2010/main" val="30605489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analysis combines Redfin housing market data, Census income data at the ZIP-code level, and national mortgage rate trends from the Federal Reserve to evaluate housing affordability in Metro Nashville between 2020 and 2023</a:t>
            </a:r>
          </a:p>
        </p:txBody>
      </p:sp>
      <p:sp>
        <p:nvSpPr>
          <p:cNvPr id="4" name="Slide Number Placeholder 3"/>
          <p:cNvSpPr>
            <a:spLocks noGrp="1"/>
          </p:cNvSpPr>
          <p:nvPr>
            <p:ph type="sldNum" sz="quarter" idx="5"/>
          </p:nvPr>
        </p:nvSpPr>
        <p:spPr/>
        <p:txBody>
          <a:bodyPr/>
          <a:lstStyle/>
          <a:p>
            <a:fld id="{F04F93AA-2A77-4ACB-8117-F9E159C9069A}" type="slidenum">
              <a:rPr lang="en-US" smtClean="0"/>
              <a:t>4</a:t>
            </a:fld>
            <a:endParaRPr lang="en-US"/>
          </a:p>
        </p:txBody>
      </p:sp>
    </p:spTree>
    <p:extLst>
      <p:ext uri="{BB962C8B-B14F-4D97-AF65-F5344CB8AC3E}">
        <p14:creationId xmlns:p14="http://schemas.microsoft.com/office/powerpoint/2010/main" val="32651940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5</a:t>
            </a:fld>
            <a:endParaRPr lang="en-US"/>
          </a:p>
        </p:txBody>
      </p:sp>
    </p:spTree>
    <p:extLst>
      <p:ext uri="{BB962C8B-B14F-4D97-AF65-F5344CB8AC3E}">
        <p14:creationId xmlns:p14="http://schemas.microsoft.com/office/powerpoint/2010/main" val="17198001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6</a:t>
            </a:fld>
            <a:endParaRPr lang="en-US"/>
          </a:p>
        </p:txBody>
      </p:sp>
    </p:spTree>
    <p:extLst>
      <p:ext uri="{BB962C8B-B14F-4D97-AF65-F5344CB8AC3E}">
        <p14:creationId xmlns:p14="http://schemas.microsoft.com/office/powerpoint/2010/main" val="16524479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r>
              <a:rPr lang="en-US" b="1" dirty="0"/>
              <a:t>Price-to-Income Ratio</a:t>
            </a:r>
          </a:p>
          <a:p>
            <a:pPr marL="742950" lvl="1" indent="-285750">
              <a:buFont typeface="Arial" panose="020B0604020202020204" pitchFamily="34" charset="0"/>
              <a:buChar char="•"/>
            </a:pPr>
            <a:r>
              <a:rPr lang="en-US" dirty="0"/>
              <a:t>The </a:t>
            </a:r>
            <a:r>
              <a:rPr lang="en-US" b="1" dirty="0"/>
              <a:t>price-to-income ratio</a:t>
            </a:r>
            <a:r>
              <a:rPr lang="en-US" dirty="0"/>
              <a:t> measures how affordable housing is by comparing the cost of a typical home to the income of a typical household.</a:t>
            </a:r>
          </a:p>
          <a:p>
            <a:pPr marL="742950" lvl="1" indent="-285750">
              <a:buFont typeface="Arial" panose="020B0604020202020204" pitchFamily="34" charset="0"/>
              <a:buChar char="•"/>
            </a:pPr>
            <a:r>
              <a:rPr lang="en-US" b="1" dirty="0"/>
              <a:t>Price-to-Income Ratio= Median Home Sale Price/Median Household Income</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7</a:t>
            </a:fld>
            <a:endParaRPr lang="en-US"/>
          </a:p>
        </p:txBody>
      </p:sp>
    </p:spTree>
    <p:extLst>
      <p:ext uri="{BB962C8B-B14F-4D97-AF65-F5344CB8AC3E}">
        <p14:creationId xmlns:p14="http://schemas.microsoft.com/office/powerpoint/2010/main" val="35243437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During this period, Metro Nashville experienced continued population growth, while housing inventory remained constrained. This imbalance between demand and available housing helps explain why prices continued to rise despite fluctuations in sales volume.  Maybe talk about population increase in the speaker notes on this one</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8</a:t>
            </a:fld>
            <a:endParaRPr lang="en-US"/>
          </a:p>
        </p:txBody>
      </p:sp>
    </p:spTree>
    <p:extLst>
      <p:ext uri="{BB962C8B-B14F-4D97-AF65-F5344CB8AC3E}">
        <p14:creationId xmlns:p14="http://schemas.microsoft.com/office/powerpoint/2010/main" val="23594227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Income was not increasing with cost of living </a:t>
            </a:r>
          </a:p>
        </p:txBody>
      </p:sp>
      <p:sp>
        <p:nvSpPr>
          <p:cNvPr id="4" name="Slide Number Placeholder 3"/>
          <p:cNvSpPr>
            <a:spLocks noGrp="1"/>
          </p:cNvSpPr>
          <p:nvPr>
            <p:ph type="sldNum" sz="quarter" idx="5"/>
          </p:nvPr>
        </p:nvSpPr>
        <p:spPr/>
        <p:txBody>
          <a:bodyPr/>
          <a:lstStyle/>
          <a:p>
            <a:fld id="{F04F93AA-2A77-4ACB-8117-F9E159C9069A}" type="slidenum">
              <a:rPr lang="en-US" smtClean="0"/>
              <a:t>10</a:t>
            </a:fld>
            <a:endParaRPr lang="en-US"/>
          </a:p>
        </p:txBody>
      </p:sp>
    </p:spTree>
    <p:extLst>
      <p:ext uri="{BB962C8B-B14F-4D97-AF65-F5344CB8AC3E}">
        <p14:creationId xmlns:p14="http://schemas.microsoft.com/office/powerpoint/2010/main" val="7360349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looking at slide 5 data when looking at median home price how that has changed compared to the interest rate change my findings would be that average home owner that purchased in 2023 vs 2020 spent on average x amount more on a monthly –payment with 20%</a:t>
            </a:r>
          </a:p>
          <a:p>
            <a:r>
              <a:rPr lang="en-US" dirty="0"/>
              <a:t> how the average payment would change</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12</a:t>
            </a:fld>
            <a:endParaRPr lang="en-US"/>
          </a:p>
        </p:txBody>
      </p:sp>
    </p:spTree>
    <p:extLst>
      <p:ext uri="{BB962C8B-B14F-4D97-AF65-F5344CB8AC3E}">
        <p14:creationId xmlns:p14="http://schemas.microsoft.com/office/powerpoint/2010/main" val="5400603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Limitations &amp; Next Steps</a:t>
            </a:r>
          </a:p>
          <a:p>
            <a:r>
              <a:rPr lang="en-US" b="1" dirty="0"/>
              <a:t>Data &amp; Geographic Limitations</a:t>
            </a:r>
          </a:p>
          <a:p>
            <a:r>
              <a:rPr lang="en-US" dirty="0"/>
              <a:t>Defining the true boundaries of </a:t>
            </a:r>
            <a:r>
              <a:rPr lang="en-US" b="1" dirty="0"/>
              <a:t>Metro Nashville at the ZIP-code level</a:t>
            </a:r>
            <a:r>
              <a:rPr lang="en-US" dirty="0"/>
              <a:t> was challenging, as different data sources include different ZIP codes within the metro area.</a:t>
            </a:r>
          </a:p>
          <a:p>
            <a:r>
              <a:rPr lang="en-US" dirty="0"/>
              <a:t>Results may vary slightly depending on which ZIP codes are classified as part of the metro region.</a:t>
            </a:r>
          </a:p>
          <a:p>
            <a:br>
              <a:rPr lang="en-US" dirty="0"/>
            </a:br>
            <a:endParaRPr lang="en-US" dirty="0"/>
          </a:p>
          <a:p>
            <a:r>
              <a:rPr lang="en-US" b="1" dirty="0"/>
              <a:t>Temporal Data Constraints</a:t>
            </a:r>
          </a:p>
          <a:p>
            <a:r>
              <a:rPr lang="en-US" dirty="0"/>
              <a:t>ZIP-code level Census income data were only consistently available for </a:t>
            </a:r>
            <a:r>
              <a:rPr lang="en-US" b="1" dirty="0"/>
              <a:t>2020–2023</a:t>
            </a:r>
            <a:r>
              <a:rPr lang="en-US" dirty="0"/>
              <a:t>, limiting the ability to analyze longer-term affordability trends at a granular level.</a:t>
            </a:r>
          </a:p>
          <a:p>
            <a:r>
              <a:rPr lang="en-US" dirty="0"/>
              <a:t>As a result, earlier affordability dynamics could not be examined at the ZIP-code scale.</a:t>
            </a:r>
          </a:p>
          <a:p>
            <a:br>
              <a:rPr lang="en-US" dirty="0"/>
            </a:br>
            <a:endParaRPr lang="en-US" dirty="0"/>
          </a:p>
          <a:p>
            <a:r>
              <a:rPr lang="en-US" b="1" dirty="0"/>
              <a:t>Future Research Opportunities</a:t>
            </a:r>
          </a:p>
          <a:p>
            <a:r>
              <a:rPr lang="en-US" dirty="0"/>
              <a:t>Expanding this analysis to cover the </a:t>
            </a:r>
            <a:r>
              <a:rPr lang="en-US" b="1" dirty="0"/>
              <a:t>past 10–20 years</a:t>
            </a:r>
            <a:r>
              <a:rPr lang="en-US" dirty="0"/>
              <a:t> would provide valuable insight into how affordability pressures have evolved over multiple housing cycles.</a:t>
            </a:r>
          </a:p>
          <a:p>
            <a:r>
              <a:rPr lang="en-US" dirty="0"/>
              <a:t>Incorporating additional geographic definitions (e.g., county or census tract level) could improve consistency and comparability across data sources.</a:t>
            </a:r>
          </a:p>
          <a:p>
            <a:r>
              <a:rPr lang="en-US" dirty="0"/>
              <a:t>Future work could also examine </a:t>
            </a:r>
            <a:r>
              <a:rPr lang="en-US" b="1" dirty="0"/>
              <a:t>demographic and tenure differences</a:t>
            </a:r>
            <a:r>
              <a:rPr lang="en-US" dirty="0"/>
              <a:t> to better understand who is most affected by rising housing costs.</a:t>
            </a:r>
          </a:p>
          <a:p>
            <a:endParaRPr lang="en-US" dirty="0"/>
          </a:p>
        </p:txBody>
      </p:sp>
      <p:sp>
        <p:nvSpPr>
          <p:cNvPr id="4" name="Slide Number Placeholder 3"/>
          <p:cNvSpPr>
            <a:spLocks noGrp="1"/>
          </p:cNvSpPr>
          <p:nvPr>
            <p:ph type="sldNum" sz="quarter" idx="5"/>
          </p:nvPr>
        </p:nvSpPr>
        <p:spPr/>
        <p:txBody>
          <a:bodyPr/>
          <a:lstStyle/>
          <a:p>
            <a:fld id="{F04F93AA-2A77-4ACB-8117-F9E159C9069A}" type="slidenum">
              <a:rPr lang="en-US" smtClean="0"/>
              <a:t>13</a:t>
            </a:fld>
            <a:endParaRPr lang="en-US"/>
          </a:p>
        </p:txBody>
      </p:sp>
    </p:spTree>
    <p:extLst>
      <p:ext uri="{BB962C8B-B14F-4D97-AF65-F5344CB8AC3E}">
        <p14:creationId xmlns:p14="http://schemas.microsoft.com/office/powerpoint/2010/main" val="4330422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838B0-975D-31C0-7BD2-130C2454344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BB2F58E-52D2-45F0-509A-3E4302E780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F3F032-6152-B5C7-54EF-7EB35DF144E5}"/>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2E7E7F83-9F97-0164-4B11-1CACCD45E8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C8B827-DA72-76BF-61CA-181EA87576EF}"/>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4866020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50E89-F670-4E88-3E52-1AA9D7600C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1374FA-5609-F22E-26ED-7885D3E351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1C0E74-7F8C-66C3-FE01-9E3D2BA99CDF}"/>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43335726-2349-EDE0-794B-25EA1D3044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811528-EF31-3213-AA8C-2CD786F52F19}"/>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058670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8C2E8B-C2FA-9286-E03F-5062DD039F6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ACE3503-19AF-41A1-092B-60F71F8E30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6C9196-F250-9AC7-C084-0C296B6EF68A}"/>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A342C2E2-AADD-09B1-ECA7-26C53131CE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16FFD7-1E59-034B-3879-28E65E068368}"/>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4885020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7F1EF4-8D70-0817-DB5C-3369F32DC30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44E66F9-EA1A-E713-1129-AFC0F085A61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C926150-237C-07E5-F4DF-E50753C097F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FAFE979-9992-5F31-187A-84483C24E7B9}"/>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6" name="Footer Placeholder 5">
            <a:extLst>
              <a:ext uri="{FF2B5EF4-FFF2-40B4-BE49-F238E27FC236}">
                <a16:creationId xmlns:a16="http://schemas.microsoft.com/office/drawing/2014/main" id="{2BF4108E-06EC-7DFA-4CBF-53D7FD7424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B67EB0-7D64-B128-A285-B64767E10996}"/>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40577123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DE9BF-D271-59F7-CDC8-4BB6BA8E319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51A5B08-8F08-2CB9-0A59-F064AB3718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189D034-3EF6-034B-72C7-61C65E3C63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E3EFCF9-610A-FF4B-3D06-FF194B3FE92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D5A1D2C-24CF-3533-0350-AAAEFC0537A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1B9B8B4-32D6-2982-33F4-7DBAB725FAE0}"/>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8" name="Footer Placeholder 7">
            <a:extLst>
              <a:ext uri="{FF2B5EF4-FFF2-40B4-BE49-F238E27FC236}">
                <a16:creationId xmlns:a16="http://schemas.microsoft.com/office/drawing/2014/main" id="{7D85D933-EB9E-64DD-6AC4-6BF2DE1E16C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691474B-D526-55B5-F8D0-D4D9A6659C04}"/>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6125069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185F02-4A00-FEEB-7401-29905178EF4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10F79DE-8C6C-EBEE-AFF4-6600C380058F}"/>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4" name="Footer Placeholder 3">
            <a:extLst>
              <a:ext uri="{FF2B5EF4-FFF2-40B4-BE49-F238E27FC236}">
                <a16:creationId xmlns:a16="http://schemas.microsoft.com/office/drawing/2014/main" id="{BE0FCE67-FA2B-D1B0-BEA5-0689789FE1E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348475D-4CAA-3871-ACB6-754155DC20ED}"/>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33316027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CFCEDD4-C8B3-C0CA-26ED-C549B6235587}"/>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3" name="Footer Placeholder 2">
            <a:extLst>
              <a:ext uri="{FF2B5EF4-FFF2-40B4-BE49-F238E27FC236}">
                <a16:creationId xmlns:a16="http://schemas.microsoft.com/office/drawing/2014/main" id="{28BF2656-8F73-2AB9-3AEC-9B2747D7793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8F3B3B3-4FC1-AC29-C7E4-5BADB03A3DCD}"/>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9677724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570B3-B4BA-AA12-3A32-39FA11E783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A7F0DEE-D2DF-E961-7282-0BC2D8876E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41A205-AEB8-D897-5F94-1F12E34DBF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9DFE46-2C9B-35D2-D243-72709CB269DF}"/>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6" name="Footer Placeholder 5">
            <a:extLst>
              <a:ext uri="{FF2B5EF4-FFF2-40B4-BE49-F238E27FC236}">
                <a16:creationId xmlns:a16="http://schemas.microsoft.com/office/drawing/2014/main" id="{B990FAE4-F8DC-58C1-5838-5C112BAF56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D44D7A-A481-B793-36EB-93C2ED894824}"/>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099186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ED6C8-EB4E-48A1-5CE6-DCC89B514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37E20E6-9043-9EF1-69FA-9C08F6DA67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05E99AC-2F15-B873-7B49-AF750FA7818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1D3D93-B00E-2BF1-1322-CA8D92BDDEF4}"/>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6" name="Footer Placeholder 5">
            <a:extLst>
              <a:ext uri="{FF2B5EF4-FFF2-40B4-BE49-F238E27FC236}">
                <a16:creationId xmlns:a16="http://schemas.microsoft.com/office/drawing/2014/main" id="{878AE80E-3BF8-3895-DA76-0D4FC1B365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7F440E-A6AE-421F-F21A-9158F42A602E}"/>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5880692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09D6A-55E4-E96B-7AAA-490E4B1124F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D28C3DA-E907-7104-FC2F-822FCB66459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0983F7-1A60-ABE5-F5C4-3FAEC5EFB796}"/>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B67EBBF6-4A85-99DB-669A-17849C39F7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0ED123-26C9-DDE2-9767-83C6171D943A}"/>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14839381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5208DA-23A1-B2DA-EAB5-C1FC20091E4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73F736D-53B1-AB46-2B66-10E5DDDCC06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567765-E2E5-DB5D-13F8-0B11DEC18E89}"/>
              </a:ext>
            </a:extLst>
          </p:cNvPr>
          <p:cNvSpPr>
            <a:spLocks noGrp="1"/>
          </p:cNvSpPr>
          <p:nvPr>
            <p:ph type="dt" sz="half" idx="10"/>
          </p:nvPr>
        </p:nvSpPr>
        <p:spPr/>
        <p:txBody>
          <a:body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EA3220CA-D52F-3532-C9DE-B094EED30F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03457A-AA84-4CD3-FCAD-F750DEFB9C73}"/>
              </a:ext>
            </a:extLst>
          </p:cNvPr>
          <p:cNvSpPr>
            <a:spLocks noGrp="1"/>
          </p:cNvSpPr>
          <p:nvPr>
            <p:ph type="sldNum" sz="quarter" idx="12"/>
          </p:nvPr>
        </p:nvSpPr>
        <p:spPr/>
        <p:txBody>
          <a:bodyPr/>
          <a:lstStyle/>
          <a:p>
            <a:fld id="{16CD607A-72E9-4BF2-9356-F51220A4424A}" type="slidenum">
              <a:rPr lang="en-US" smtClean="0"/>
              <a:t>‹#›</a:t>
            </a:fld>
            <a:endParaRPr lang="en-US"/>
          </a:p>
        </p:txBody>
      </p:sp>
    </p:spTree>
    <p:extLst>
      <p:ext uri="{BB962C8B-B14F-4D97-AF65-F5344CB8AC3E}">
        <p14:creationId xmlns:p14="http://schemas.microsoft.com/office/powerpoint/2010/main" val="22589895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0FFFA7-441F-50E1-A716-AC6833AAABA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D1FB9B9-FF4D-9244-1F7D-98F874CA93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799808-6845-39EA-3256-B3F6ED28AC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3FBD760-3C71-467A-88B1-1440ED683542}" type="datetimeFigureOut">
              <a:rPr lang="en-US" smtClean="0"/>
              <a:t>12/19/2025</a:t>
            </a:fld>
            <a:endParaRPr lang="en-US"/>
          </a:p>
        </p:txBody>
      </p:sp>
      <p:sp>
        <p:nvSpPr>
          <p:cNvPr id="5" name="Footer Placeholder 4">
            <a:extLst>
              <a:ext uri="{FF2B5EF4-FFF2-40B4-BE49-F238E27FC236}">
                <a16:creationId xmlns:a16="http://schemas.microsoft.com/office/drawing/2014/main" id="{28CE2A96-42F0-C2EA-1D5D-2AB730FB565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7B05EC-6F7A-BC17-BDEC-FF9652A1FB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CD607A-72E9-4BF2-9356-F51220A4424A}" type="slidenum">
              <a:rPr lang="en-US" smtClean="0"/>
              <a:t>‹#›</a:t>
            </a:fld>
            <a:endParaRPr lang="en-US"/>
          </a:p>
        </p:txBody>
      </p:sp>
    </p:spTree>
    <p:extLst>
      <p:ext uri="{BB962C8B-B14F-4D97-AF65-F5344CB8AC3E}">
        <p14:creationId xmlns:p14="http://schemas.microsoft.com/office/powerpoint/2010/main" val="12877944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B7AD9F6-8CE7-4299-8FC6-328F4DCD3F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871A2F-1D02-6452-5157-8CB541F3456A}"/>
              </a:ext>
            </a:extLst>
          </p:cNvPr>
          <p:cNvSpPr>
            <a:spLocks noGrp="1"/>
          </p:cNvSpPr>
          <p:nvPr>
            <p:ph type="ctrTitle"/>
          </p:nvPr>
        </p:nvSpPr>
        <p:spPr>
          <a:xfrm>
            <a:off x="4817533" y="1317025"/>
            <a:ext cx="6251110" cy="2902077"/>
          </a:xfrm>
        </p:spPr>
        <p:txBody>
          <a:bodyPr anchor="b">
            <a:normAutofit/>
          </a:bodyPr>
          <a:lstStyle/>
          <a:p>
            <a:r>
              <a:rPr lang="en-US" sz="4400" b="1" dirty="0"/>
              <a:t>Housing Affordability in Metro Nashville During a Period of Market Disruption (2020–2023)</a:t>
            </a:r>
          </a:p>
        </p:txBody>
      </p:sp>
      <p:sp>
        <p:nvSpPr>
          <p:cNvPr id="3" name="Subtitle 2">
            <a:extLst>
              <a:ext uri="{FF2B5EF4-FFF2-40B4-BE49-F238E27FC236}">
                <a16:creationId xmlns:a16="http://schemas.microsoft.com/office/drawing/2014/main" id="{FB4789A9-F273-59F1-B441-515130EFAB92}"/>
              </a:ext>
            </a:extLst>
          </p:cNvPr>
          <p:cNvSpPr>
            <a:spLocks noGrp="1"/>
          </p:cNvSpPr>
          <p:nvPr>
            <p:ph type="subTitle" idx="1"/>
          </p:nvPr>
        </p:nvSpPr>
        <p:spPr>
          <a:xfrm>
            <a:off x="5381626" y="4617720"/>
            <a:ext cx="4655865" cy="355092"/>
          </a:xfrm>
        </p:spPr>
        <p:txBody>
          <a:bodyPr>
            <a:normAutofit lnSpcReduction="10000"/>
          </a:bodyPr>
          <a:lstStyle/>
          <a:p>
            <a:pPr algn="l"/>
            <a:r>
              <a:rPr lang="en-US" sz="2000" dirty="0"/>
              <a:t>Luke Gaffney | DDA17 Capstone Project</a:t>
            </a:r>
          </a:p>
          <a:p>
            <a:pPr algn="l"/>
            <a:endParaRPr lang="en-US" dirty="0"/>
          </a:p>
        </p:txBody>
      </p:sp>
      <p:pic>
        <p:nvPicPr>
          <p:cNvPr id="5" name="Picture 4" descr="Houses in a subdivision">
            <a:extLst>
              <a:ext uri="{FF2B5EF4-FFF2-40B4-BE49-F238E27FC236}">
                <a16:creationId xmlns:a16="http://schemas.microsoft.com/office/drawing/2014/main" id="{F2BEEBFA-CA17-EDF1-8619-5BB733B403C6}"/>
              </a:ext>
            </a:extLst>
          </p:cNvPr>
          <p:cNvPicPr>
            <a:picLocks noChangeAspect="1"/>
          </p:cNvPicPr>
          <p:nvPr/>
        </p:nvPicPr>
        <p:blipFill>
          <a:blip r:embed="rId3"/>
          <a:srcRect l="33472" r="21197" b="-1"/>
          <a:stretch>
            <a:fillRect/>
          </a:stretch>
        </p:blipFill>
        <p:spPr>
          <a:xfrm>
            <a:off x="1" y="10"/>
            <a:ext cx="4571999"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30" name="sketchy line">
            <a:extLst>
              <a:ext uri="{FF2B5EF4-FFF2-40B4-BE49-F238E27FC236}">
                <a16:creationId xmlns:a16="http://schemas.microsoft.com/office/drawing/2014/main" id="{F49775AF-8896-43EE-92C6-83497D6DC5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2862" y="4409267"/>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1415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9FC05C-E79A-F5B5-327B-29607701820D}"/>
              </a:ext>
            </a:extLst>
          </p:cNvPr>
          <p:cNvSpPr>
            <a:spLocks noGrp="1"/>
          </p:cNvSpPr>
          <p:nvPr>
            <p:ph type="title"/>
          </p:nvPr>
        </p:nvSpPr>
        <p:spPr>
          <a:xfrm>
            <a:off x="841248" y="548640"/>
            <a:ext cx="3600860" cy="5431536"/>
          </a:xfrm>
        </p:spPr>
        <p:txBody>
          <a:bodyPr>
            <a:normAutofit/>
          </a:bodyPr>
          <a:lstStyle/>
          <a:p>
            <a:pPr algn="ctr"/>
            <a:r>
              <a:rPr lang="en-US" b="1" dirty="0"/>
              <a:t>Purpose of this Analysis</a:t>
            </a:r>
          </a:p>
        </p:txBody>
      </p:sp>
      <p:sp>
        <p:nvSpPr>
          <p:cNvPr id="12"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35E1C994-818C-0ACC-C41E-5E01DA946D82}"/>
              </a:ext>
            </a:extLst>
          </p:cNvPr>
          <p:cNvSpPr txBox="1"/>
          <p:nvPr/>
        </p:nvSpPr>
        <p:spPr>
          <a:xfrm>
            <a:off x="5223031" y="2602688"/>
            <a:ext cx="6403552" cy="1323439"/>
          </a:xfrm>
          <a:prstGeom prst="rect">
            <a:avLst/>
          </a:prstGeom>
          <a:noFill/>
        </p:spPr>
        <p:txBody>
          <a:bodyPr wrap="square" rtlCol="0">
            <a:spAutoFit/>
          </a:bodyPr>
          <a:lstStyle/>
          <a:p>
            <a:r>
              <a:rPr lang="en-US" sz="2000" dirty="0"/>
              <a:t>To evaluate how pandemic-era market disruption reshaped housing affordability in Metro Nashville, and whether those impacts were experienced evenly across the metro geographic.</a:t>
            </a:r>
          </a:p>
        </p:txBody>
      </p:sp>
    </p:spTree>
    <p:extLst>
      <p:ext uri="{BB962C8B-B14F-4D97-AF65-F5344CB8AC3E}">
        <p14:creationId xmlns:p14="http://schemas.microsoft.com/office/powerpoint/2010/main" val="34848875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EF011FB-0361-81F1-A411-48E3B66109D6}"/>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D2D996-43B4-913B-F7DD-59EA7C7084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C9B228D7-8329-3F75-828E-FC46FA1AD6D9}"/>
              </a:ext>
            </a:extLst>
          </p:cNvPr>
          <p:cNvSpPr>
            <a:spLocks noGrp="1"/>
          </p:cNvSpPr>
          <p:nvPr>
            <p:ph type="title"/>
          </p:nvPr>
        </p:nvSpPr>
        <p:spPr>
          <a:xfrm>
            <a:off x="841248" y="548640"/>
            <a:ext cx="3600860" cy="5431536"/>
          </a:xfrm>
        </p:spPr>
        <p:txBody>
          <a:bodyPr>
            <a:normAutofit/>
          </a:bodyPr>
          <a:lstStyle/>
          <a:p>
            <a:pPr algn="ctr"/>
            <a:r>
              <a:rPr lang="en-US" b="1" dirty="0"/>
              <a:t>Research Questions</a:t>
            </a:r>
          </a:p>
        </p:txBody>
      </p:sp>
      <p:sp>
        <p:nvSpPr>
          <p:cNvPr id="12" name="sketch line">
            <a:extLst>
              <a:ext uri="{FF2B5EF4-FFF2-40B4-BE49-F238E27FC236}">
                <a16:creationId xmlns:a16="http://schemas.microsoft.com/office/drawing/2014/main" id="{836549C7-EDAA-8C20-68F5-F3CDC5C146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sX0" fmla="*/ 0 w 4480560"/>
              <a:gd name="csY0" fmla="*/ 0 h 18288"/>
              <a:gd name="csX1" fmla="*/ 595274 w 4480560"/>
              <a:gd name="csY1" fmla="*/ 0 h 18288"/>
              <a:gd name="csX2" fmla="*/ 1100938 w 4480560"/>
              <a:gd name="csY2" fmla="*/ 0 h 18288"/>
              <a:gd name="csX3" fmla="*/ 1651406 w 4480560"/>
              <a:gd name="csY3" fmla="*/ 0 h 18288"/>
              <a:gd name="csX4" fmla="*/ 2336292 w 4480560"/>
              <a:gd name="csY4" fmla="*/ 0 h 18288"/>
              <a:gd name="csX5" fmla="*/ 2931566 w 4480560"/>
              <a:gd name="csY5" fmla="*/ 0 h 18288"/>
              <a:gd name="csX6" fmla="*/ 3482035 w 4480560"/>
              <a:gd name="csY6" fmla="*/ 0 h 18288"/>
              <a:gd name="csX7" fmla="*/ 4480560 w 4480560"/>
              <a:gd name="csY7" fmla="*/ 0 h 18288"/>
              <a:gd name="csX8" fmla="*/ 4480560 w 4480560"/>
              <a:gd name="csY8" fmla="*/ 18288 h 18288"/>
              <a:gd name="csX9" fmla="*/ 3840480 w 4480560"/>
              <a:gd name="csY9" fmla="*/ 18288 h 18288"/>
              <a:gd name="csX10" fmla="*/ 3290011 w 4480560"/>
              <a:gd name="csY10" fmla="*/ 18288 h 18288"/>
              <a:gd name="csX11" fmla="*/ 2560320 w 4480560"/>
              <a:gd name="csY11" fmla="*/ 18288 h 18288"/>
              <a:gd name="csX12" fmla="*/ 1965046 w 4480560"/>
              <a:gd name="csY12" fmla="*/ 18288 h 18288"/>
              <a:gd name="csX13" fmla="*/ 1459382 w 4480560"/>
              <a:gd name="csY13" fmla="*/ 18288 h 18288"/>
              <a:gd name="csX14" fmla="*/ 774497 w 4480560"/>
              <a:gd name="csY14" fmla="*/ 18288 h 18288"/>
              <a:gd name="csX15" fmla="*/ 0 w 4480560"/>
              <a:gd name="csY15" fmla="*/ 18288 h 18288"/>
              <a:gd name="csX16" fmla="*/ 0 w 448056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45E13C00-C4B2-AC65-DFCC-5BF7B4C0D768}"/>
              </a:ext>
            </a:extLst>
          </p:cNvPr>
          <p:cNvSpPr>
            <a:spLocks noGrp="1"/>
          </p:cNvSpPr>
          <p:nvPr>
            <p:ph idx="1"/>
          </p:nvPr>
        </p:nvSpPr>
        <p:spPr>
          <a:xfrm>
            <a:off x="5126418" y="552091"/>
            <a:ext cx="6224335" cy="5431536"/>
          </a:xfrm>
        </p:spPr>
        <p:txBody>
          <a:bodyPr anchor="ctr">
            <a:normAutofit/>
          </a:bodyPr>
          <a:lstStyle/>
          <a:p>
            <a:endParaRPr lang="en-US" sz="1900" dirty="0"/>
          </a:p>
          <a:p>
            <a:pPr marL="0" indent="0">
              <a:buNone/>
            </a:pPr>
            <a:endParaRPr lang="en-US" sz="1900" dirty="0">
              <a:latin typeface="Calibri" panose="020F0502020204030204" pitchFamily="34" charset="0"/>
              <a:ea typeface="Calibri" panose="020F0502020204030204" pitchFamily="34" charset="0"/>
            </a:endParaRPr>
          </a:p>
          <a:p>
            <a:endParaRPr lang="en-US" sz="1900" dirty="0"/>
          </a:p>
        </p:txBody>
      </p:sp>
      <p:sp>
        <p:nvSpPr>
          <p:cNvPr id="4" name="TextBox 3">
            <a:extLst>
              <a:ext uri="{FF2B5EF4-FFF2-40B4-BE49-F238E27FC236}">
                <a16:creationId xmlns:a16="http://schemas.microsoft.com/office/drawing/2014/main" id="{337C5CAA-78BD-6151-0CC5-8CA452F48391}"/>
              </a:ext>
            </a:extLst>
          </p:cNvPr>
          <p:cNvSpPr txBox="1"/>
          <p:nvPr/>
        </p:nvSpPr>
        <p:spPr>
          <a:xfrm>
            <a:off x="5354759" y="962152"/>
            <a:ext cx="6149788" cy="4801314"/>
          </a:xfrm>
          <a:prstGeom prst="rect">
            <a:avLst/>
          </a:prstGeom>
          <a:noFill/>
        </p:spPr>
        <p:txBody>
          <a:bodyPr wrap="square" rtlCol="0">
            <a:spAutoFit/>
          </a:bodyPr>
          <a:lstStyle/>
          <a:p>
            <a:pPr marL="342900" indent="-342900">
              <a:buAutoNum type="arabicPeriod"/>
            </a:pPr>
            <a:r>
              <a:rPr lang="en-US" dirty="0"/>
              <a:t>How did median home sale prices in Metro Nashville change between 2020 and 2023, and did household income growth keep pace with these changes?</a:t>
            </a:r>
          </a:p>
          <a:p>
            <a:pPr marL="342900" indent="-342900">
              <a:buFont typeface="+mj-lt"/>
              <a:buAutoNum type="arabicPeriod"/>
            </a:pPr>
            <a:endParaRPr lang="en-US" dirty="0"/>
          </a:p>
          <a:p>
            <a:pPr marL="342900" indent="-342900">
              <a:buFontTx/>
              <a:buAutoNum type="arabicPeriod"/>
            </a:pPr>
            <a:r>
              <a:rPr lang="en-US" dirty="0"/>
              <a:t>How did housing inventory levels and homes sold change between 2020 and 2023, and how did these trends relate to rising home prices in Metro Nashville?</a:t>
            </a:r>
          </a:p>
          <a:p>
            <a:pPr marL="342900" indent="-342900">
              <a:buFont typeface="+mj-lt"/>
              <a:buAutoNum type="arabicPeriod"/>
            </a:pPr>
            <a:endParaRPr lang="en-US" dirty="0"/>
          </a:p>
          <a:p>
            <a:pPr marL="342900" indent="-342900">
              <a:buFontTx/>
              <a:buAutoNum type="arabicPeriod"/>
            </a:pPr>
            <a:r>
              <a:rPr lang="en-US" dirty="0"/>
              <a:t>How did changes in 30-year fixed mortgage interest rates between 2020 and 2023 affect homeownership affordability for a median-income household in Metro Nashville?</a:t>
            </a:r>
          </a:p>
          <a:p>
            <a:pPr marL="342900" indent="-342900">
              <a:buFont typeface="+mj-lt"/>
              <a:buAutoNum type="arabicPeriod"/>
            </a:pPr>
            <a:endParaRPr lang="en-US" dirty="0"/>
          </a:p>
          <a:p>
            <a:pPr marL="342900" indent="-342900">
              <a:buFontTx/>
              <a:buAutoNum type="arabicPeriod"/>
            </a:pPr>
            <a:r>
              <a:rPr lang="en-US" dirty="0"/>
              <a:t>Were changes in housing affordability evenly distributed across Metro Nashville, or did certain ZIP codes experience more rapid changes in affordability between 2020 and 2023?</a:t>
            </a:r>
          </a:p>
        </p:txBody>
      </p:sp>
    </p:spTree>
    <p:extLst>
      <p:ext uri="{BB962C8B-B14F-4D97-AF65-F5344CB8AC3E}">
        <p14:creationId xmlns:p14="http://schemas.microsoft.com/office/powerpoint/2010/main" val="40451128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6F808D7-A765-76F0-9157-9650D33648AF}"/>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34538BD-5182-757D-AA03-7FE43366C4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0D3BA9AF-2BD7-97AC-F960-51216C2F9482}"/>
              </a:ext>
            </a:extLst>
          </p:cNvPr>
          <p:cNvSpPr>
            <a:spLocks noGrp="1"/>
          </p:cNvSpPr>
          <p:nvPr>
            <p:ph type="title"/>
          </p:nvPr>
        </p:nvSpPr>
        <p:spPr>
          <a:xfrm>
            <a:off x="838200" y="365125"/>
            <a:ext cx="10515600" cy="1325563"/>
          </a:xfrm>
        </p:spPr>
        <p:txBody>
          <a:bodyPr>
            <a:normAutofit/>
          </a:bodyPr>
          <a:lstStyle/>
          <a:p>
            <a:r>
              <a:rPr lang="en-US" b="1" dirty="0"/>
              <a:t>About the data</a:t>
            </a:r>
          </a:p>
        </p:txBody>
      </p:sp>
      <p:sp>
        <p:nvSpPr>
          <p:cNvPr id="19" name="sketch line">
            <a:extLst>
              <a:ext uri="{FF2B5EF4-FFF2-40B4-BE49-F238E27FC236}">
                <a16:creationId xmlns:a16="http://schemas.microsoft.com/office/drawing/2014/main" id="{E2E8BF61-004B-D31B-5057-33B6A1A098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TextBox 60">
            <a:extLst>
              <a:ext uri="{FF2B5EF4-FFF2-40B4-BE49-F238E27FC236}">
                <a16:creationId xmlns:a16="http://schemas.microsoft.com/office/drawing/2014/main" id="{BFD046D5-C800-2F5C-68F0-9AD62A89727F}"/>
              </a:ext>
            </a:extLst>
          </p:cNvPr>
          <p:cNvSpPr txBox="1"/>
          <p:nvPr/>
        </p:nvSpPr>
        <p:spPr>
          <a:xfrm>
            <a:off x="956733" y="2286000"/>
            <a:ext cx="9050867" cy="2585323"/>
          </a:xfrm>
          <a:prstGeom prst="rect">
            <a:avLst/>
          </a:prstGeom>
          <a:noFill/>
        </p:spPr>
        <p:txBody>
          <a:bodyPr wrap="square" rtlCol="0">
            <a:spAutoFit/>
          </a:bodyPr>
          <a:lstStyle/>
          <a:p>
            <a:pPr marL="285750" indent="-285750">
              <a:buFont typeface="Arial" panose="020B0604020202020204" pitchFamily="34" charset="0"/>
              <a:buChar char="•"/>
            </a:pPr>
            <a:r>
              <a:rPr lang="en-US" b="1" dirty="0"/>
              <a:t>Redfin (Monthly Housing Market Data)</a:t>
            </a:r>
            <a:br>
              <a:rPr lang="en-US" dirty="0"/>
            </a:br>
            <a:r>
              <a:rPr lang="en-US" dirty="0"/>
              <a:t>Metro Nashville &amp; ZIP-code level home prices, inventory, and sales (2020–2023)</a:t>
            </a:r>
          </a:p>
          <a:p>
            <a:endParaRPr lang="en-US" dirty="0"/>
          </a:p>
          <a:p>
            <a:pPr marL="285750" indent="-285750">
              <a:buFont typeface="Arial" panose="020B0604020202020204" pitchFamily="34" charset="0"/>
              <a:buChar char="•"/>
            </a:pPr>
            <a:r>
              <a:rPr lang="en-US" b="1" dirty="0"/>
              <a:t>U.S. Census Bureau – ACS (5-Year Estimates)</a:t>
            </a:r>
            <a:br>
              <a:rPr lang="en-US" dirty="0"/>
            </a:br>
            <a:r>
              <a:rPr lang="en-US" dirty="0"/>
              <a:t>ZIP Code (ZCTA) median household income and housing cost data</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Federal Reserve Economic Data (FRED)</a:t>
            </a:r>
            <a:br>
              <a:rPr lang="en-US" dirty="0"/>
            </a:br>
            <a:r>
              <a:rPr lang="en-US" dirty="0"/>
              <a:t>National 30-year fixed mortgage interest rates</a:t>
            </a:r>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8355994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2F295F-C423-1C7A-F0D5-B4FEC5277C9B}"/>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9464FE2B-8E3D-B874-D701-0EA99F5F13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AFB1300D-AC32-6A7E-3302-C38583BC0E9A}"/>
              </a:ext>
            </a:extLst>
          </p:cNvPr>
          <p:cNvSpPr>
            <a:spLocks noGrp="1"/>
          </p:cNvSpPr>
          <p:nvPr>
            <p:ph type="title"/>
          </p:nvPr>
        </p:nvSpPr>
        <p:spPr>
          <a:xfrm>
            <a:off x="838200" y="365125"/>
            <a:ext cx="11201400" cy="1325563"/>
          </a:xfrm>
        </p:spPr>
        <p:txBody>
          <a:bodyPr>
            <a:normAutofit/>
          </a:bodyPr>
          <a:lstStyle/>
          <a:p>
            <a:r>
              <a:rPr lang="nb-NO" b="1" dirty="0"/>
              <a:t>Metro Nashville Housing Market Snapshot</a:t>
            </a:r>
            <a:endParaRPr lang="en-US" b="1" dirty="0"/>
          </a:p>
        </p:txBody>
      </p:sp>
      <p:sp>
        <p:nvSpPr>
          <p:cNvPr id="19" name="sketch line">
            <a:extLst>
              <a:ext uri="{FF2B5EF4-FFF2-40B4-BE49-F238E27FC236}">
                <a16:creationId xmlns:a16="http://schemas.microsoft.com/office/drawing/2014/main" id="{7E048FF6-6921-1686-C0B2-27EB2F41AE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7B064B8D-B47F-4375-2B50-CF6CF3893C03}"/>
              </a:ext>
            </a:extLst>
          </p:cNvPr>
          <p:cNvSpPr/>
          <p:nvPr/>
        </p:nvSpPr>
        <p:spPr>
          <a:xfrm>
            <a:off x="669036" y="2593271"/>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3" name="Rectangle 52">
            <a:extLst>
              <a:ext uri="{FF2B5EF4-FFF2-40B4-BE49-F238E27FC236}">
                <a16:creationId xmlns:a16="http://schemas.microsoft.com/office/drawing/2014/main" id="{A0F0684F-4197-6064-55B4-98EB35BEC608}"/>
              </a:ext>
            </a:extLst>
          </p:cNvPr>
          <p:cNvSpPr/>
          <p:nvPr/>
        </p:nvSpPr>
        <p:spPr>
          <a:xfrm>
            <a:off x="3525013" y="4460187"/>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4" name="Rectangle 53">
            <a:extLst>
              <a:ext uri="{FF2B5EF4-FFF2-40B4-BE49-F238E27FC236}">
                <a16:creationId xmlns:a16="http://schemas.microsoft.com/office/drawing/2014/main" id="{1EDDE1D7-883C-62FF-3687-9FBB1577874D}"/>
              </a:ext>
            </a:extLst>
          </p:cNvPr>
          <p:cNvSpPr/>
          <p:nvPr/>
        </p:nvSpPr>
        <p:spPr>
          <a:xfrm>
            <a:off x="3513695" y="2593271"/>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5" name="Rectangle 54">
            <a:extLst>
              <a:ext uri="{FF2B5EF4-FFF2-40B4-BE49-F238E27FC236}">
                <a16:creationId xmlns:a16="http://schemas.microsoft.com/office/drawing/2014/main" id="{F9704708-6D90-46C9-1CAE-40013BD95D43}"/>
              </a:ext>
            </a:extLst>
          </p:cNvPr>
          <p:cNvSpPr/>
          <p:nvPr/>
        </p:nvSpPr>
        <p:spPr>
          <a:xfrm>
            <a:off x="9236966" y="4460187"/>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6" name="Rectangle 55">
            <a:extLst>
              <a:ext uri="{FF2B5EF4-FFF2-40B4-BE49-F238E27FC236}">
                <a16:creationId xmlns:a16="http://schemas.microsoft.com/office/drawing/2014/main" id="{F92D9006-4F0B-4761-2C1A-A8C48A31A008}"/>
              </a:ext>
            </a:extLst>
          </p:cNvPr>
          <p:cNvSpPr/>
          <p:nvPr/>
        </p:nvSpPr>
        <p:spPr>
          <a:xfrm>
            <a:off x="9203012" y="2593271"/>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7" name="Rectangle 56">
            <a:extLst>
              <a:ext uri="{FF2B5EF4-FFF2-40B4-BE49-F238E27FC236}">
                <a16:creationId xmlns:a16="http://schemas.microsoft.com/office/drawing/2014/main" id="{32D69E2D-ACD2-E3BF-DC2D-FE6E5D6DFB26}"/>
              </a:ext>
            </a:extLst>
          </p:cNvPr>
          <p:cNvSpPr/>
          <p:nvPr/>
        </p:nvSpPr>
        <p:spPr>
          <a:xfrm>
            <a:off x="669036" y="4460187"/>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A2B05C51-F692-ADF1-1A14-326A496A24C3}"/>
              </a:ext>
            </a:extLst>
          </p:cNvPr>
          <p:cNvSpPr/>
          <p:nvPr/>
        </p:nvSpPr>
        <p:spPr>
          <a:xfrm>
            <a:off x="6380990" y="4460187"/>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0" name="Rectangle 59">
            <a:extLst>
              <a:ext uri="{FF2B5EF4-FFF2-40B4-BE49-F238E27FC236}">
                <a16:creationId xmlns:a16="http://schemas.microsoft.com/office/drawing/2014/main" id="{9BFF97D0-ED64-E128-C274-C00499EFFAE4}"/>
              </a:ext>
            </a:extLst>
          </p:cNvPr>
          <p:cNvSpPr/>
          <p:nvPr/>
        </p:nvSpPr>
        <p:spPr>
          <a:xfrm>
            <a:off x="6358354" y="2593271"/>
            <a:ext cx="2514600" cy="1600200"/>
          </a:xfrm>
          <a:prstGeom prst="rect">
            <a:avLst/>
          </a:prstGeom>
          <a:solidFill>
            <a:srgbClr val="F2F2F2"/>
          </a:solidFill>
          <a:ln>
            <a:solidFill>
              <a:schemeClr val="bg2">
                <a:lumMod val="25000"/>
              </a:schemeClr>
            </a:solidFill>
          </a:ln>
          <a:effectLst>
            <a:outerShdw blurRad="63500" sx="102000" sy="102000" algn="ctr"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62" name="TextBox 61">
            <a:extLst>
              <a:ext uri="{FF2B5EF4-FFF2-40B4-BE49-F238E27FC236}">
                <a16:creationId xmlns:a16="http://schemas.microsoft.com/office/drawing/2014/main" id="{EC08A544-DE54-C799-B423-36CDCF2C5E78}"/>
              </a:ext>
            </a:extLst>
          </p:cNvPr>
          <p:cNvSpPr txBox="1"/>
          <p:nvPr/>
        </p:nvSpPr>
        <p:spPr>
          <a:xfrm>
            <a:off x="898058" y="2977872"/>
            <a:ext cx="2056555" cy="830997"/>
          </a:xfrm>
          <a:prstGeom prst="rect">
            <a:avLst/>
          </a:prstGeom>
          <a:noFill/>
        </p:spPr>
        <p:txBody>
          <a:bodyPr wrap="square" rtlCol="0">
            <a:spAutoFit/>
          </a:bodyPr>
          <a:lstStyle/>
          <a:p>
            <a:pPr algn="ctr"/>
            <a:r>
              <a:rPr lang="en-US" sz="3400" b="1" dirty="0"/>
              <a:t>$334,906</a:t>
            </a:r>
          </a:p>
          <a:p>
            <a:pPr algn="ctr"/>
            <a:r>
              <a:rPr lang="en-US" sz="1400" dirty="0"/>
              <a:t>Avg Sale Price</a:t>
            </a:r>
          </a:p>
        </p:txBody>
      </p:sp>
      <p:sp>
        <p:nvSpPr>
          <p:cNvPr id="63" name="TextBox 62">
            <a:extLst>
              <a:ext uri="{FF2B5EF4-FFF2-40B4-BE49-F238E27FC236}">
                <a16:creationId xmlns:a16="http://schemas.microsoft.com/office/drawing/2014/main" id="{5CDB8C99-1CCB-5587-C46B-2A5DF5A29899}"/>
              </a:ext>
            </a:extLst>
          </p:cNvPr>
          <p:cNvSpPr txBox="1"/>
          <p:nvPr/>
        </p:nvSpPr>
        <p:spPr>
          <a:xfrm>
            <a:off x="6574972" y="2977872"/>
            <a:ext cx="2089881" cy="830997"/>
          </a:xfrm>
          <a:prstGeom prst="rect">
            <a:avLst/>
          </a:prstGeom>
          <a:noFill/>
        </p:spPr>
        <p:txBody>
          <a:bodyPr wrap="square" rtlCol="0">
            <a:spAutoFit/>
          </a:bodyPr>
          <a:lstStyle/>
          <a:p>
            <a:pPr algn="ctr"/>
            <a:r>
              <a:rPr lang="en-US" sz="3400" b="1" dirty="0"/>
              <a:t>$466,651</a:t>
            </a:r>
          </a:p>
          <a:p>
            <a:pPr algn="ctr"/>
            <a:r>
              <a:rPr lang="en-US" sz="1400" dirty="0"/>
              <a:t>Avg Sale Price</a:t>
            </a:r>
          </a:p>
        </p:txBody>
      </p:sp>
      <p:sp>
        <p:nvSpPr>
          <p:cNvPr id="65" name="TextBox 64">
            <a:extLst>
              <a:ext uri="{FF2B5EF4-FFF2-40B4-BE49-F238E27FC236}">
                <a16:creationId xmlns:a16="http://schemas.microsoft.com/office/drawing/2014/main" id="{40D337F7-9BCF-4A96-AD0F-AE467E9DF863}"/>
              </a:ext>
            </a:extLst>
          </p:cNvPr>
          <p:cNvSpPr txBox="1"/>
          <p:nvPr/>
        </p:nvSpPr>
        <p:spPr>
          <a:xfrm>
            <a:off x="3599856" y="2977872"/>
            <a:ext cx="2329873" cy="830997"/>
          </a:xfrm>
          <a:prstGeom prst="rect">
            <a:avLst/>
          </a:prstGeom>
          <a:noFill/>
        </p:spPr>
        <p:txBody>
          <a:bodyPr wrap="square" rtlCol="0">
            <a:spAutoFit/>
          </a:bodyPr>
          <a:lstStyle/>
          <a:p>
            <a:pPr algn="ctr"/>
            <a:r>
              <a:rPr lang="en-US" sz="3400" b="1" dirty="0"/>
              <a:t>$77,039</a:t>
            </a:r>
          </a:p>
          <a:p>
            <a:pPr algn="ctr"/>
            <a:r>
              <a:rPr lang="en-US" sz="1400" dirty="0"/>
              <a:t>Avg Household Income</a:t>
            </a:r>
          </a:p>
        </p:txBody>
      </p:sp>
      <p:sp>
        <p:nvSpPr>
          <p:cNvPr id="67" name="TextBox 66">
            <a:extLst>
              <a:ext uri="{FF2B5EF4-FFF2-40B4-BE49-F238E27FC236}">
                <a16:creationId xmlns:a16="http://schemas.microsoft.com/office/drawing/2014/main" id="{CD7201A7-9E3A-067E-7422-34FDC06F2DFB}"/>
              </a:ext>
            </a:extLst>
          </p:cNvPr>
          <p:cNvSpPr txBox="1"/>
          <p:nvPr/>
        </p:nvSpPr>
        <p:spPr>
          <a:xfrm>
            <a:off x="9310097" y="2977872"/>
            <a:ext cx="2368338" cy="830997"/>
          </a:xfrm>
          <a:prstGeom prst="rect">
            <a:avLst/>
          </a:prstGeom>
          <a:noFill/>
        </p:spPr>
        <p:txBody>
          <a:bodyPr wrap="square" rtlCol="0">
            <a:spAutoFit/>
          </a:bodyPr>
          <a:lstStyle/>
          <a:p>
            <a:pPr algn="ctr"/>
            <a:r>
              <a:rPr lang="en-US" sz="3400" b="1"/>
              <a:t>$92,010</a:t>
            </a:r>
            <a:endParaRPr lang="en-US" sz="3400" b="1" dirty="0"/>
          </a:p>
          <a:p>
            <a:pPr algn="ctr"/>
            <a:r>
              <a:rPr lang="en-US" sz="1400" dirty="0"/>
              <a:t>Avg Household Income</a:t>
            </a:r>
          </a:p>
        </p:txBody>
      </p:sp>
      <p:sp>
        <p:nvSpPr>
          <p:cNvPr id="3" name="TextBox 2">
            <a:extLst>
              <a:ext uri="{FF2B5EF4-FFF2-40B4-BE49-F238E27FC236}">
                <a16:creationId xmlns:a16="http://schemas.microsoft.com/office/drawing/2014/main" id="{BD7F736E-6940-81F4-8CCE-71C9F3341512}"/>
              </a:ext>
            </a:extLst>
          </p:cNvPr>
          <p:cNvSpPr txBox="1"/>
          <p:nvPr/>
        </p:nvSpPr>
        <p:spPr>
          <a:xfrm>
            <a:off x="2799451" y="1816327"/>
            <a:ext cx="1428488" cy="646331"/>
          </a:xfrm>
          <a:prstGeom prst="rect">
            <a:avLst/>
          </a:prstGeom>
          <a:noFill/>
        </p:spPr>
        <p:txBody>
          <a:bodyPr wrap="square" rtlCol="0">
            <a:spAutoFit/>
          </a:bodyPr>
          <a:lstStyle/>
          <a:p>
            <a:r>
              <a:rPr lang="en-US" sz="3600" b="1" dirty="0"/>
              <a:t>2020</a:t>
            </a:r>
          </a:p>
        </p:txBody>
      </p:sp>
      <p:sp>
        <p:nvSpPr>
          <p:cNvPr id="4" name="TextBox 3">
            <a:extLst>
              <a:ext uri="{FF2B5EF4-FFF2-40B4-BE49-F238E27FC236}">
                <a16:creationId xmlns:a16="http://schemas.microsoft.com/office/drawing/2014/main" id="{E493CBD1-94BF-5E0A-77DB-FF5C226FD519}"/>
              </a:ext>
            </a:extLst>
          </p:cNvPr>
          <p:cNvSpPr txBox="1"/>
          <p:nvPr/>
        </p:nvSpPr>
        <p:spPr>
          <a:xfrm>
            <a:off x="8488768" y="1863382"/>
            <a:ext cx="1428488" cy="646331"/>
          </a:xfrm>
          <a:prstGeom prst="rect">
            <a:avLst/>
          </a:prstGeom>
          <a:noFill/>
        </p:spPr>
        <p:txBody>
          <a:bodyPr wrap="square" rtlCol="0">
            <a:spAutoFit/>
          </a:bodyPr>
          <a:lstStyle/>
          <a:p>
            <a:r>
              <a:rPr lang="en-US" sz="3600" b="1" dirty="0"/>
              <a:t>2023</a:t>
            </a:r>
          </a:p>
        </p:txBody>
      </p:sp>
      <p:sp>
        <p:nvSpPr>
          <p:cNvPr id="5" name="TextBox 4">
            <a:extLst>
              <a:ext uri="{FF2B5EF4-FFF2-40B4-BE49-F238E27FC236}">
                <a16:creationId xmlns:a16="http://schemas.microsoft.com/office/drawing/2014/main" id="{7188F6DC-749C-0E58-9C52-708EB0881C1C}"/>
              </a:ext>
            </a:extLst>
          </p:cNvPr>
          <p:cNvSpPr txBox="1"/>
          <p:nvPr/>
        </p:nvSpPr>
        <p:spPr>
          <a:xfrm>
            <a:off x="898057" y="4765128"/>
            <a:ext cx="2056555" cy="830997"/>
          </a:xfrm>
          <a:prstGeom prst="rect">
            <a:avLst/>
          </a:prstGeom>
          <a:noFill/>
        </p:spPr>
        <p:txBody>
          <a:bodyPr wrap="square" rtlCol="0">
            <a:spAutoFit/>
          </a:bodyPr>
          <a:lstStyle/>
          <a:p>
            <a:pPr algn="ctr"/>
            <a:r>
              <a:rPr lang="en-US" sz="3400" b="1" dirty="0"/>
              <a:t>38,234</a:t>
            </a:r>
          </a:p>
          <a:p>
            <a:pPr algn="ctr"/>
            <a:r>
              <a:rPr lang="en-US" sz="1400" dirty="0"/>
              <a:t>Total Home Sales</a:t>
            </a:r>
          </a:p>
        </p:txBody>
      </p:sp>
      <p:sp>
        <p:nvSpPr>
          <p:cNvPr id="6" name="TextBox 5">
            <a:extLst>
              <a:ext uri="{FF2B5EF4-FFF2-40B4-BE49-F238E27FC236}">
                <a16:creationId xmlns:a16="http://schemas.microsoft.com/office/drawing/2014/main" id="{E9D36018-8142-2EDD-EF2A-A6BBC8C171D8}"/>
              </a:ext>
            </a:extLst>
          </p:cNvPr>
          <p:cNvSpPr txBox="1"/>
          <p:nvPr/>
        </p:nvSpPr>
        <p:spPr>
          <a:xfrm>
            <a:off x="9432034" y="4765128"/>
            <a:ext cx="2056555" cy="830997"/>
          </a:xfrm>
          <a:prstGeom prst="rect">
            <a:avLst/>
          </a:prstGeom>
          <a:noFill/>
        </p:spPr>
        <p:txBody>
          <a:bodyPr wrap="square" rtlCol="0">
            <a:spAutoFit/>
          </a:bodyPr>
          <a:lstStyle/>
          <a:p>
            <a:pPr algn="ctr"/>
            <a:r>
              <a:rPr lang="en-US" sz="3400" b="1" dirty="0"/>
              <a:t>6.81%</a:t>
            </a:r>
          </a:p>
          <a:p>
            <a:pPr algn="ctr"/>
            <a:r>
              <a:rPr lang="en-US" sz="1400" dirty="0"/>
              <a:t>Avg 30-Yr Mortgage Rate</a:t>
            </a:r>
          </a:p>
        </p:txBody>
      </p:sp>
      <p:sp>
        <p:nvSpPr>
          <p:cNvPr id="7" name="TextBox 6">
            <a:extLst>
              <a:ext uri="{FF2B5EF4-FFF2-40B4-BE49-F238E27FC236}">
                <a16:creationId xmlns:a16="http://schemas.microsoft.com/office/drawing/2014/main" id="{29E4D0B8-5AD9-3177-AEEB-D8BF77B12F2A}"/>
              </a:ext>
            </a:extLst>
          </p:cNvPr>
          <p:cNvSpPr txBox="1"/>
          <p:nvPr/>
        </p:nvSpPr>
        <p:spPr>
          <a:xfrm>
            <a:off x="6587375" y="4765128"/>
            <a:ext cx="2056555" cy="830997"/>
          </a:xfrm>
          <a:prstGeom prst="rect">
            <a:avLst/>
          </a:prstGeom>
          <a:noFill/>
        </p:spPr>
        <p:txBody>
          <a:bodyPr wrap="square" rtlCol="0">
            <a:spAutoFit/>
          </a:bodyPr>
          <a:lstStyle/>
          <a:p>
            <a:pPr algn="ctr"/>
            <a:r>
              <a:rPr lang="en-US" sz="3400" b="1" dirty="0"/>
              <a:t>26,570</a:t>
            </a:r>
          </a:p>
          <a:p>
            <a:pPr algn="ctr"/>
            <a:r>
              <a:rPr lang="en-US" sz="1400" dirty="0"/>
              <a:t>Total Home Sales</a:t>
            </a:r>
          </a:p>
        </p:txBody>
      </p:sp>
      <p:sp>
        <p:nvSpPr>
          <p:cNvPr id="8" name="TextBox 7">
            <a:extLst>
              <a:ext uri="{FF2B5EF4-FFF2-40B4-BE49-F238E27FC236}">
                <a16:creationId xmlns:a16="http://schemas.microsoft.com/office/drawing/2014/main" id="{C50D66DC-6DC7-0FFF-14AB-BE095496AAF2}"/>
              </a:ext>
            </a:extLst>
          </p:cNvPr>
          <p:cNvSpPr txBox="1"/>
          <p:nvPr/>
        </p:nvSpPr>
        <p:spPr>
          <a:xfrm>
            <a:off x="3742716" y="4765128"/>
            <a:ext cx="2056555" cy="830997"/>
          </a:xfrm>
          <a:prstGeom prst="rect">
            <a:avLst/>
          </a:prstGeom>
          <a:noFill/>
        </p:spPr>
        <p:txBody>
          <a:bodyPr wrap="square" rtlCol="0">
            <a:spAutoFit/>
          </a:bodyPr>
          <a:lstStyle/>
          <a:p>
            <a:pPr algn="ctr"/>
            <a:r>
              <a:rPr lang="en-US" sz="3400" b="1" dirty="0"/>
              <a:t>3.11%</a:t>
            </a:r>
          </a:p>
          <a:p>
            <a:pPr algn="ctr"/>
            <a:r>
              <a:rPr lang="en-US" sz="1400" dirty="0"/>
              <a:t>Avg 30-Yr Mortgage Rate</a:t>
            </a:r>
          </a:p>
        </p:txBody>
      </p:sp>
      <p:sp>
        <p:nvSpPr>
          <p:cNvPr id="9" name="TextBox 8">
            <a:extLst>
              <a:ext uri="{FF2B5EF4-FFF2-40B4-BE49-F238E27FC236}">
                <a16:creationId xmlns:a16="http://schemas.microsoft.com/office/drawing/2014/main" id="{3C7FBA32-85DE-EFE7-0D4A-994A972D3294}"/>
              </a:ext>
            </a:extLst>
          </p:cNvPr>
          <p:cNvSpPr txBox="1"/>
          <p:nvPr/>
        </p:nvSpPr>
        <p:spPr>
          <a:xfrm>
            <a:off x="70339" y="6569125"/>
            <a:ext cx="4873450" cy="215444"/>
          </a:xfrm>
          <a:prstGeom prst="rect">
            <a:avLst/>
          </a:prstGeom>
          <a:noFill/>
        </p:spPr>
        <p:txBody>
          <a:bodyPr wrap="square" rtlCol="0">
            <a:spAutoFit/>
          </a:bodyPr>
          <a:lstStyle/>
          <a:p>
            <a:r>
              <a:rPr lang="en-US" sz="800" b="1" i="1" dirty="0"/>
              <a:t>Source:</a:t>
            </a:r>
            <a:r>
              <a:rPr lang="en-US" sz="800" i="1" dirty="0"/>
              <a:t> Redfin Housing Market Data; U.S. Census Bureau, American Community Survey (ACS)</a:t>
            </a:r>
          </a:p>
        </p:txBody>
      </p:sp>
    </p:spTree>
    <p:extLst>
      <p:ext uri="{BB962C8B-B14F-4D97-AF65-F5344CB8AC3E}">
        <p14:creationId xmlns:p14="http://schemas.microsoft.com/office/powerpoint/2010/main" val="5426337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8644FC-F1EA-B271-90B9-23789C241C95}"/>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CA92C0F-82BD-C8E1-30EE-506B07DFE9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9061BB3-7E15-2851-2DDF-7643C2B84269}"/>
              </a:ext>
            </a:extLst>
          </p:cNvPr>
          <p:cNvSpPr>
            <a:spLocks noGrp="1"/>
          </p:cNvSpPr>
          <p:nvPr>
            <p:ph type="title"/>
          </p:nvPr>
        </p:nvSpPr>
        <p:spPr>
          <a:xfrm>
            <a:off x="836676" y="360954"/>
            <a:ext cx="10515600" cy="1325563"/>
          </a:xfrm>
        </p:spPr>
        <p:txBody>
          <a:bodyPr>
            <a:normAutofit/>
          </a:bodyPr>
          <a:lstStyle/>
          <a:p>
            <a:r>
              <a:rPr lang="en-US" b="1" dirty="0"/>
              <a:t>Sale Price vs Income in Metro Nashville</a:t>
            </a:r>
          </a:p>
        </p:txBody>
      </p:sp>
      <p:sp>
        <p:nvSpPr>
          <p:cNvPr id="19" name="sketch line">
            <a:extLst>
              <a:ext uri="{FF2B5EF4-FFF2-40B4-BE49-F238E27FC236}">
                <a16:creationId xmlns:a16="http://schemas.microsoft.com/office/drawing/2014/main" id="{0A0DC3D1-8C1B-10C4-AFDA-7BA4AB2622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600A8C6F-BFC4-607E-3627-E251A8A378A6}"/>
              </a:ext>
            </a:extLst>
          </p:cNvPr>
          <p:cNvSpPr txBox="1"/>
          <p:nvPr/>
        </p:nvSpPr>
        <p:spPr>
          <a:xfrm>
            <a:off x="1331976" y="1902062"/>
            <a:ext cx="9525000" cy="369332"/>
          </a:xfrm>
          <a:prstGeom prst="rect">
            <a:avLst/>
          </a:prstGeom>
          <a:noFill/>
        </p:spPr>
        <p:txBody>
          <a:bodyPr wrap="square" rtlCol="0">
            <a:spAutoFit/>
          </a:bodyPr>
          <a:lstStyle/>
          <a:p>
            <a:r>
              <a:rPr lang="en-US" dirty="0"/>
              <a:t>Median home prices rose nearly twice as fast as household incomes between 2020 and 2023.</a:t>
            </a:r>
          </a:p>
        </p:txBody>
      </p:sp>
      <p:pic>
        <p:nvPicPr>
          <p:cNvPr id="6" name="Picture 5" descr="A graph of a number of percent&#10;&#10;AI-generated content may be incorrect.">
            <a:extLst>
              <a:ext uri="{FF2B5EF4-FFF2-40B4-BE49-F238E27FC236}">
                <a16:creationId xmlns:a16="http://schemas.microsoft.com/office/drawing/2014/main" id="{77D74E8A-7840-298A-D4E2-4ECE77828D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93920" y="2477795"/>
            <a:ext cx="9404159" cy="3992651"/>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
        <p:nvSpPr>
          <p:cNvPr id="7" name="TextBox 6">
            <a:extLst>
              <a:ext uri="{FF2B5EF4-FFF2-40B4-BE49-F238E27FC236}">
                <a16:creationId xmlns:a16="http://schemas.microsoft.com/office/drawing/2014/main" id="{F8680954-FCF1-9813-090F-D0E3B62B1BC5}"/>
              </a:ext>
            </a:extLst>
          </p:cNvPr>
          <p:cNvSpPr txBox="1"/>
          <p:nvPr/>
        </p:nvSpPr>
        <p:spPr>
          <a:xfrm>
            <a:off x="70339" y="6569125"/>
            <a:ext cx="4873450" cy="215444"/>
          </a:xfrm>
          <a:prstGeom prst="rect">
            <a:avLst/>
          </a:prstGeom>
          <a:noFill/>
        </p:spPr>
        <p:txBody>
          <a:bodyPr wrap="square" rtlCol="0">
            <a:spAutoFit/>
          </a:bodyPr>
          <a:lstStyle/>
          <a:p>
            <a:r>
              <a:rPr lang="en-US" sz="800" b="1" i="1" dirty="0"/>
              <a:t>Source:</a:t>
            </a:r>
            <a:r>
              <a:rPr lang="en-US" sz="800" i="1" dirty="0"/>
              <a:t> Redfin Housing Market Data; U.S. Census Bureau, American Community Survey (ACS)</a:t>
            </a:r>
          </a:p>
        </p:txBody>
      </p:sp>
    </p:spTree>
    <p:extLst>
      <p:ext uri="{BB962C8B-B14F-4D97-AF65-F5344CB8AC3E}">
        <p14:creationId xmlns:p14="http://schemas.microsoft.com/office/powerpoint/2010/main" val="19875543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2977AFE-D466-5A50-8F6A-F7BAE56E51C7}"/>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7722BA4-4F7D-7C10-6E2B-8C6046A1BF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9CD3A3AA-476B-A498-4856-A7F18AA6D853}"/>
              </a:ext>
            </a:extLst>
          </p:cNvPr>
          <p:cNvSpPr>
            <a:spLocks noGrp="1"/>
          </p:cNvSpPr>
          <p:nvPr>
            <p:ph type="title"/>
          </p:nvPr>
        </p:nvSpPr>
        <p:spPr>
          <a:xfrm>
            <a:off x="746871" y="360954"/>
            <a:ext cx="10938933" cy="1325563"/>
          </a:xfrm>
        </p:spPr>
        <p:txBody>
          <a:bodyPr>
            <a:normAutofit/>
          </a:bodyPr>
          <a:lstStyle/>
          <a:p>
            <a:r>
              <a:rPr lang="en-US" b="1" dirty="0"/>
              <a:t>The Price-to-Income Gap in Metro Nashville</a:t>
            </a:r>
          </a:p>
        </p:txBody>
      </p:sp>
      <p:sp>
        <p:nvSpPr>
          <p:cNvPr id="19" name="sketch line">
            <a:extLst>
              <a:ext uri="{FF2B5EF4-FFF2-40B4-BE49-F238E27FC236}">
                <a16:creationId xmlns:a16="http://schemas.microsoft.com/office/drawing/2014/main" id="{6C00AC07-3FE6-CA90-2B30-496FA15542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7C17B134-C5BC-C626-F537-43616E13A7E1}"/>
              </a:ext>
            </a:extLst>
          </p:cNvPr>
          <p:cNvSpPr txBox="1"/>
          <p:nvPr/>
        </p:nvSpPr>
        <p:spPr>
          <a:xfrm>
            <a:off x="6805676" y="3887164"/>
            <a:ext cx="4800600" cy="1477328"/>
          </a:xfrm>
          <a:prstGeom prst="rect">
            <a:avLst/>
          </a:prstGeom>
          <a:noFill/>
        </p:spPr>
        <p:txBody>
          <a:bodyPr wrap="square" rtlCol="0">
            <a:spAutoFit/>
          </a:bodyPr>
          <a:lstStyle/>
          <a:p>
            <a:r>
              <a:rPr lang="en-US" dirty="0"/>
              <a:t>Between 2020 and 2022, median home prices rose faster than incomes, increasing the price-to-income ratio from </a:t>
            </a:r>
            <a:r>
              <a:rPr lang="en-US" b="1" dirty="0"/>
              <a:t>4.7 to 5.8</a:t>
            </a:r>
            <a:r>
              <a:rPr lang="en-US" dirty="0"/>
              <a:t>. While incomes rose in 2023, affordability remained strained, with the ratio still above pre-pandemic levels.</a:t>
            </a:r>
          </a:p>
        </p:txBody>
      </p:sp>
      <p:sp>
        <p:nvSpPr>
          <p:cNvPr id="10" name="TextBox 9">
            <a:extLst>
              <a:ext uri="{FF2B5EF4-FFF2-40B4-BE49-F238E27FC236}">
                <a16:creationId xmlns:a16="http://schemas.microsoft.com/office/drawing/2014/main" id="{0C14E7C4-BD1E-A981-A7EF-4E5642FCA054}"/>
              </a:ext>
            </a:extLst>
          </p:cNvPr>
          <p:cNvSpPr txBox="1"/>
          <p:nvPr/>
        </p:nvSpPr>
        <p:spPr>
          <a:xfrm>
            <a:off x="6497996" y="2601505"/>
            <a:ext cx="2624667" cy="369332"/>
          </a:xfrm>
          <a:prstGeom prst="rect">
            <a:avLst/>
          </a:prstGeom>
          <a:noFill/>
        </p:spPr>
        <p:txBody>
          <a:bodyPr wrap="square" rtlCol="0">
            <a:spAutoFit/>
          </a:bodyPr>
          <a:lstStyle/>
          <a:p>
            <a:r>
              <a:rPr lang="en-US" dirty="0"/>
              <a:t>Price-to-Income Ratio =</a:t>
            </a:r>
          </a:p>
        </p:txBody>
      </p:sp>
      <p:sp>
        <p:nvSpPr>
          <p:cNvPr id="11" name="TextBox 10">
            <a:extLst>
              <a:ext uri="{FF2B5EF4-FFF2-40B4-BE49-F238E27FC236}">
                <a16:creationId xmlns:a16="http://schemas.microsoft.com/office/drawing/2014/main" id="{B14B5E4F-FAE5-273D-4212-BDC05E0394AC}"/>
              </a:ext>
            </a:extLst>
          </p:cNvPr>
          <p:cNvSpPr txBox="1"/>
          <p:nvPr/>
        </p:nvSpPr>
        <p:spPr>
          <a:xfrm>
            <a:off x="9048715" y="2375847"/>
            <a:ext cx="2624668" cy="369332"/>
          </a:xfrm>
          <a:prstGeom prst="rect">
            <a:avLst/>
          </a:prstGeom>
          <a:noFill/>
        </p:spPr>
        <p:txBody>
          <a:bodyPr wrap="square" rtlCol="0">
            <a:spAutoFit/>
          </a:bodyPr>
          <a:lstStyle/>
          <a:p>
            <a:r>
              <a:rPr lang="en-US" dirty="0"/>
              <a:t>Median Home Sale Price</a:t>
            </a:r>
          </a:p>
        </p:txBody>
      </p:sp>
      <p:sp>
        <p:nvSpPr>
          <p:cNvPr id="12" name="TextBox 11">
            <a:extLst>
              <a:ext uri="{FF2B5EF4-FFF2-40B4-BE49-F238E27FC236}">
                <a16:creationId xmlns:a16="http://schemas.microsoft.com/office/drawing/2014/main" id="{106330F7-4175-F54E-5BFC-7E5FDF1409EC}"/>
              </a:ext>
            </a:extLst>
          </p:cNvPr>
          <p:cNvSpPr txBox="1"/>
          <p:nvPr/>
        </p:nvSpPr>
        <p:spPr>
          <a:xfrm>
            <a:off x="8933156" y="2786171"/>
            <a:ext cx="2929734" cy="369332"/>
          </a:xfrm>
          <a:prstGeom prst="rect">
            <a:avLst/>
          </a:prstGeom>
          <a:noFill/>
        </p:spPr>
        <p:txBody>
          <a:bodyPr wrap="square" rtlCol="0">
            <a:spAutoFit/>
          </a:bodyPr>
          <a:lstStyle/>
          <a:p>
            <a:r>
              <a:rPr lang="en-US" dirty="0"/>
              <a:t>Median Household Income</a:t>
            </a:r>
          </a:p>
        </p:txBody>
      </p:sp>
      <p:cxnSp>
        <p:nvCxnSpPr>
          <p:cNvPr id="14" name="Straight Connector 13">
            <a:extLst>
              <a:ext uri="{FF2B5EF4-FFF2-40B4-BE49-F238E27FC236}">
                <a16:creationId xmlns:a16="http://schemas.microsoft.com/office/drawing/2014/main" id="{8B58EA03-6D38-5D8F-C94A-F215E27DE5F9}"/>
              </a:ext>
            </a:extLst>
          </p:cNvPr>
          <p:cNvCxnSpPr>
            <a:cxnSpLocks/>
          </p:cNvCxnSpPr>
          <p:nvPr/>
        </p:nvCxnSpPr>
        <p:spPr>
          <a:xfrm>
            <a:off x="9048715" y="2786171"/>
            <a:ext cx="2474249" cy="0"/>
          </a:xfrm>
          <a:prstGeom prst="line">
            <a:avLst/>
          </a:prstGeom>
        </p:spPr>
        <p:style>
          <a:lnRef idx="2">
            <a:schemeClr val="dk1"/>
          </a:lnRef>
          <a:fillRef idx="0">
            <a:schemeClr val="dk1"/>
          </a:fillRef>
          <a:effectRef idx="1">
            <a:schemeClr val="dk1"/>
          </a:effectRef>
          <a:fontRef idx="minor">
            <a:schemeClr val="tx1"/>
          </a:fontRef>
        </p:style>
      </p:cxnSp>
      <p:pic>
        <p:nvPicPr>
          <p:cNvPr id="4" name="Picture 3" descr="A graph showing the growth of income&#10;&#10;AI-generated content may be incorrect.">
            <a:extLst>
              <a:ext uri="{FF2B5EF4-FFF2-40B4-BE49-F238E27FC236}">
                <a16:creationId xmlns:a16="http://schemas.microsoft.com/office/drawing/2014/main" id="{81C2F2B9-F46E-BEFD-D723-DB00C6B711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2341" y="2209450"/>
            <a:ext cx="5800660" cy="3781199"/>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
        <p:nvSpPr>
          <p:cNvPr id="5" name="TextBox 4">
            <a:extLst>
              <a:ext uri="{FF2B5EF4-FFF2-40B4-BE49-F238E27FC236}">
                <a16:creationId xmlns:a16="http://schemas.microsoft.com/office/drawing/2014/main" id="{02DDFBE0-D271-E4EC-47A5-AABCE4FE7865}"/>
              </a:ext>
            </a:extLst>
          </p:cNvPr>
          <p:cNvSpPr txBox="1"/>
          <p:nvPr/>
        </p:nvSpPr>
        <p:spPr>
          <a:xfrm>
            <a:off x="70339" y="6569125"/>
            <a:ext cx="4873450" cy="215444"/>
          </a:xfrm>
          <a:prstGeom prst="rect">
            <a:avLst/>
          </a:prstGeom>
          <a:noFill/>
        </p:spPr>
        <p:txBody>
          <a:bodyPr wrap="square" rtlCol="0">
            <a:spAutoFit/>
          </a:bodyPr>
          <a:lstStyle/>
          <a:p>
            <a:r>
              <a:rPr lang="en-US" sz="800" b="1" i="1" dirty="0"/>
              <a:t>Source:</a:t>
            </a:r>
            <a:r>
              <a:rPr lang="en-US" sz="800" i="1" dirty="0"/>
              <a:t> Redfin Housing Market Data; U.S. Census Bureau, American Community Survey (ACS)</a:t>
            </a:r>
          </a:p>
        </p:txBody>
      </p:sp>
    </p:spTree>
    <p:extLst>
      <p:ext uri="{BB962C8B-B14F-4D97-AF65-F5344CB8AC3E}">
        <p14:creationId xmlns:p14="http://schemas.microsoft.com/office/powerpoint/2010/main" val="2767592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F5E8FF1-0B7C-B260-49EB-B6D21E94B6FB}"/>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E7E7921F-E1EA-18E5-9334-1677A4D20D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F5C7DD5-93F4-87B9-7BE2-CF7C4DD653E2}"/>
              </a:ext>
            </a:extLst>
          </p:cNvPr>
          <p:cNvSpPr>
            <a:spLocks noGrp="1"/>
          </p:cNvSpPr>
          <p:nvPr>
            <p:ph type="title"/>
          </p:nvPr>
        </p:nvSpPr>
        <p:spPr>
          <a:xfrm>
            <a:off x="838200" y="365125"/>
            <a:ext cx="10515600" cy="1325563"/>
          </a:xfrm>
        </p:spPr>
        <p:txBody>
          <a:bodyPr>
            <a:normAutofit/>
          </a:bodyPr>
          <a:lstStyle/>
          <a:p>
            <a:r>
              <a:rPr lang="en-US" b="1" dirty="0"/>
              <a:t>Housing Supply Trends</a:t>
            </a:r>
          </a:p>
        </p:txBody>
      </p:sp>
      <p:sp>
        <p:nvSpPr>
          <p:cNvPr id="19" name="sketch line">
            <a:extLst>
              <a:ext uri="{FF2B5EF4-FFF2-40B4-BE49-F238E27FC236}">
                <a16:creationId xmlns:a16="http://schemas.microsoft.com/office/drawing/2014/main" id="{1D4651A1-DDB8-CDAF-EA48-546286D4DC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TextBox 7">
            <a:extLst>
              <a:ext uri="{FF2B5EF4-FFF2-40B4-BE49-F238E27FC236}">
                <a16:creationId xmlns:a16="http://schemas.microsoft.com/office/drawing/2014/main" id="{9D29D358-04B9-5357-361B-0994D1A9FA6E}"/>
              </a:ext>
            </a:extLst>
          </p:cNvPr>
          <p:cNvSpPr txBox="1"/>
          <p:nvPr/>
        </p:nvSpPr>
        <p:spPr>
          <a:xfrm>
            <a:off x="7425732" y="3075503"/>
            <a:ext cx="4258268" cy="2031325"/>
          </a:xfrm>
          <a:prstGeom prst="rect">
            <a:avLst/>
          </a:prstGeom>
          <a:noFill/>
        </p:spPr>
        <p:txBody>
          <a:bodyPr wrap="square" rtlCol="0">
            <a:spAutoFit/>
          </a:bodyPr>
          <a:lstStyle/>
          <a:p>
            <a:r>
              <a:rPr lang="en-US" dirty="0"/>
              <a:t>Housing supply tightened sharply in 2021 as inventory fell and demand remained strong. Even as inventory partially recovered after 2021, higher prices and rising mortgage rates reduced sales activity, contributing to continued price pressure and affordability challenges.</a:t>
            </a:r>
          </a:p>
        </p:txBody>
      </p:sp>
      <p:pic>
        <p:nvPicPr>
          <p:cNvPr id="4" name="Picture 3" descr="A graph of a number of houses and a number of numbers&#10;&#10;AI-generated content may be incorrect.">
            <a:extLst>
              <a:ext uri="{FF2B5EF4-FFF2-40B4-BE49-F238E27FC236}">
                <a16:creationId xmlns:a16="http://schemas.microsoft.com/office/drawing/2014/main" id="{16790ABE-1FE4-4DDF-939D-A6D93D939B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8000" y="2048277"/>
            <a:ext cx="6324879" cy="4424891"/>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
        <p:nvSpPr>
          <p:cNvPr id="5" name="TextBox 4">
            <a:extLst>
              <a:ext uri="{FF2B5EF4-FFF2-40B4-BE49-F238E27FC236}">
                <a16:creationId xmlns:a16="http://schemas.microsoft.com/office/drawing/2014/main" id="{47234CCC-923A-7AC6-E216-680BA1BD92B6}"/>
              </a:ext>
            </a:extLst>
          </p:cNvPr>
          <p:cNvSpPr txBox="1"/>
          <p:nvPr/>
        </p:nvSpPr>
        <p:spPr>
          <a:xfrm>
            <a:off x="70339" y="6569125"/>
            <a:ext cx="4873450" cy="215444"/>
          </a:xfrm>
          <a:prstGeom prst="rect">
            <a:avLst/>
          </a:prstGeom>
          <a:noFill/>
        </p:spPr>
        <p:txBody>
          <a:bodyPr wrap="square" rtlCol="0">
            <a:spAutoFit/>
          </a:bodyPr>
          <a:lstStyle/>
          <a:p>
            <a:r>
              <a:rPr lang="en-US" sz="800" b="1" i="1" dirty="0"/>
              <a:t>Source:</a:t>
            </a:r>
            <a:r>
              <a:rPr lang="en-US" sz="800" i="1" dirty="0"/>
              <a:t> Redfin Housing Market Data; U.S. Census Bureau, American Community Survey (ACS)</a:t>
            </a:r>
          </a:p>
        </p:txBody>
      </p:sp>
    </p:spTree>
    <p:extLst>
      <p:ext uri="{BB962C8B-B14F-4D97-AF65-F5344CB8AC3E}">
        <p14:creationId xmlns:p14="http://schemas.microsoft.com/office/powerpoint/2010/main" val="22671944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0F607B-AF95-8825-CD41-507AFF4CE37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DF1FAD6C-F451-7E57-E4AE-A50CE06C83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1F9CD1A-A750-7D78-ECE6-CEB7E83AE85A}"/>
              </a:ext>
            </a:extLst>
          </p:cNvPr>
          <p:cNvSpPr>
            <a:spLocks noGrp="1"/>
          </p:cNvSpPr>
          <p:nvPr>
            <p:ph type="title"/>
          </p:nvPr>
        </p:nvSpPr>
        <p:spPr>
          <a:xfrm>
            <a:off x="838200" y="365125"/>
            <a:ext cx="10515600" cy="1325563"/>
          </a:xfrm>
        </p:spPr>
        <p:txBody>
          <a:bodyPr>
            <a:normAutofit/>
          </a:bodyPr>
          <a:lstStyle/>
          <a:p>
            <a:r>
              <a:rPr lang="en-US" sz="3600" b="1" dirty="0"/>
              <a:t>Rising Mortgage Rates Increased Borrowing Costs</a:t>
            </a:r>
          </a:p>
        </p:txBody>
      </p:sp>
      <p:sp>
        <p:nvSpPr>
          <p:cNvPr id="19" name="sketch line">
            <a:extLst>
              <a:ext uri="{FF2B5EF4-FFF2-40B4-BE49-F238E27FC236}">
                <a16:creationId xmlns:a16="http://schemas.microsoft.com/office/drawing/2014/main" id="{43906963-7694-25CF-7143-F379841788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44BA4203-4B1F-29D4-9B45-1F495A7BBED2}"/>
              </a:ext>
            </a:extLst>
          </p:cNvPr>
          <p:cNvSpPr txBox="1"/>
          <p:nvPr/>
        </p:nvSpPr>
        <p:spPr>
          <a:xfrm>
            <a:off x="7449038" y="3278182"/>
            <a:ext cx="4224866" cy="1200329"/>
          </a:xfrm>
          <a:prstGeom prst="rect">
            <a:avLst/>
          </a:prstGeom>
          <a:noFill/>
        </p:spPr>
        <p:txBody>
          <a:bodyPr wrap="square" rtlCol="0">
            <a:spAutoFit/>
          </a:bodyPr>
          <a:lstStyle/>
          <a:p>
            <a:r>
              <a:rPr lang="en-US" dirty="0"/>
              <a:t>Mortgage interest rates remained historically low in 2020–2021, but rose sharply beginning in 2022, increasing the cost of financing a home purchase.</a:t>
            </a:r>
          </a:p>
        </p:txBody>
      </p:sp>
      <p:pic>
        <p:nvPicPr>
          <p:cNvPr id="6" name="Picture 5" descr="A graph showing a line going up&#10;&#10;AI-generated content may be incorrect.">
            <a:extLst>
              <a:ext uri="{FF2B5EF4-FFF2-40B4-BE49-F238E27FC236}">
                <a16:creationId xmlns:a16="http://schemas.microsoft.com/office/drawing/2014/main" id="{54612A8B-9643-974C-DCE9-2E7FD4A71A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9036" y="2207019"/>
            <a:ext cx="6264955" cy="3879272"/>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
        <p:nvSpPr>
          <p:cNvPr id="7" name="TextBox 6">
            <a:extLst>
              <a:ext uri="{FF2B5EF4-FFF2-40B4-BE49-F238E27FC236}">
                <a16:creationId xmlns:a16="http://schemas.microsoft.com/office/drawing/2014/main" id="{CD2A6343-3F32-E1BA-2F4E-58ECF4E926AE}"/>
              </a:ext>
            </a:extLst>
          </p:cNvPr>
          <p:cNvSpPr txBox="1"/>
          <p:nvPr/>
        </p:nvSpPr>
        <p:spPr>
          <a:xfrm>
            <a:off x="70339" y="6569125"/>
            <a:ext cx="4873450" cy="215444"/>
          </a:xfrm>
          <a:prstGeom prst="rect">
            <a:avLst/>
          </a:prstGeom>
          <a:noFill/>
        </p:spPr>
        <p:txBody>
          <a:bodyPr wrap="square" rtlCol="0">
            <a:spAutoFit/>
          </a:bodyPr>
          <a:lstStyle/>
          <a:p>
            <a:r>
              <a:rPr lang="en-US" sz="800" b="1" i="1" dirty="0"/>
              <a:t>Source:</a:t>
            </a:r>
            <a:r>
              <a:rPr lang="en-US" sz="800" i="1" dirty="0"/>
              <a:t> Redfin Housing Market Data; U.S. Census Bureau, American Community Survey (ACS)</a:t>
            </a:r>
          </a:p>
        </p:txBody>
      </p:sp>
    </p:spTree>
    <p:extLst>
      <p:ext uri="{BB962C8B-B14F-4D97-AF65-F5344CB8AC3E}">
        <p14:creationId xmlns:p14="http://schemas.microsoft.com/office/powerpoint/2010/main" val="3664452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DA99AC-C2E7-4667-DC96-8F2421398D8C}"/>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6D7046A-681E-9BE6-361F-2C6D58E713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3F3FCB4-8A99-77D8-DB09-84A061141F35}"/>
              </a:ext>
            </a:extLst>
          </p:cNvPr>
          <p:cNvSpPr>
            <a:spLocks noGrp="1"/>
          </p:cNvSpPr>
          <p:nvPr>
            <p:ph type="title"/>
          </p:nvPr>
        </p:nvSpPr>
        <p:spPr>
          <a:xfrm>
            <a:off x="838200" y="365125"/>
            <a:ext cx="11353800" cy="1325563"/>
          </a:xfrm>
        </p:spPr>
        <p:txBody>
          <a:bodyPr>
            <a:normAutofit/>
          </a:bodyPr>
          <a:lstStyle/>
          <a:p>
            <a:r>
              <a:rPr lang="en-US" sz="3200" b="1" dirty="0"/>
              <a:t>Higher Mortgage Rates Reduced Homeownership Affordability</a:t>
            </a:r>
          </a:p>
        </p:txBody>
      </p:sp>
      <p:sp>
        <p:nvSpPr>
          <p:cNvPr id="19" name="sketch line">
            <a:extLst>
              <a:ext uri="{FF2B5EF4-FFF2-40B4-BE49-F238E27FC236}">
                <a16:creationId xmlns:a16="http://schemas.microsoft.com/office/drawing/2014/main" id="{31D6C79A-ED1C-995F-7F10-D47BF78B50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7F57997F-3107-1310-A949-2FE70FD3D3B0}"/>
              </a:ext>
            </a:extLst>
          </p:cNvPr>
          <p:cNvSpPr txBox="1"/>
          <p:nvPr/>
        </p:nvSpPr>
        <p:spPr>
          <a:xfrm>
            <a:off x="7079318" y="3002936"/>
            <a:ext cx="4809067" cy="2308324"/>
          </a:xfrm>
          <a:prstGeom prst="rect">
            <a:avLst/>
          </a:prstGeom>
          <a:noFill/>
        </p:spPr>
        <p:txBody>
          <a:bodyPr wrap="square" rtlCol="0">
            <a:spAutoFit/>
          </a:bodyPr>
          <a:lstStyle/>
          <a:p>
            <a:r>
              <a:rPr lang="en-US" dirty="0"/>
              <a:t>As mortgage rates increased, the share of median household income required for mortgage payments rose sharply. By 2022, typical housing costs exceeded the 30% affordability threshold, pricing many median-income households out of affordable homeownership. Conditions worsened further in 2023.</a:t>
            </a:r>
          </a:p>
        </p:txBody>
      </p:sp>
      <p:pic>
        <p:nvPicPr>
          <p:cNvPr id="6" name="Picture 5" descr="A graph showing the growth of a mortgage payment&#10;&#10;AI-generated content may be incorrect.">
            <a:extLst>
              <a:ext uri="{FF2B5EF4-FFF2-40B4-BE49-F238E27FC236}">
                <a16:creationId xmlns:a16="http://schemas.microsoft.com/office/drawing/2014/main" id="{7C99DD9C-200C-6757-2144-D4A58CED24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1132" y="2184265"/>
            <a:ext cx="6177619" cy="3945666"/>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
        <p:nvSpPr>
          <p:cNvPr id="7" name="TextBox 6">
            <a:extLst>
              <a:ext uri="{FF2B5EF4-FFF2-40B4-BE49-F238E27FC236}">
                <a16:creationId xmlns:a16="http://schemas.microsoft.com/office/drawing/2014/main" id="{A004F379-19A0-C0B8-020A-433A7D73BA73}"/>
              </a:ext>
            </a:extLst>
          </p:cNvPr>
          <p:cNvSpPr txBox="1"/>
          <p:nvPr/>
        </p:nvSpPr>
        <p:spPr>
          <a:xfrm>
            <a:off x="70339" y="6569125"/>
            <a:ext cx="4873450" cy="215444"/>
          </a:xfrm>
          <a:prstGeom prst="rect">
            <a:avLst/>
          </a:prstGeom>
          <a:noFill/>
        </p:spPr>
        <p:txBody>
          <a:bodyPr wrap="square" rtlCol="0">
            <a:spAutoFit/>
          </a:bodyPr>
          <a:lstStyle/>
          <a:p>
            <a:r>
              <a:rPr lang="en-US" sz="800" b="1" i="1" dirty="0"/>
              <a:t>Source:</a:t>
            </a:r>
            <a:r>
              <a:rPr lang="en-US" sz="800" i="1" dirty="0"/>
              <a:t> Redfin Housing Market Data; U.S. Census Bureau, American Community Survey (ACS)</a:t>
            </a:r>
          </a:p>
        </p:txBody>
      </p:sp>
    </p:spTree>
    <p:extLst>
      <p:ext uri="{BB962C8B-B14F-4D97-AF65-F5344CB8AC3E}">
        <p14:creationId xmlns:p14="http://schemas.microsoft.com/office/powerpoint/2010/main" val="17693018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8C34E1-C983-D72E-F0DD-FA8F7A58E41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85BB166D-188A-9749-E129-4A9CF08B3D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D13892BC-B838-0EBB-9CE6-B92041741EEF}"/>
              </a:ext>
            </a:extLst>
          </p:cNvPr>
          <p:cNvSpPr>
            <a:spLocks noGrp="1"/>
          </p:cNvSpPr>
          <p:nvPr>
            <p:ph type="title"/>
          </p:nvPr>
        </p:nvSpPr>
        <p:spPr>
          <a:xfrm>
            <a:off x="838200" y="365125"/>
            <a:ext cx="10515600" cy="1325563"/>
          </a:xfrm>
        </p:spPr>
        <p:txBody>
          <a:bodyPr>
            <a:normAutofit/>
          </a:bodyPr>
          <a:lstStyle/>
          <a:p>
            <a:r>
              <a:rPr lang="en-US" sz="3200" b="1" dirty="0"/>
              <a:t>Affordability Pressures Varied Widely Across ZIP Codes</a:t>
            </a:r>
          </a:p>
        </p:txBody>
      </p:sp>
      <p:sp>
        <p:nvSpPr>
          <p:cNvPr id="19" name="sketch line">
            <a:extLst>
              <a:ext uri="{FF2B5EF4-FFF2-40B4-BE49-F238E27FC236}">
                <a16:creationId xmlns:a16="http://schemas.microsoft.com/office/drawing/2014/main" id="{E4A2A22C-7C26-0D10-5FAD-F56E81242C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 name="TextBox 4">
            <a:extLst>
              <a:ext uri="{FF2B5EF4-FFF2-40B4-BE49-F238E27FC236}">
                <a16:creationId xmlns:a16="http://schemas.microsoft.com/office/drawing/2014/main" id="{FD65859E-3885-553F-D101-4DA042CB4B7F}"/>
              </a:ext>
            </a:extLst>
          </p:cNvPr>
          <p:cNvSpPr txBox="1"/>
          <p:nvPr/>
        </p:nvSpPr>
        <p:spPr>
          <a:xfrm>
            <a:off x="7321317" y="2379566"/>
            <a:ext cx="4292600" cy="3416320"/>
          </a:xfrm>
          <a:prstGeom prst="rect">
            <a:avLst/>
          </a:prstGeom>
          <a:noFill/>
        </p:spPr>
        <p:txBody>
          <a:bodyPr wrap="square" rtlCol="0">
            <a:spAutoFit/>
          </a:bodyPr>
          <a:lstStyle/>
          <a:p>
            <a:r>
              <a:rPr lang="en-US" dirty="0"/>
              <a:t>Housing affordability changes were not evenly distributed across Metro Nashville. Between 2020 and 2023, several ZIP codes experienced significantly larger increases in price-to-income ratios, indicating more rapid affordability deterioration compared to other areas.</a:t>
            </a:r>
          </a:p>
          <a:p>
            <a:endParaRPr lang="en-US" dirty="0"/>
          </a:p>
          <a:p>
            <a:r>
              <a:rPr lang="en-US" dirty="0"/>
              <a:t>These disparities suggest that neighborhood-level market dynamics played an important role in shaping housing affordability outcomes.</a:t>
            </a:r>
          </a:p>
        </p:txBody>
      </p:sp>
      <p:pic>
        <p:nvPicPr>
          <p:cNvPr id="6" name="Picture 5" descr="A graph of blue rectangular bars&#10;&#10;AI-generated content may be incorrect.">
            <a:extLst>
              <a:ext uri="{FF2B5EF4-FFF2-40B4-BE49-F238E27FC236}">
                <a16:creationId xmlns:a16="http://schemas.microsoft.com/office/drawing/2014/main" id="{2504C8FC-6A5A-EEC5-4754-C9C6FE4A95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6110" y="2214778"/>
            <a:ext cx="6467446" cy="3960337"/>
          </a:xfrm>
          <a:prstGeom prst="rect">
            <a:avLst/>
          </a:prstGeom>
          <a:ln w="28575">
            <a:solidFill>
              <a:schemeClr val="bg2">
                <a:lumMod val="25000"/>
              </a:schemeClr>
            </a:solidFill>
          </a:ln>
          <a:effectLst>
            <a:outerShdw blurRad="63500" sx="102000" sy="102000" algn="ctr" rotWithShape="0">
              <a:prstClr val="black">
                <a:alpha val="40000"/>
              </a:prstClr>
            </a:outerShdw>
          </a:effectLst>
        </p:spPr>
      </p:pic>
      <p:sp>
        <p:nvSpPr>
          <p:cNvPr id="7" name="TextBox 6">
            <a:extLst>
              <a:ext uri="{FF2B5EF4-FFF2-40B4-BE49-F238E27FC236}">
                <a16:creationId xmlns:a16="http://schemas.microsoft.com/office/drawing/2014/main" id="{AAB38F1D-65AE-4A13-42AF-46651D5EDEFA}"/>
              </a:ext>
            </a:extLst>
          </p:cNvPr>
          <p:cNvSpPr txBox="1"/>
          <p:nvPr/>
        </p:nvSpPr>
        <p:spPr>
          <a:xfrm>
            <a:off x="70339" y="6569125"/>
            <a:ext cx="4873450" cy="215444"/>
          </a:xfrm>
          <a:prstGeom prst="rect">
            <a:avLst/>
          </a:prstGeom>
          <a:noFill/>
        </p:spPr>
        <p:txBody>
          <a:bodyPr wrap="square" rtlCol="0">
            <a:spAutoFit/>
          </a:bodyPr>
          <a:lstStyle/>
          <a:p>
            <a:r>
              <a:rPr lang="en-US" sz="800" b="1" i="1" dirty="0"/>
              <a:t>Source:</a:t>
            </a:r>
            <a:r>
              <a:rPr lang="en-US" sz="800" i="1" dirty="0"/>
              <a:t> Redfin Housing Market Data; U.S. Census Bureau, American Community Survey (ACS)</a:t>
            </a:r>
          </a:p>
        </p:txBody>
      </p:sp>
    </p:spTree>
    <p:extLst>
      <p:ext uri="{BB962C8B-B14F-4D97-AF65-F5344CB8AC3E}">
        <p14:creationId xmlns:p14="http://schemas.microsoft.com/office/powerpoint/2010/main" val="36846259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9FF664-8693-681C-36CA-9B24FCEE2D64}"/>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5F220A47-9D43-9A86-2309-7BF2E0F090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872236-0092-44E2-42F3-D0FFBC7801D7}"/>
              </a:ext>
            </a:extLst>
          </p:cNvPr>
          <p:cNvSpPr>
            <a:spLocks noGrp="1"/>
          </p:cNvSpPr>
          <p:nvPr>
            <p:ph type="title"/>
          </p:nvPr>
        </p:nvSpPr>
        <p:spPr>
          <a:xfrm>
            <a:off x="838200" y="365125"/>
            <a:ext cx="10515600" cy="1325563"/>
          </a:xfrm>
        </p:spPr>
        <p:txBody>
          <a:bodyPr>
            <a:normAutofit/>
          </a:bodyPr>
          <a:lstStyle/>
          <a:p>
            <a:r>
              <a:rPr lang="en-US" b="1" dirty="0"/>
              <a:t>Key Findings</a:t>
            </a:r>
          </a:p>
        </p:txBody>
      </p:sp>
      <p:sp>
        <p:nvSpPr>
          <p:cNvPr id="19" name="sketch line">
            <a:extLst>
              <a:ext uri="{FF2B5EF4-FFF2-40B4-BE49-F238E27FC236}">
                <a16:creationId xmlns:a16="http://schemas.microsoft.com/office/drawing/2014/main" id="{8D71E955-3FD8-418D-38DF-AC095F32EA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03664B-4843-8B17-5A4C-50D54A7CADC5}"/>
              </a:ext>
            </a:extLst>
          </p:cNvPr>
          <p:cNvSpPr txBox="1"/>
          <p:nvPr/>
        </p:nvSpPr>
        <p:spPr>
          <a:xfrm>
            <a:off x="838200" y="1895056"/>
            <a:ext cx="9745134" cy="4770537"/>
          </a:xfrm>
          <a:prstGeom prst="rect">
            <a:avLst/>
          </a:prstGeom>
          <a:noFill/>
        </p:spPr>
        <p:txBody>
          <a:bodyPr wrap="square" rtlCol="0">
            <a:spAutoFit/>
          </a:bodyPr>
          <a:lstStyle/>
          <a:p>
            <a:pPr marL="285750" indent="-285750">
              <a:buFont typeface="Arial" panose="020B0604020202020204" pitchFamily="34" charset="0"/>
              <a:buChar char="•"/>
            </a:pPr>
            <a:r>
              <a:rPr lang="en-US" sz="1600" dirty="0"/>
              <a:t>Home Prices Outpaced Income Growth</a:t>
            </a:r>
          </a:p>
          <a:p>
            <a:pPr marL="742950" lvl="1" indent="-285750">
              <a:buFont typeface="Arial" panose="020B0604020202020204" pitchFamily="34" charset="0"/>
              <a:buChar char="•"/>
            </a:pPr>
            <a:r>
              <a:rPr lang="en-US" sz="1600" dirty="0"/>
              <a:t>Median home sale prices in Metro Nashville rose </a:t>
            </a:r>
            <a:r>
              <a:rPr lang="en-US" sz="1600" b="1" dirty="0"/>
              <a:t>41% between 2020 and 2023</a:t>
            </a:r>
            <a:r>
              <a:rPr lang="en-US" sz="1600" dirty="0"/>
              <a:t>, while median household income increased by only </a:t>
            </a:r>
            <a:r>
              <a:rPr lang="en-US" sz="1600" b="1" dirty="0"/>
              <a:t>22%</a:t>
            </a:r>
            <a:r>
              <a:rPr lang="en-US" sz="1600" dirty="0"/>
              <a:t>.</a:t>
            </a:r>
          </a:p>
          <a:p>
            <a:pPr marL="742950" lvl="1" indent="-285750">
              <a:buFont typeface="Arial" panose="020B0604020202020204" pitchFamily="34" charset="0"/>
              <a:buChar char="•"/>
            </a:pPr>
            <a:r>
              <a:rPr lang="en-US" sz="1600" dirty="0"/>
              <a:t>This widening gap reduced affordability for median-income households.</a:t>
            </a:r>
          </a:p>
          <a:p>
            <a:pPr marL="285750" indent="-285750">
              <a:buFont typeface="Arial" panose="020B0604020202020204" pitchFamily="34" charset="0"/>
              <a:buChar char="•"/>
            </a:pPr>
            <a:r>
              <a:rPr lang="en-US" sz="1600" dirty="0"/>
              <a:t>Affordability Declined Despite Income Gains</a:t>
            </a:r>
          </a:p>
          <a:p>
            <a:pPr marL="742950" lvl="1" indent="-285750">
              <a:buFont typeface="Arial" panose="020B0604020202020204" pitchFamily="34" charset="0"/>
              <a:buChar char="•"/>
            </a:pPr>
            <a:r>
              <a:rPr lang="en-US" sz="1600" dirty="0"/>
              <a:t>The price-to-income ratio increased from </a:t>
            </a:r>
            <a:r>
              <a:rPr lang="en-US" sz="1600" b="1" dirty="0"/>
              <a:t>4.7% in 2020 to a peak of 5.8% in 2022</a:t>
            </a:r>
            <a:r>
              <a:rPr lang="en-US" sz="1600" dirty="0"/>
              <a:t>, remaining elevated in 2023.</a:t>
            </a:r>
          </a:p>
          <a:p>
            <a:pPr marL="742950" lvl="1" indent="-285750">
              <a:buFont typeface="Arial" panose="020B0604020202020204" pitchFamily="34" charset="0"/>
              <a:buChar char="•"/>
            </a:pPr>
            <a:r>
              <a:rPr lang="en-US" sz="1600" dirty="0"/>
              <a:t>Higher home prices required households to devote a larger share of income to housing.</a:t>
            </a:r>
          </a:p>
          <a:p>
            <a:pPr marL="285750" indent="-285750">
              <a:buFont typeface="Arial" panose="020B0604020202020204" pitchFamily="34" charset="0"/>
              <a:buChar char="•"/>
            </a:pPr>
            <a:r>
              <a:rPr lang="en-US" sz="1600" dirty="0"/>
              <a:t>Rising Mortgage Rates Drove Affordability Losses</a:t>
            </a:r>
          </a:p>
          <a:p>
            <a:pPr marL="742950" lvl="1" indent="-285750">
              <a:buFont typeface="Arial" panose="020B0604020202020204" pitchFamily="34" charset="0"/>
              <a:buChar char="•"/>
            </a:pPr>
            <a:r>
              <a:rPr lang="en-US" sz="1600" dirty="0"/>
              <a:t>30-year fixed mortgage rates rose sharply after 2021, exceeding </a:t>
            </a:r>
            <a:r>
              <a:rPr lang="en-US" sz="1600" b="1" dirty="0"/>
              <a:t>6% by 2023</a:t>
            </a:r>
            <a:r>
              <a:rPr lang="en-US" sz="1600" dirty="0"/>
              <a:t>.</a:t>
            </a:r>
          </a:p>
          <a:p>
            <a:pPr marL="742950" lvl="1" indent="-285750">
              <a:buFont typeface="Arial" panose="020B0604020202020204" pitchFamily="34" charset="0"/>
              <a:buChar char="•"/>
            </a:pPr>
            <a:r>
              <a:rPr lang="en-US" sz="1600" dirty="0"/>
              <a:t>Mortgage payments increased from </a:t>
            </a:r>
            <a:r>
              <a:rPr lang="en-US" sz="1600" b="1" dirty="0"/>
              <a:t>19% to over 34% of median income</a:t>
            </a:r>
            <a:r>
              <a:rPr lang="en-US" sz="1600" dirty="0"/>
              <a:t>, surpassing standard affordability thresholds.</a:t>
            </a:r>
          </a:p>
          <a:p>
            <a:pPr marL="285750" indent="-285750">
              <a:buFont typeface="Arial" panose="020B0604020202020204" pitchFamily="34" charset="0"/>
              <a:buChar char="•"/>
            </a:pPr>
            <a:r>
              <a:rPr lang="en-US" sz="1600" dirty="0"/>
              <a:t>Housing Supply Remained Constrained</a:t>
            </a:r>
          </a:p>
          <a:p>
            <a:pPr marL="742950" lvl="1" indent="-285750">
              <a:buFont typeface="Arial" panose="020B0604020202020204" pitchFamily="34" charset="0"/>
              <a:buChar char="•"/>
            </a:pPr>
            <a:r>
              <a:rPr lang="en-US" sz="1600" dirty="0"/>
              <a:t>Inventory fell sharply in 2021 and only partially recovered by 2023.</a:t>
            </a:r>
          </a:p>
          <a:p>
            <a:pPr marL="742950" lvl="1" indent="-285750">
              <a:buFont typeface="Arial" panose="020B0604020202020204" pitchFamily="34" charset="0"/>
              <a:buChar char="•"/>
            </a:pPr>
            <a:r>
              <a:rPr lang="en-US" sz="1600" dirty="0"/>
              <a:t>As affordability worsened, home sales declined even as prices remained high.</a:t>
            </a:r>
          </a:p>
          <a:p>
            <a:pPr marL="285750" indent="-285750">
              <a:buFont typeface="Arial" panose="020B0604020202020204" pitchFamily="34" charset="0"/>
              <a:buChar char="•"/>
            </a:pPr>
            <a:r>
              <a:rPr lang="en-US" sz="1600" dirty="0"/>
              <a:t>Affordability Impacts Varied by ZIP Code</a:t>
            </a:r>
          </a:p>
          <a:p>
            <a:pPr marL="742950" lvl="1" indent="-285750">
              <a:buFont typeface="Arial" panose="020B0604020202020204" pitchFamily="34" charset="0"/>
              <a:buChar char="•"/>
            </a:pPr>
            <a:r>
              <a:rPr lang="en-US" sz="1600" dirty="0"/>
              <a:t>Changes in affordability were </a:t>
            </a:r>
            <a:r>
              <a:rPr lang="en-US" sz="1600" b="1" dirty="0"/>
              <a:t>not evenly distributed</a:t>
            </a:r>
            <a:r>
              <a:rPr lang="en-US" sz="1600" dirty="0"/>
              <a:t> across Metro Nashville.</a:t>
            </a:r>
          </a:p>
          <a:p>
            <a:pPr marL="742950" lvl="1" indent="-285750">
              <a:buFont typeface="Arial" panose="020B0604020202020204" pitchFamily="34" charset="0"/>
              <a:buChar char="•"/>
            </a:pPr>
            <a:r>
              <a:rPr lang="en-US" sz="1600" dirty="0"/>
              <a:t>Several ZIP codes experienced </a:t>
            </a:r>
            <a:r>
              <a:rPr lang="en-US" sz="1600" b="1" dirty="0"/>
              <a:t>substantially larger increases</a:t>
            </a:r>
            <a:r>
              <a:rPr lang="en-US" sz="1600" dirty="0"/>
              <a:t> in affordability pressure than the metro average.</a:t>
            </a:r>
          </a:p>
        </p:txBody>
      </p:sp>
    </p:spTree>
    <p:extLst>
      <p:ext uri="{BB962C8B-B14F-4D97-AF65-F5344CB8AC3E}">
        <p14:creationId xmlns:p14="http://schemas.microsoft.com/office/powerpoint/2010/main" val="20711000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3B1B37-3CEC-4929-8B05-514A33B4645D}"/>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7627AB5-121B-2E44-2C36-5DCB8D5647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21E8CED-2FC4-4AB1-9316-5EC71D806FF8}"/>
              </a:ext>
            </a:extLst>
          </p:cNvPr>
          <p:cNvSpPr>
            <a:spLocks noGrp="1"/>
          </p:cNvSpPr>
          <p:nvPr>
            <p:ph type="title"/>
          </p:nvPr>
        </p:nvSpPr>
        <p:spPr>
          <a:xfrm>
            <a:off x="838200" y="365125"/>
            <a:ext cx="10515600" cy="1325563"/>
          </a:xfrm>
        </p:spPr>
        <p:txBody>
          <a:bodyPr>
            <a:normAutofit/>
          </a:bodyPr>
          <a:lstStyle/>
          <a:p>
            <a:r>
              <a:rPr lang="en-US" b="1" dirty="0"/>
              <a:t>Limitations &amp; Next Steps</a:t>
            </a:r>
          </a:p>
        </p:txBody>
      </p:sp>
      <p:sp>
        <p:nvSpPr>
          <p:cNvPr id="19" name="sketch line">
            <a:extLst>
              <a:ext uri="{FF2B5EF4-FFF2-40B4-BE49-F238E27FC236}">
                <a16:creationId xmlns:a16="http://schemas.microsoft.com/office/drawing/2014/main" id="{09A60E60-03C5-2C94-4D54-2B5D03595A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TextBox 3">
            <a:extLst>
              <a:ext uri="{FF2B5EF4-FFF2-40B4-BE49-F238E27FC236}">
                <a16:creationId xmlns:a16="http://schemas.microsoft.com/office/drawing/2014/main" id="{85D7D54C-61CE-1353-4D47-22F7C28900B4}"/>
              </a:ext>
            </a:extLst>
          </p:cNvPr>
          <p:cNvSpPr txBox="1"/>
          <p:nvPr/>
        </p:nvSpPr>
        <p:spPr>
          <a:xfrm>
            <a:off x="1007533" y="2240532"/>
            <a:ext cx="9677400" cy="2031325"/>
          </a:xfrm>
          <a:prstGeom prst="rect">
            <a:avLst/>
          </a:prstGeom>
          <a:noFill/>
        </p:spPr>
        <p:txBody>
          <a:bodyPr wrap="square" rtlCol="0">
            <a:spAutoFit/>
          </a:bodyPr>
          <a:lstStyle/>
          <a:p>
            <a:pPr marL="285750" indent="-285750">
              <a:buFont typeface="Arial" panose="020B0604020202020204" pitchFamily="34" charset="0"/>
              <a:buChar char="•"/>
            </a:pPr>
            <a:r>
              <a:rPr lang="en-US" dirty="0"/>
              <a:t>Metro Nashville ZIP code boundaries vary across data sources, creating challenges in defining a consistent study area.</a:t>
            </a:r>
          </a:p>
          <a:p>
            <a:endParaRPr lang="en-US" dirty="0"/>
          </a:p>
          <a:p>
            <a:pPr marL="285750" indent="-285750">
              <a:buFont typeface="Arial" panose="020B0604020202020204" pitchFamily="34" charset="0"/>
              <a:buChar char="•"/>
            </a:pPr>
            <a:r>
              <a:rPr lang="en-US" dirty="0"/>
              <a:t>ZIP code level income data limited the analysis to 2020–2023.</a:t>
            </a:r>
          </a:p>
          <a:p>
            <a:endParaRPr lang="en-US" dirty="0"/>
          </a:p>
          <a:p>
            <a:pPr marL="285750" indent="-285750">
              <a:buFont typeface="Arial" panose="020B0604020202020204" pitchFamily="34" charset="0"/>
              <a:buChar char="•"/>
            </a:pPr>
            <a:r>
              <a:rPr lang="en-US" dirty="0"/>
              <a:t>Future research could extend this work over a longer time horizon and explore alternative geographic units to deepen insight into long-term affordability trends.</a:t>
            </a:r>
          </a:p>
        </p:txBody>
      </p:sp>
    </p:spTree>
    <p:extLst>
      <p:ext uri="{BB962C8B-B14F-4D97-AF65-F5344CB8AC3E}">
        <p14:creationId xmlns:p14="http://schemas.microsoft.com/office/powerpoint/2010/main" val="33144494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527D56-13EA-15F6-0EE8-075557F14B39}"/>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964E8F23-9096-BB07-59E2-A56E2F657A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B0E19932-3748-B970-1992-0517CEAD921D}"/>
              </a:ext>
            </a:extLst>
          </p:cNvPr>
          <p:cNvSpPr>
            <a:spLocks noGrp="1"/>
          </p:cNvSpPr>
          <p:nvPr>
            <p:ph type="title"/>
          </p:nvPr>
        </p:nvSpPr>
        <p:spPr>
          <a:xfrm>
            <a:off x="838200" y="365125"/>
            <a:ext cx="10515600" cy="1325563"/>
          </a:xfrm>
        </p:spPr>
        <p:txBody>
          <a:bodyPr>
            <a:normAutofit/>
          </a:bodyPr>
          <a:lstStyle/>
          <a:p>
            <a:r>
              <a:rPr lang="en-US" b="1" dirty="0"/>
              <a:t>Conclusion</a:t>
            </a:r>
          </a:p>
        </p:txBody>
      </p:sp>
      <p:sp>
        <p:nvSpPr>
          <p:cNvPr id="19" name="sketch line">
            <a:extLst>
              <a:ext uri="{FF2B5EF4-FFF2-40B4-BE49-F238E27FC236}">
                <a16:creationId xmlns:a16="http://schemas.microsoft.com/office/drawing/2014/main" id="{8CE5727C-00C0-1F08-580E-DB361AA87B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8A614149-FDAB-936D-306E-4186EFF4198E}"/>
              </a:ext>
            </a:extLst>
          </p:cNvPr>
          <p:cNvSpPr txBox="1"/>
          <p:nvPr/>
        </p:nvSpPr>
        <p:spPr>
          <a:xfrm>
            <a:off x="1176866" y="2323962"/>
            <a:ext cx="9237133" cy="1754326"/>
          </a:xfrm>
          <a:prstGeom prst="rect">
            <a:avLst/>
          </a:prstGeom>
          <a:noFill/>
        </p:spPr>
        <p:txBody>
          <a:bodyPr wrap="square" rtlCol="0">
            <a:spAutoFit/>
          </a:bodyPr>
          <a:lstStyle/>
          <a:p>
            <a:r>
              <a:rPr lang="en-US" dirty="0"/>
              <a:t>Between 2020 and 2023, rising home prices, higher mortgage rates, and constrained housing supply combined to significantly reduce homeownership affordability for median-income households in Metro Nashville, with uneven impacts across ZIP codes</a:t>
            </a:r>
          </a:p>
          <a:p>
            <a:endParaRPr lang="en-US" dirty="0"/>
          </a:p>
          <a:p>
            <a:r>
              <a:rPr lang="en-US" dirty="0"/>
              <a:t>Together, these findings highlight how multiple market forces not prices alone shaped worsening housing affordability in Metro Nashville.</a:t>
            </a:r>
          </a:p>
        </p:txBody>
      </p:sp>
    </p:spTree>
    <p:extLst>
      <p:ext uri="{BB962C8B-B14F-4D97-AF65-F5344CB8AC3E}">
        <p14:creationId xmlns:p14="http://schemas.microsoft.com/office/powerpoint/2010/main" val="34342645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7943</TotalTime>
  <Words>1389</Words>
  <Application>Microsoft Office PowerPoint</Application>
  <PresentationFormat>Widescreen</PresentationFormat>
  <Paragraphs>119</Paragraphs>
  <Slides>14</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Aptos Display</vt:lpstr>
      <vt:lpstr>Arial</vt:lpstr>
      <vt:lpstr>Calibri</vt:lpstr>
      <vt:lpstr>Office Theme</vt:lpstr>
      <vt:lpstr>Housing Affordability in Metro Nashville During a Period of Market Disruption (2020–2023)</vt:lpstr>
      <vt:lpstr>Purpose of this Analysis</vt:lpstr>
      <vt:lpstr>Research Questions</vt:lpstr>
      <vt:lpstr>About the data</vt:lpstr>
      <vt:lpstr>Metro Nashville Housing Market Snapshot</vt:lpstr>
      <vt:lpstr>Sale Price vs Income in Metro Nashville</vt:lpstr>
      <vt:lpstr>The Price-to-Income Gap in Metro Nashville</vt:lpstr>
      <vt:lpstr>Housing Supply Trends</vt:lpstr>
      <vt:lpstr>Rising Mortgage Rates Increased Borrowing Costs</vt:lpstr>
      <vt:lpstr>Higher Mortgage Rates Reduced Homeownership Affordability</vt:lpstr>
      <vt:lpstr>Affordability Pressures Varied Widely Across ZIP Codes</vt:lpstr>
      <vt:lpstr>Key Findings</vt:lpstr>
      <vt:lpstr>Limitations &amp; Next Steps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Luke Gaffney</dc:creator>
  <cp:lastModifiedBy>Luke Gaffney</cp:lastModifiedBy>
  <cp:revision>5</cp:revision>
  <dcterms:created xsi:type="dcterms:W3CDTF">2025-12-12T20:32:27Z</dcterms:created>
  <dcterms:modified xsi:type="dcterms:W3CDTF">2025-12-19T21:03:00Z</dcterms:modified>
</cp:coreProperties>
</file>