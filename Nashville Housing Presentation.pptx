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93" r:id="rId4"/>
    <p:sldId id="278" r:id="rId5"/>
    <p:sldId id="277" r:id="rId6"/>
    <p:sldId id="280" r:id="rId7"/>
    <p:sldId id="282" r:id="rId8"/>
    <p:sldId id="283" r:id="rId9"/>
    <p:sldId id="284" r:id="rId10"/>
    <p:sldId id="290" r:id="rId11"/>
    <p:sldId id="288" r:id="rId12"/>
    <p:sldId id="287" r:id="rId13"/>
    <p:sldId id="286" r:id="rId14"/>
    <p:sldId id="285" r:id="rId15"/>
    <p:sldId id="29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AF7"/>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243" dt="2026-01-06T20:06:04.01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04" autoAdjust="0"/>
    <p:restoredTop sz="78365" autoAdjust="0"/>
  </p:normalViewPr>
  <p:slideViewPr>
    <p:cSldViewPr snapToGrid="0">
      <p:cViewPr varScale="1">
        <p:scale>
          <a:sx n="116" d="100"/>
          <a:sy n="116" d="100"/>
        </p:scale>
        <p:origin x="4152"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pc:chgData name="Luke Gaffney" userId="6fa697cc8cd57f76" providerId="LiveId" clId="{528BD4CA-A453-43AA-8F73-3E975C3B2CFE}" dt="2026-01-06T20:10:07.087" v="5098" actId="20577"/>
      <pc:docMkLst>
        <pc:docMk/>
      </pc:docMkLst>
      <pc:sldChg chg="modSp mod setBg modNotesTx">
        <pc:chgData name="Luke Gaffney" userId="6fa697cc8cd57f76" providerId="LiveId" clId="{528BD4CA-A453-43AA-8F73-3E975C3B2CFE}" dt="2026-01-06T19:48:34.033" v="4662" actId="20577"/>
        <pc:sldMkLst>
          <pc:docMk/>
          <pc:sldMk cId="101415907" sldId="256"/>
        </pc:sldMkLst>
        <pc:spChg chg="mod">
          <ac:chgData name="Luke Gaffney" userId="6fa697cc8cd57f76" providerId="LiveId" clId="{528BD4CA-A453-43AA-8F73-3E975C3B2CFE}" dt="2025-12-23T17:53:16.697" v="2171" actId="1076"/>
          <ac:spMkLst>
            <pc:docMk/>
            <pc:sldMk cId="101415907" sldId="256"/>
            <ac:spMk id="2" creationId="{D5871A2F-1D02-6452-5157-8CB541F3456A}"/>
          </ac:spMkLst>
        </pc:spChg>
      </pc:sldChg>
      <pc:sldChg chg="modSp add del mod modNotesTx">
        <pc:chgData name="Luke Gaffney" userId="6fa697cc8cd57f76" providerId="LiveId" clId="{528BD4CA-A453-43AA-8F73-3E975C3B2CFE}" dt="2026-01-05T17:21:29.098" v="3626" actId="113"/>
        <pc:sldMkLst>
          <pc:docMk/>
          <pc:sldMk cId="3484887589" sldId="257"/>
        </pc:sldMkLst>
        <pc:spChg chg="mod">
          <ac:chgData name="Luke Gaffney" userId="6fa697cc8cd57f76" providerId="LiveId" clId="{528BD4CA-A453-43AA-8F73-3E975C3B2CFE}" dt="2025-12-23T20:43:56.433" v="2843" actId="20577"/>
          <ac:spMkLst>
            <pc:docMk/>
            <pc:sldMk cId="3484887589" sldId="257"/>
            <ac:spMk id="2" creationId="{DE9FC05C-E79A-F5B5-327B-29607701820D}"/>
          </ac:spMkLst>
        </pc:spChg>
        <pc:spChg chg="mod">
          <ac:chgData name="Luke Gaffney" userId="6fa697cc8cd57f76" providerId="LiveId" clId="{528BD4CA-A453-43AA-8F73-3E975C3B2CFE}" dt="2025-12-23T20:43:36.892" v="2840"/>
          <ac:spMkLst>
            <pc:docMk/>
            <pc:sldMk cId="3484887589" sldId="257"/>
            <ac:spMk id="4" creationId="{35E1C994-818C-0ACC-C41E-5E01DA946D82}"/>
          </ac:spMkLst>
        </pc:spChg>
      </pc:sldChg>
      <pc:sldChg chg="addSp delSp modSp mod setBg modNotesTx">
        <pc:chgData name="Luke Gaffney" userId="6fa697cc8cd57f76" providerId="LiveId" clId="{528BD4CA-A453-43AA-8F73-3E975C3B2CFE}" dt="2026-01-06T19:48:09.014" v="4634" actId="313"/>
        <pc:sldMkLst>
          <pc:docMk/>
          <pc:sldMk cId="542633763" sldId="277"/>
        </pc:sldMkLst>
        <pc:spChg chg="mod">
          <ac:chgData name="Luke Gaffney" userId="6fa697cc8cd57f76" providerId="LiveId" clId="{528BD4CA-A453-43AA-8F73-3E975C3B2CFE}" dt="2025-12-18T20:12:38.193" v="974" actId="113"/>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22T13:29:00.713" v="1938" actId="113"/>
          <ac:spMkLst>
            <pc:docMk/>
            <pc:sldMk cId="542633763" sldId="277"/>
            <ac:spMk id="5" creationId="{7188F6DC-749C-0E58-9C52-708EB0881C1C}"/>
          </ac:spMkLst>
        </pc:spChg>
        <pc:spChg chg="add mod">
          <ac:chgData name="Luke Gaffney" userId="6fa697cc8cd57f76" providerId="LiveId" clId="{528BD4CA-A453-43AA-8F73-3E975C3B2CFE}" dt="2026-01-05T15:08:10.594" v="3187" actId="207"/>
          <ac:spMkLst>
            <pc:docMk/>
            <pc:sldMk cId="542633763" sldId="277"/>
            <ac:spMk id="6" creationId="{E9D36018-8142-2EDD-EF2A-A6BBC8C171D8}"/>
          </ac:spMkLst>
        </pc:spChg>
        <pc:spChg chg="add mod">
          <ac:chgData name="Luke Gaffney" userId="6fa697cc8cd57f76" providerId="LiveId" clId="{528BD4CA-A453-43AA-8F73-3E975C3B2CFE}" dt="2025-12-22T13:29:05.562" v="1939" actId="113"/>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22T13:30:08.878" v="1944" actId="114"/>
          <ac:spMkLst>
            <pc:docMk/>
            <pc:sldMk cId="542633763" sldId="277"/>
            <ac:spMk id="9" creationId="{3C7FBA32-85DE-EFE7-0D4A-994A972D3294}"/>
          </ac:spMkLst>
        </pc:spChg>
        <pc:spChg chg="mod">
          <ac:chgData name="Luke Gaffney" userId="6fa697cc8cd57f76" providerId="LiveId" clId="{528BD4CA-A453-43AA-8F73-3E975C3B2CFE}" dt="2026-01-05T15:38:02.084" v="3262" actId="1582"/>
          <ac:spMkLst>
            <pc:docMk/>
            <pc:sldMk cId="542633763" sldId="277"/>
            <ac:spMk id="50" creationId="{7B064B8D-B47F-4375-2B50-CF6CF3893C03}"/>
          </ac:spMkLst>
        </pc:spChg>
        <pc:spChg chg="mod">
          <ac:chgData name="Luke Gaffney" userId="6fa697cc8cd57f76" providerId="LiveId" clId="{528BD4CA-A453-43AA-8F73-3E975C3B2CFE}" dt="2026-01-05T15:38:27.580" v="3267" actId="1582"/>
          <ac:spMkLst>
            <pc:docMk/>
            <pc:sldMk cId="542633763" sldId="277"/>
            <ac:spMk id="53" creationId="{A0F0684F-4197-6064-55B4-98EB35BEC608}"/>
          </ac:spMkLst>
        </pc:spChg>
        <pc:spChg chg="mod">
          <ac:chgData name="Luke Gaffney" userId="6fa697cc8cd57f76" providerId="LiveId" clId="{528BD4CA-A453-43AA-8F73-3E975C3B2CFE}" dt="2026-01-05T15:38:07.324" v="3263" actId="1582"/>
          <ac:spMkLst>
            <pc:docMk/>
            <pc:sldMk cId="542633763" sldId="277"/>
            <ac:spMk id="54" creationId="{1EDDE1D7-883C-62FF-3687-9FBB1577874D}"/>
          </ac:spMkLst>
        </pc:spChg>
        <pc:spChg chg="mod">
          <ac:chgData name="Luke Gaffney" userId="6fa697cc8cd57f76" providerId="LiveId" clId="{528BD4CA-A453-43AA-8F73-3E975C3B2CFE}" dt="2026-01-05T15:38:38.742" v="3269" actId="1582"/>
          <ac:spMkLst>
            <pc:docMk/>
            <pc:sldMk cId="542633763" sldId="277"/>
            <ac:spMk id="55" creationId="{F9704708-6D90-46C9-1CAE-40013BD95D43}"/>
          </ac:spMkLst>
        </pc:spChg>
        <pc:spChg chg="mod">
          <ac:chgData name="Luke Gaffney" userId="6fa697cc8cd57f76" providerId="LiveId" clId="{528BD4CA-A453-43AA-8F73-3E975C3B2CFE}" dt="2026-01-05T15:38:17.174" v="3265" actId="1582"/>
          <ac:spMkLst>
            <pc:docMk/>
            <pc:sldMk cId="542633763" sldId="277"/>
            <ac:spMk id="56" creationId="{F92D9006-4F0B-4761-2C1A-A8C48A31A008}"/>
          </ac:spMkLst>
        </pc:spChg>
        <pc:spChg chg="mod">
          <ac:chgData name="Luke Gaffney" userId="6fa697cc8cd57f76" providerId="LiveId" clId="{528BD4CA-A453-43AA-8F73-3E975C3B2CFE}" dt="2026-01-05T15:38:21.822" v="3266" actId="1582"/>
          <ac:spMkLst>
            <pc:docMk/>
            <pc:sldMk cId="542633763" sldId="277"/>
            <ac:spMk id="57" creationId="{32D69E2D-ACD2-E3BF-DC2D-FE6E5D6DFB26}"/>
          </ac:spMkLst>
        </pc:spChg>
        <pc:spChg chg="mod">
          <ac:chgData name="Luke Gaffney" userId="6fa697cc8cd57f76" providerId="LiveId" clId="{528BD4CA-A453-43AA-8F73-3E975C3B2CFE}" dt="2026-01-05T15:38:32.873" v="3268" actId="1582"/>
          <ac:spMkLst>
            <pc:docMk/>
            <pc:sldMk cId="542633763" sldId="277"/>
            <ac:spMk id="58" creationId="{A2B05C51-F692-ADF1-1A14-326A496A24C3}"/>
          </ac:spMkLst>
        </pc:spChg>
        <pc:spChg chg="mod">
          <ac:chgData name="Luke Gaffney" userId="6fa697cc8cd57f76" providerId="LiveId" clId="{528BD4CA-A453-43AA-8F73-3E975C3B2CFE}" dt="2026-01-05T15:38:12.642" v="3264" actId="1582"/>
          <ac:spMkLst>
            <pc:docMk/>
            <pc:sldMk cId="542633763" sldId="277"/>
            <ac:spMk id="60" creationId="{9BFF97D0-ED64-E128-C274-C00499EFFAE4}"/>
          </ac:spMkLst>
        </pc:spChg>
        <pc:spChg chg="mod">
          <ac:chgData name="Luke Gaffney" userId="6fa697cc8cd57f76" providerId="LiveId" clId="{528BD4CA-A453-43AA-8F73-3E975C3B2CFE}" dt="2025-12-20T01:38:31.975" v="1738" actId="20577"/>
          <ac:spMkLst>
            <pc:docMk/>
            <pc:sldMk cId="542633763" sldId="277"/>
            <ac:spMk id="62" creationId="{EC08A544-DE54-C799-B423-36CDCF2C5E78}"/>
          </ac:spMkLst>
        </pc:spChg>
        <pc:spChg chg="mod">
          <ac:chgData name="Luke Gaffney" userId="6fa697cc8cd57f76" providerId="LiveId" clId="{528BD4CA-A453-43AA-8F73-3E975C3B2CFE}" dt="2025-12-20T01:38:38.957" v="1750" actId="20577"/>
          <ac:spMkLst>
            <pc:docMk/>
            <pc:sldMk cId="542633763" sldId="277"/>
            <ac:spMk id="63" creationId="{5CDB8C99-1CCB-5587-C46B-2A5DF5A29899}"/>
          </ac:spMkLst>
        </pc:spChg>
        <pc:spChg chg="mod">
          <ac:chgData name="Luke Gaffney" userId="6fa697cc8cd57f76" providerId="LiveId" clId="{528BD4CA-A453-43AA-8F73-3E975C3B2CFE}" dt="2025-12-20T13:40:53.595" v="1826" actId="20577"/>
          <ac:spMkLst>
            <pc:docMk/>
            <pc:sldMk cId="542633763" sldId="277"/>
            <ac:spMk id="65" creationId="{40D337F7-9BCF-4A96-AD0F-AE467E9DF863}"/>
          </ac:spMkLst>
        </pc:spChg>
        <pc:spChg chg="mod">
          <ac:chgData name="Luke Gaffney" userId="6fa697cc8cd57f76" providerId="LiveId" clId="{528BD4CA-A453-43AA-8F73-3E975C3B2CFE}" dt="2025-12-22T13:28:19.515" v="1920" actId="20577"/>
          <ac:spMkLst>
            <pc:docMk/>
            <pc:sldMk cId="542633763" sldId="277"/>
            <ac:spMk id="67" creationId="{CD7201A7-9E3A-067E-7422-34FDC06F2DFB}"/>
          </ac:spMkLst>
        </pc:spChg>
      </pc:sldChg>
      <pc:sldChg chg="addSp delSp modSp mod setBg modNotesTx">
        <pc:chgData name="Luke Gaffney" userId="6fa697cc8cd57f76" providerId="LiveId" clId="{528BD4CA-A453-43AA-8F73-3E975C3B2CFE}" dt="2026-01-06T19:46:42.398" v="4512" actId="313"/>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add mod">
          <ac:chgData name="Luke Gaffney" userId="6fa697cc8cd57f76" providerId="LiveId" clId="{528BD4CA-A453-43AA-8F73-3E975C3B2CFE}" dt="2025-12-23T20:27:11.049" v="2835" actId="20577"/>
          <ac:spMkLst>
            <pc:docMk/>
            <pc:sldMk cId="835599444" sldId="278"/>
            <ac:spMk id="61" creationId="{BFD046D5-C800-2F5C-68F0-9AD62A89727F}"/>
          </ac:spMkLst>
        </pc:spChg>
      </pc:sldChg>
      <pc:sldChg chg="addSp delSp modSp mod setBg modNotesTx">
        <pc:chgData name="Luke Gaffney" userId="6fa697cc8cd57f76" providerId="LiveId" clId="{528BD4CA-A453-43AA-8F73-3E975C3B2CFE}" dt="2026-01-06T19:54:06.831" v="4792" actId="20577"/>
        <pc:sldMkLst>
          <pc:docMk/>
          <pc:sldMk cId="1987554360" sldId="280"/>
        </pc:sldMkLst>
        <pc:spChg chg="mod">
          <ac:chgData name="Luke Gaffney" userId="6fa697cc8cd57f76" providerId="LiveId" clId="{528BD4CA-A453-43AA-8F73-3E975C3B2CFE}" dt="2025-12-18T20:11:57.458" v="968" actId="255"/>
          <ac:spMkLst>
            <pc:docMk/>
            <pc:sldMk cId="1987554360" sldId="280"/>
            <ac:spMk id="2" creationId="{29061BB3-7E15-2851-2DDF-7643C2B84269}"/>
          </ac:spMkLst>
        </pc:spChg>
        <pc:spChg chg="add mod">
          <ac:chgData name="Luke Gaffney" userId="6fa697cc8cd57f76" providerId="LiveId" clId="{528BD4CA-A453-43AA-8F73-3E975C3B2CFE}" dt="2025-12-22T13:30:24.369" v="1953"/>
          <ac:spMkLst>
            <pc:docMk/>
            <pc:sldMk cId="1987554360" sldId="280"/>
            <ac:spMk id="7" creationId="{F8680954-FCF1-9813-090F-D0E3B62B1BC5}"/>
          </ac:spMkLst>
        </pc:spChg>
        <pc:spChg chg="add mod">
          <ac:chgData name="Luke Gaffney" userId="6fa697cc8cd57f76" providerId="LiveId" clId="{528BD4CA-A453-43AA-8F73-3E975C3B2CFE}" dt="2025-12-22T13:34:51.592" v="1973" actId="1076"/>
          <ac:spMkLst>
            <pc:docMk/>
            <pc:sldMk cId="1987554360" sldId="280"/>
            <ac:spMk id="21" creationId="{600A8C6F-BFC4-607E-3627-E251A8A378A6}"/>
          </ac:spMkLst>
        </pc:spChg>
        <pc:picChg chg="add mod">
          <ac:chgData name="Luke Gaffney" userId="6fa697cc8cd57f76" providerId="LiveId" clId="{528BD4CA-A453-43AA-8F73-3E975C3B2CFE}" dt="2026-01-05T15:29:48.021" v="3204" actId="1076"/>
          <ac:picMkLst>
            <pc:docMk/>
            <pc:sldMk cId="1987554360" sldId="280"/>
            <ac:picMk id="4" creationId="{052B4196-3BE3-0CE2-9267-4AB6AD95E0C0}"/>
          </ac:picMkLst>
        </pc:picChg>
        <pc:picChg chg="add del mod">
          <ac:chgData name="Luke Gaffney" userId="6fa697cc8cd57f76" providerId="LiveId" clId="{528BD4CA-A453-43AA-8F73-3E975C3B2CFE}" dt="2026-01-05T15:28:46.279" v="3191" actId="478"/>
          <ac:picMkLst>
            <pc:docMk/>
            <pc:sldMk cId="1987554360" sldId="280"/>
            <ac:picMk id="9" creationId="{6FF178BC-FBD3-AB90-954C-F71B135174E3}"/>
          </ac:picMkLst>
        </pc:picChg>
      </pc:sldChg>
      <pc:sldChg chg="addSp delSp modSp mod setBg modNotesTx">
        <pc:chgData name="Luke Gaffney" userId="6fa697cc8cd57f76" providerId="LiveId" clId="{528BD4CA-A453-43AA-8F73-3E975C3B2CFE}" dt="2026-01-06T19:59:50.787" v="4855" actId="33524"/>
        <pc:sldMkLst>
          <pc:docMk/>
          <pc:sldMk cId="2767592310" sldId="282"/>
        </pc:sldMkLst>
        <pc:spChg chg="mod">
          <ac:chgData name="Luke Gaffney" userId="6fa697cc8cd57f76" providerId="LiveId" clId="{528BD4CA-A453-43AA-8F73-3E975C3B2CFE}" dt="2025-12-18T19:31:11.300" v="682" actId="255"/>
          <ac:spMkLst>
            <pc:docMk/>
            <pc:sldMk cId="2767592310" sldId="282"/>
            <ac:spMk id="2" creationId="{9CD3A3AA-476B-A498-4856-A7F18AA6D853}"/>
          </ac:spMkLst>
        </pc:spChg>
        <pc:spChg chg="add mod">
          <ac:chgData name="Luke Gaffney" userId="6fa697cc8cd57f76" providerId="LiveId" clId="{528BD4CA-A453-43AA-8F73-3E975C3B2CFE}" dt="2025-12-22T13:30:51.083" v="1961"/>
          <ac:spMkLst>
            <pc:docMk/>
            <pc:sldMk cId="2767592310" sldId="282"/>
            <ac:spMk id="5" creationId="{02DDFBE0-D271-E4EC-47A5-AABCE4FE7865}"/>
          </ac:spMkLst>
        </pc:spChg>
        <pc:spChg chg="mod">
          <ac:chgData name="Luke Gaffney" userId="6fa697cc8cd57f76" providerId="LiveId" clId="{528BD4CA-A453-43AA-8F73-3E975C3B2CFE}" dt="2025-12-23T20:21:23.712" v="2828" actId="1076"/>
          <ac:spMkLst>
            <pc:docMk/>
            <pc:sldMk cId="2767592310" sldId="282"/>
            <ac:spMk id="6" creationId="{7C17B134-C5BC-C626-F537-43616E13A7E1}"/>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6-01-05T15:35:35.521" v="3224" actId="1076"/>
          <ac:picMkLst>
            <pc:docMk/>
            <pc:sldMk cId="2767592310" sldId="282"/>
            <ac:picMk id="4" creationId="{19AD51AE-DF4F-6B5B-A05A-423474F3BDF8}"/>
          </ac:picMkLst>
        </pc:picChg>
        <pc:picChg chg="add del mod">
          <ac:chgData name="Luke Gaffney" userId="6fa697cc8cd57f76" providerId="LiveId" clId="{528BD4CA-A453-43AA-8F73-3E975C3B2CFE}" dt="2026-01-05T15:34:23.913" v="3205" actId="478"/>
          <ac:picMkLst>
            <pc:docMk/>
            <pc:sldMk cId="2767592310" sldId="282"/>
            <ac:picMk id="9" creationId="{5C497C67-C0A9-CB4E-1F9E-3062ED8BA593}"/>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setBg modNotesTx">
        <pc:chgData name="Luke Gaffney" userId="6fa697cc8cd57f76" providerId="LiveId" clId="{528BD4CA-A453-43AA-8F73-3E975C3B2CFE}" dt="2026-01-06T20:02:57.871" v="4935" actId="20577"/>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add mod">
          <ac:chgData name="Luke Gaffney" userId="6fa697cc8cd57f76" providerId="LiveId" clId="{528BD4CA-A453-43AA-8F73-3E975C3B2CFE}" dt="2025-12-22T13:30:40.917" v="1959"/>
          <ac:spMkLst>
            <pc:docMk/>
            <pc:sldMk cId="2267194495" sldId="283"/>
            <ac:spMk id="5" creationId="{47234CCC-923A-7AC6-E216-680BA1BD92B6}"/>
          </ac:spMkLst>
        </pc:spChg>
        <pc:spChg chg="add mod">
          <ac:chgData name="Luke Gaffney" userId="6fa697cc8cd57f76" providerId="LiveId" clId="{528BD4CA-A453-43AA-8F73-3E975C3B2CFE}" dt="2025-12-23T19:20:30.645" v="2317" actId="20577"/>
          <ac:spMkLst>
            <pc:docMk/>
            <pc:sldMk cId="2267194495" sldId="283"/>
            <ac:spMk id="8" creationId="{9D29D358-04B9-5357-361B-0994D1A9FA6E}"/>
          </ac:spMkLst>
        </pc:spChg>
        <pc:picChg chg="add mod">
          <ac:chgData name="Luke Gaffney" userId="6fa697cc8cd57f76" providerId="LiveId" clId="{528BD4CA-A453-43AA-8F73-3E975C3B2CFE}" dt="2026-01-05T15:36:05.521" v="3233" actId="1076"/>
          <ac:picMkLst>
            <pc:docMk/>
            <pc:sldMk cId="2267194495" sldId="283"/>
            <ac:picMk id="4" creationId="{7E3D6DB2-8495-5ABC-2FAB-2F1449DB5C6C}"/>
          </ac:picMkLst>
        </pc:picChg>
        <pc:picChg chg="add del mod">
          <ac:chgData name="Luke Gaffney" userId="6fa697cc8cd57f76" providerId="LiveId" clId="{528BD4CA-A453-43AA-8F73-3E975C3B2CFE}" dt="2026-01-05T15:34:30.753" v="3207" actId="478"/>
          <ac:picMkLst>
            <pc:docMk/>
            <pc:sldMk cId="2267194495" sldId="283"/>
            <ac:picMk id="9" creationId="{447BF319-110E-8C7E-255E-0BF26EF164F3}"/>
          </ac:picMkLst>
        </pc:picChg>
      </pc:sldChg>
      <pc:sldChg chg="addSp delSp modSp mod setBg modNotesTx">
        <pc:chgData name="Luke Gaffney" userId="6fa697cc8cd57f76" providerId="LiveId" clId="{528BD4CA-A453-43AA-8F73-3E975C3B2CFE}" dt="2026-01-06T20:06:07.700" v="4979" actId="113"/>
        <pc:sldMkLst>
          <pc:docMk/>
          <pc:sldMk cId="3664452497" sldId="284"/>
        </pc:sldMkLst>
        <pc:spChg chg="mod">
          <ac:chgData name="Luke Gaffney" userId="6fa697cc8cd57f76" providerId="LiveId" clId="{528BD4CA-A453-43AA-8F73-3E975C3B2CFE}" dt="2025-12-23T16:26:52.788" v="2164" actId="255"/>
          <ac:spMkLst>
            <pc:docMk/>
            <pc:sldMk cId="3664452497" sldId="284"/>
            <ac:spMk id="2" creationId="{51F9CD1A-A750-7D78-ECE6-CEB7E83AE85A}"/>
          </ac:spMkLst>
        </pc:spChg>
        <pc:spChg chg="add mod">
          <ac:chgData name="Luke Gaffney" userId="6fa697cc8cd57f76" providerId="LiveId" clId="{528BD4CA-A453-43AA-8F73-3E975C3B2CFE}" dt="2026-01-06T20:04:09.635" v="4939" actId="20577"/>
          <ac:spMkLst>
            <pc:docMk/>
            <pc:sldMk cId="3664452497" sldId="284"/>
            <ac:spMk id="5" creationId="{44BA4203-4B1F-29D4-9B45-1F495A7BBED2}"/>
          </ac:spMkLst>
        </pc:spChg>
        <pc:spChg chg="add mod">
          <ac:chgData name="Luke Gaffney" userId="6fa697cc8cd57f76" providerId="LiveId" clId="{528BD4CA-A453-43AA-8F73-3E975C3B2CFE}" dt="2025-12-22T13:31:09.968" v="1964"/>
          <ac:spMkLst>
            <pc:docMk/>
            <pc:sldMk cId="3664452497" sldId="284"/>
            <ac:spMk id="7" creationId="{CD2A6343-3F32-E1BA-2F4E-58ECF4E926AE}"/>
          </ac:spMkLst>
        </pc:spChg>
        <pc:picChg chg="add mod">
          <ac:chgData name="Luke Gaffney" userId="6fa697cc8cd57f76" providerId="LiveId" clId="{528BD4CA-A453-43AA-8F73-3E975C3B2CFE}" dt="2026-01-05T15:36:36.189" v="3242" actId="14100"/>
          <ac:picMkLst>
            <pc:docMk/>
            <pc:sldMk cId="3664452497" sldId="284"/>
            <ac:picMk id="4" creationId="{F198F5E3-645C-D31C-F4C1-30BCE2265AB2}"/>
          </ac:picMkLst>
        </pc:picChg>
        <pc:picChg chg="add del mod">
          <ac:chgData name="Luke Gaffney" userId="6fa697cc8cd57f76" providerId="LiveId" clId="{528BD4CA-A453-43AA-8F73-3E975C3B2CFE}" dt="2026-01-05T15:34:36.273" v="3209" actId="478"/>
          <ac:picMkLst>
            <pc:docMk/>
            <pc:sldMk cId="3664452497" sldId="284"/>
            <ac:picMk id="9" creationId="{720FA8DA-5597-C22F-4496-52547033AAB2}"/>
          </ac:picMkLst>
        </pc:picChg>
      </pc:sldChg>
      <pc:sldChg chg="addSp modSp mod setBg modNotesTx">
        <pc:chgData name="Luke Gaffney" userId="6fa697cc8cd57f76" providerId="LiveId" clId="{528BD4CA-A453-43AA-8F73-3E975C3B2CFE}" dt="2026-01-05T17:32:38.415" v="3856" actId="113"/>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5-12-23T19:27:10.170" v="2352" actId="20577"/>
          <ac:spMkLst>
            <pc:docMk/>
            <pc:sldMk cId="3434264560" sldId="285"/>
            <ac:spMk id="3" creationId="{8A614149-FDAB-936D-306E-4186EFF4198E}"/>
          </ac:spMkLst>
        </pc:spChg>
      </pc:sldChg>
      <pc:sldChg chg="addSp modSp mod setBg modNotesTx">
        <pc:chgData name="Luke Gaffney" userId="6fa697cc8cd57f76" providerId="LiveId" clId="{528BD4CA-A453-43AA-8F73-3E975C3B2CFE}" dt="2026-01-06T14:49:53.968" v="4214"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9T17:00:16.004" v="1632" actId="20577"/>
          <ac:spMkLst>
            <pc:docMk/>
            <pc:sldMk cId="3314449408" sldId="286"/>
            <ac:spMk id="4" creationId="{85D7D54C-61CE-1353-4D47-22F7C28900B4}"/>
          </ac:spMkLst>
        </pc:spChg>
      </pc:sldChg>
      <pc:sldChg chg="addSp delSp modSp mod setBg modNotesTx">
        <pc:chgData name="Luke Gaffney" userId="6fa697cc8cd57f76" providerId="LiveId" clId="{528BD4CA-A453-43AA-8F73-3E975C3B2CFE}" dt="2026-01-05T17:32:23.229" v="3851" actId="113"/>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mod">
          <ac:chgData name="Luke Gaffney" userId="6fa697cc8cd57f76" providerId="LiveId" clId="{528BD4CA-A453-43AA-8F73-3E975C3B2CFE}" dt="2025-12-23T19:25:37.908" v="2348" actId="20577"/>
          <ac:spMkLst>
            <pc:docMk/>
            <pc:sldMk cId="2071100020" sldId="287"/>
            <ac:spMk id="6" creationId="{B003664B-4843-8B17-5A4C-50D54A7CADC5}"/>
          </ac:spMkLst>
        </pc:spChg>
      </pc:sldChg>
      <pc:sldChg chg="addSp delSp modSp mod setBg modNotesTx">
        <pc:chgData name="Luke Gaffney" userId="6fa697cc8cd57f76" providerId="LiveId" clId="{528BD4CA-A453-43AA-8F73-3E975C3B2CFE}" dt="2026-01-06T20:10:07.087" v="5098" actId="20577"/>
        <pc:sldMkLst>
          <pc:docMk/>
          <pc:sldMk cId="3684625901" sldId="288"/>
        </pc:sldMkLst>
        <pc:spChg chg="mod">
          <ac:chgData name="Luke Gaffney" userId="6fa697cc8cd57f76" providerId="LiveId" clId="{528BD4CA-A453-43AA-8F73-3E975C3B2CFE}" dt="2026-01-05T16:37:38.938" v="3324" actId="255"/>
          <ac:spMkLst>
            <pc:docMk/>
            <pc:sldMk cId="3684625901" sldId="288"/>
            <ac:spMk id="2" creationId="{D13892BC-B838-0EBB-9CE6-B92041741EEF}"/>
          </ac:spMkLst>
        </pc:spChg>
        <pc:spChg chg="add mod">
          <ac:chgData name="Luke Gaffney" userId="6fa697cc8cd57f76" providerId="LiveId" clId="{528BD4CA-A453-43AA-8F73-3E975C3B2CFE}" dt="2026-01-05T19:16:18.881" v="3857" actId="20577"/>
          <ac:spMkLst>
            <pc:docMk/>
            <pc:sldMk cId="3684625901" sldId="288"/>
            <ac:spMk id="5" creationId="{FD65859E-3885-553F-D101-4DA042CB4B7F}"/>
          </ac:spMkLst>
        </pc:spChg>
        <pc:spChg chg="add mod">
          <ac:chgData name="Luke Gaffney" userId="6fa697cc8cd57f76" providerId="LiveId" clId="{528BD4CA-A453-43AA-8F73-3E975C3B2CFE}" dt="2025-12-22T13:31:24.977" v="1969"/>
          <ac:spMkLst>
            <pc:docMk/>
            <pc:sldMk cId="3684625901" sldId="288"/>
            <ac:spMk id="7" creationId="{AAB38F1D-65AE-4A13-42AF-46651D5EDEFA}"/>
          </ac:spMkLst>
        </pc:spChg>
        <pc:picChg chg="add del mod">
          <ac:chgData name="Luke Gaffney" userId="6fa697cc8cd57f76" providerId="LiveId" clId="{528BD4CA-A453-43AA-8F73-3E975C3B2CFE}" dt="2026-01-05T16:24:16.701" v="3287" actId="478"/>
          <ac:picMkLst>
            <pc:docMk/>
            <pc:sldMk cId="3684625901" sldId="288"/>
            <ac:picMk id="4" creationId="{DEA8426B-6AFD-DAC6-3A98-20174E492F13}"/>
          </ac:picMkLst>
        </pc:picChg>
        <pc:picChg chg="add del mod">
          <ac:chgData name="Luke Gaffney" userId="6fa697cc8cd57f76" providerId="LiveId" clId="{528BD4CA-A453-43AA-8F73-3E975C3B2CFE}" dt="2026-01-05T16:31:01.524" v="3296" actId="478"/>
          <ac:picMkLst>
            <pc:docMk/>
            <pc:sldMk cId="3684625901" sldId="288"/>
            <ac:picMk id="6" creationId="{2A7CCC6D-FDAA-EC9E-4C9F-79697854186A}"/>
          </ac:picMkLst>
        </pc:picChg>
        <pc:picChg chg="add del mod">
          <ac:chgData name="Luke Gaffney" userId="6fa697cc8cd57f76" providerId="LiveId" clId="{528BD4CA-A453-43AA-8F73-3E975C3B2CFE}" dt="2026-01-05T15:34:50.479" v="3213" actId="478"/>
          <ac:picMkLst>
            <pc:docMk/>
            <pc:sldMk cId="3684625901" sldId="288"/>
            <ac:picMk id="9" creationId="{8A92313F-2E06-5EDA-827C-5B06A85D5645}"/>
          </ac:picMkLst>
        </pc:picChg>
        <pc:picChg chg="add mod">
          <ac:chgData name="Luke Gaffney" userId="6fa697cc8cd57f76" providerId="LiveId" clId="{528BD4CA-A453-43AA-8F73-3E975C3B2CFE}" dt="2026-01-05T16:35:04.922" v="3317" actId="14100"/>
          <ac:picMkLst>
            <pc:docMk/>
            <pc:sldMk cId="3684625901" sldId="288"/>
            <ac:picMk id="10" creationId="{A692C29B-25EE-7B86-E930-B1F4C2FEA138}"/>
          </ac:picMkLst>
        </pc:picChg>
      </pc:sldChg>
      <pc:sldChg chg="addSp delSp modSp add mod setBg modNotesTx">
        <pc:chgData name="Luke Gaffney" userId="6fa697cc8cd57f76" providerId="LiveId" clId="{528BD4CA-A453-43AA-8F73-3E975C3B2CFE}" dt="2026-01-06T20:09:15.803" v="5076" actId="20577"/>
        <pc:sldMkLst>
          <pc:docMk/>
          <pc:sldMk cId="1769301805" sldId="290"/>
        </pc:sldMkLst>
        <pc:spChg chg="mod">
          <ac:chgData name="Luke Gaffney" userId="6fa697cc8cd57f76" providerId="LiveId" clId="{528BD4CA-A453-43AA-8F73-3E975C3B2CFE}" dt="2025-12-18T21:00:19.571" v="1152" actId="255"/>
          <ac:spMkLst>
            <pc:docMk/>
            <pc:sldMk cId="1769301805" sldId="290"/>
            <ac:spMk id="2" creationId="{F3F3FCB4-8A99-77D8-DB09-84A061141F35}"/>
          </ac:spMkLst>
        </pc:spChg>
        <pc:spChg chg="add mod">
          <ac:chgData name="Luke Gaffney" userId="6fa697cc8cd57f76" providerId="LiveId" clId="{528BD4CA-A453-43AA-8F73-3E975C3B2CFE}" dt="2025-12-23T19:21:55.272" v="2341" actId="20577"/>
          <ac:spMkLst>
            <pc:docMk/>
            <pc:sldMk cId="1769301805" sldId="290"/>
            <ac:spMk id="3" creationId="{7F57997F-3107-1310-A949-2FE70FD3D3B0}"/>
          </ac:spMkLst>
        </pc:spChg>
        <pc:spChg chg="add mod">
          <ac:chgData name="Luke Gaffney" userId="6fa697cc8cd57f76" providerId="LiveId" clId="{528BD4CA-A453-43AA-8F73-3E975C3B2CFE}" dt="2025-12-22T13:31:20.165" v="1967"/>
          <ac:spMkLst>
            <pc:docMk/>
            <pc:sldMk cId="1769301805" sldId="290"/>
            <ac:spMk id="7" creationId="{A004F379-19A0-C0B8-020A-433A7D73BA73}"/>
          </ac:spMkLst>
        </pc:spChg>
        <pc:picChg chg="add mod">
          <ac:chgData name="Luke Gaffney" userId="6fa697cc8cd57f76" providerId="LiveId" clId="{528BD4CA-A453-43AA-8F73-3E975C3B2CFE}" dt="2026-01-05T15:37:04.089" v="3252" actId="1076"/>
          <ac:picMkLst>
            <pc:docMk/>
            <pc:sldMk cId="1769301805" sldId="290"/>
            <ac:picMk id="5" creationId="{0910D6F0-3995-51D4-955A-BD9C74CF6157}"/>
          </ac:picMkLst>
        </pc:picChg>
        <pc:picChg chg="add del mod">
          <ac:chgData name="Luke Gaffney" userId="6fa697cc8cd57f76" providerId="LiveId" clId="{528BD4CA-A453-43AA-8F73-3E975C3B2CFE}" dt="2026-01-05T15:34:43.279" v="3211" actId="478"/>
          <ac:picMkLst>
            <pc:docMk/>
            <pc:sldMk cId="1769301805" sldId="290"/>
            <ac:picMk id="9" creationId="{8F6C37E4-8365-E571-734E-2F260AAEE8F6}"/>
          </ac:picMkLst>
        </pc:picChg>
      </pc:sldChg>
      <pc:sldChg chg="modSp add mod setBg modNotesTx">
        <pc:chgData name="Luke Gaffney" userId="6fa697cc8cd57f76" providerId="LiveId" clId="{528BD4CA-A453-43AA-8F73-3E975C3B2CFE}" dt="2025-12-23T21:19:30.448" v="2858"/>
        <pc:sldMkLst>
          <pc:docMk/>
          <pc:sldMk cId="2960301856" sldId="291"/>
        </pc:sldMkLst>
        <pc:spChg chg="mod">
          <ac:chgData name="Luke Gaffney" userId="6fa697cc8cd57f76" providerId="LiveId" clId="{528BD4CA-A453-43AA-8F73-3E975C3B2CFE}" dt="2025-12-22T15:15:36.138" v="2084" actId="20577"/>
          <ac:spMkLst>
            <pc:docMk/>
            <pc:sldMk cId="2960301856" sldId="291"/>
            <ac:spMk id="2" creationId="{2822C743-1514-89D4-2DAD-3E9F08CB440F}"/>
          </ac:spMkLst>
        </pc:spChg>
        <pc:spChg chg="mod">
          <ac:chgData name="Luke Gaffney" userId="6fa697cc8cd57f76" providerId="LiveId" clId="{528BD4CA-A453-43AA-8F73-3E975C3B2CFE}" dt="2025-12-22T15:15:58.873" v="2104" actId="1076"/>
          <ac:spMkLst>
            <pc:docMk/>
            <pc:sldMk cId="2960301856" sldId="291"/>
            <ac:spMk id="3" creationId="{717DC6DB-FFF7-A177-A3E3-A53D84FD998F}"/>
          </ac:spMkLst>
        </pc:spChg>
      </pc:sldChg>
      <pc:sldChg chg="modSp add mod setBg modNotesTx">
        <pc:chgData name="Luke Gaffney" userId="6fa697cc8cd57f76" providerId="LiveId" clId="{528BD4CA-A453-43AA-8F73-3E975C3B2CFE}" dt="2026-01-06T19:40:19.247" v="4380" actId="20577"/>
        <pc:sldMkLst>
          <pc:docMk/>
          <pc:sldMk cId="3315056854" sldId="293"/>
        </pc:sldMkLst>
        <pc:spChg chg="mod">
          <ac:chgData name="Luke Gaffney" userId="6fa697cc8cd57f76" providerId="LiveId" clId="{528BD4CA-A453-43AA-8F73-3E975C3B2CFE}" dt="2025-12-23T16:24:33.612" v="2152"/>
          <ac:spMkLst>
            <pc:docMk/>
            <pc:sldMk cId="3315056854" sldId="293"/>
            <ac:spMk id="2" creationId="{CEEC8808-9AEF-CD15-EBA7-1CA3413867B0}"/>
          </ac:spMkLst>
        </pc:spChg>
        <pc:spChg chg="mod">
          <ac:chgData name="Luke Gaffney" userId="6fa697cc8cd57f76" providerId="LiveId" clId="{528BD4CA-A453-43AA-8F73-3E975C3B2CFE}" dt="2025-12-23T20:21:03.529" v="2826" actId="1076"/>
          <ac:spMkLst>
            <pc:docMk/>
            <pc:sldMk cId="3315056854" sldId="293"/>
            <ac:spMk id="61" creationId="{A581FB95-F069-BC84-88AE-577884E5A698}"/>
          </ac:spMkLst>
        </pc:spChg>
      </pc:sldChg>
      <pc:sldChg chg="addSp delSp modSp add del mod">
        <pc:chgData name="Luke Gaffney" userId="6fa697cc8cd57f76" providerId="LiveId" clId="{528BD4CA-A453-43AA-8F73-3E975C3B2CFE}" dt="2026-01-05T16:24:50.167" v="3295" actId="2696"/>
        <pc:sldMkLst>
          <pc:docMk/>
          <pc:sldMk cId="1125741396" sldId="294"/>
        </pc:sldMkLst>
        <pc:spChg chg="mod">
          <ac:chgData name="Luke Gaffney" userId="6fa697cc8cd57f76" providerId="LiveId" clId="{528BD4CA-A453-43AA-8F73-3E975C3B2CFE}" dt="2026-01-05T16:22:05.995" v="3274" actId="20577"/>
          <ac:spMkLst>
            <pc:docMk/>
            <pc:sldMk cId="1125741396" sldId="294"/>
            <ac:spMk id="2" creationId="{5EF42DC5-22B3-67F1-F686-B84FB501277F}"/>
          </ac:spMkLst>
        </pc:spChg>
        <pc:spChg chg="del mod">
          <ac:chgData name="Luke Gaffney" userId="6fa697cc8cd57f76" providerId="LiveId" clId="{528BD4CA-A453-43AA-8F73-3E975C3B2CFE}" dt="2026-01-05T16:22:03.873" v="3273" actId="21"/>
          <ac:spMkLst>
            <pc:docMk/>
            <pc:sldMk cId="1125741396" sldId="294"/>
            <ac:spMk id="5" creationId="{003D3572-A82F-777C-C5EE-DC63744E954F}"/>
          </ac:spMkLst>
        </pc:spChg>
        <pc:picChg chg="del">
          <ac:chgData name="Luke Gaffney" userId="6fa697cc8cd57f76" providerId="LiveId" clId="{528BD4CA-A453-43AA-8F73-3E975C3B2CFE}" dt="2026-01-05T16:22:00.142" v="3271" actId="478"/>
          <ac:picMkLst>
            <pc:docMk/>
            <pc:sldMk cId="1125741396" sldId="294"/>
            <ac:picMk id="4" creationId="{20D72F70-201E-F549-DEFA-8C5B13E00D1E}"/>
          </ac:picMkLst>
        </pc:picChg>
        <pc:picChg chg="add mod">
          <ac:chgData name="Luke Gaffney" userId="6fa697cc8cd57f76" providerId="LiveId" clId="{528BD4CA-A453-43AA-8F73-3E975C3B2CFE}" dt="2026-01-05T16:23:27.918" v="3284" actId="1076"/>
          <ac:picMkLst>
            <pc:docMk/>
            <pc:sldMk cId="1125741396" sldId="294"/>
            <ac:picMk id="6" creationId="{2877D71D-B134-56A0-F982-1CE0405B407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sz="1600" b="1" dirty="0"/>
              <a:t>Hi my name is Luke Gaffney and I’m a part of DDA17 with the Nashville Software School</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My capstone project examines how housing affordability changed in Metro Nashville from 2020 through 2023 for single-family homes.</a:t>
            </a:r>
          </a:p>
          <a:p>
            <a:pPr marL="171450" indent="-171450">
              <a:buFont typeface="Arial" panose="020B0604020202020204" pitchFamily="34" charset="0"/>
              <a:buChar char="•"/>
            </a:pPr>
            <a:endParaRPr lang="en-US" sz="1600" b="1" dirty="0"/>
          </a:p>
          <a:p>
            <a:pPr marL="171450" indent="-171450">
              <a:buFont typeface="Arial" panose="020B0604020202020204" pitchFamily="34" charset="0"/>
              <a:buChar char="•"/>
            </a:pPr>
            <a:r>
              <a:rPr lang="en-US" sz="1600" b="1" dirty="0"/>
              <a:t>The reason that I was interested in completing my capstone on this topic is that I have personally bought and sold a house in metro Nashville during this time frame and experienced firsthand how the affordability changed.</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The purpose of this analysis is to evaluate changes in housing affordability in Metro Nashville during a period of market disruption.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focused on three key drivers of affordability: home prices, household income, and interest rates.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In addition to overall trends, I examined ZIP Code-level differences to understand whether some neighborhoods experienced greater affordability pressures than others.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95914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00C6-CA7F-0E1E-8CF4-8FB1276922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476E9-3016-EC17-C647-408C61148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ED9BB-2D2D-F5C2-ABA8-2D4FF19D021B}"/>
              </a:ext>
            </a:extLst>
          </p:cNvPr>
          <p:cNvSpPr>
            <a:spLocks noGrp="1"/>
          </p:cNvSpPr>
          <p:nvPr>
            <p:ph type="body" idx="1"/>
          </p:nvPr>
        </p:nvSpPr>
        <p:spPr/>
        <p:txBody>
          <a:bodyPr/>
          <a:lstStyle/>
          <a:p>
            <a:pPr marL="171450" indent="-171450">
              <a:buFont typeface="Arial" panose="020B0604020202020204" pitchFamily="34" charset="0"/>
              <a:buChar char="•"/>
            </a:pPr>
            <a:r>
              <a:rPr lang="en-US" b="1" dirty="0"/>
              <a:t>This project is guided by four research questions.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First, I examined how the median home price changed relative to household income.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Second, I looked at housing market activity, including inventory levels and home sales volume.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Third, I assessed how rising interest rates affected affordability for a median-income household.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Finally, I analyzed whether affordability changes were evenly distributed across ZIP codes in Metro Nashville.</a:t>
            </a:r>
          </a:p>
          <a:p>
            <a:endParaRPr lang="en-US" dirty="0"/>
          </a:p>
        </p:txBody>
      </p:sp>
      <p:sp>
        <p:nvSpPr>
          <p:cNvPr id="4" name="Slide Number Placeholder 3">
            <a:extLst>
              <a:ext uri="{FF2B5EF4-FFF2-40B4-BE49-F238E27FC236}">
                <a16:creationId xmlns:a16="http://schemas.microsoft.com/office/drawing/2014/main" id="{DC63E42E-8076-E603-64B6-54129561068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0311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data focuses on Metro Nashville from 2020 through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 combined multiple datasets to capture different dimensions of affordability.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Parcel sales data from the Nashville Data Portal provided transaction prices for single-family homes.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Redfin Data Center  data provided housing market indicators like inventory and homes sold.</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The US Census ACS data using their API provided median household income at the ZIP code level.</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 data came from the Federal Reserve Economic Data and reflect national 30-year fixed rates.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First, I would like to show a high-level comparison for Nashville comparing the 2020 to the year 2023.</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home prices during this time increased from $320,000 to over $437,000.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Median household income increased as well, but at a slower pace when compared to home prices.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At the same time, total single-family home sales declined significantly.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Mortgage rates more than doubled, increasing borrowing costs and reducing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visual compares trends in the median home price and median household income  over the span of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Home prices increased substantially faster than incomes.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Between 2020 and 2023, prices rose by roughly 37%, while incomes only increased by about 20%.</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growing gap suggests that affordability worsened even before considering other factors.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price-to-income ratio which is widely used by the US department of Housing and Urban Development or HUD, measures housing affordability by comparing the cost of a median home to the income of a median household and helps summarizes the relationship between home prices and income</a:t>
            </a:r>
          </a:p>
          <a:p>
            <a:pPr marL="171450" lvl="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formula for this is (Median Home Sale Price/Median Household Income=Price-to-Income Ratio), where a higher ratio indicates reduced affordability.</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Between 2020 and 2022, the ratio increased due to home prices outpacing income growth.</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 growth in 2023 slightly reduced the ratio, affordability pressure remained elevated compared to earlier years in the period.</a:t>
            </a:r>
          </a:p>
          <a:p>
            <a:pPr marL="285750" lvl="0" indent="-2857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When looking at the housing supply this visual shows changes in market conditions.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During this period, Nashville experienced continued population growth, while housing inventory remained constrained. This imbalance between demand and available housing can help explain why prices continued to rise despite fluctuations in sales volume. </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The average inventory reflects the typical number of homes available for sale at any point during the year. Rather than using a single month, I averaged monthly inventory values to capture overall supply conditions</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Inventory declined in 2021, tightening market conditions. Even as inventory partially recovered in later years, home sales continued to decline.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Higher prices and rising mortgage rates reduced buyer activity, contributing to continued affordability challenges.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Interest rates remained historically low in 2020 and 2021. But beginning in 2022, rates increased rapidly.</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Due to these increases this significantly raised monthly mortgage payments.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home prices, combined with higher borrowing costs, intensified affordability challenges.</a:t>
            </a:r>
          </a:p>
        </p:txBody>
      </p:sp>
      <p:sp>
        <p:nvSpPr>
          <p:cNvPr id="4" name="Slide Number Placeholder 3"/>
          <p:cNvSpPr>
            <a:spLocks noGrp="1"/>
          </p:cNvSpPr>
          <p:nvPr>
            <p:ph type="sldNum" sz="quarter" idx="5"/>
          </p:nvPr>
        </p:nvSpPr>
        <p:spPr/>
        <p:txBody>
          <a:bodyPr/>
          <a:lstStyle/>
          <a:p>
            <a:fld id="{F04F93AA-2A77-4ACB-8117-F9E159C9069A}" type="slidenum">
              <a:rPr lang="en-US" smtClean="0"/>
              <a:t>9</a:t>
            </a:fld>
            <a:endParaRPr lang="en-US"/>
          </a:p>
        </p:txBody>
      </p:sp>
    </p:spTree>
    <p:extLst>
      <p:ext uri="{BB962C8B-B14F-4D97-AF65-F5344CB8AC3E}">
        <p14:creationId xmlns:p14="http://schemas.microsoft.com/office/powerpoint/2010/main" val="418154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This visual shows the share of a median household's income needed to comfortably afford a monthly mortgage payment.</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The dashed line represents the commonly used 30% affordability threshold, above which households are considered cost-burdened to the buyer.</a:t>
            </a:r>
          </a:p>
          <a:p>
            <a:pPr marL="0" indent="0">
              <a:buFont typeface="Arial" panose="020B0604020202020204" pitchFamily="34" charset="0"/>
              <a:buNone/>
            </a:pPr>
            <a:endParaRPr lang="en-US" b="1" dirty="0"/>
          </a:p>
          <a:p>
            <a:pPr marL="171450" indent="-171450">
              <a:buFont typeface="Arial" panose="020B0604020202020204" pitchFamily="34" charset="0"/>
              <a:buChar char="•"/>
            </a:pPr>
            <a:r>
              <a:rPr lang="en-US" b="1" dirty="0"/>
              <a:t>This chart estimates the share of median household income needed to comfortable afford monthly mortgage payments for a median-priced home. The monthly mortgage payments were calculated using median home prices and mortgage rates, then expressed as a percentage of median household income. </a:t>
            </a:r>
          </a:p>
          <a:p>
            <a:pPr marL="171450" indent="-171450">
              <a:buFont typeface="Arial" panose="020B0604020202020204" pitchFamily="34" charset="0"/>
              <a:buChar char="•"/>
            </a:pPr>
            <a:endParaRPr lang="en-US" b="1" dirty="0"/>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1" dirty="0"/>
              <a:t>By 2023, housing costs exceeded the 30% threshold. Reducing affordability for many median-income households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b="1" dirty="0"/>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If asked how I did this, I calculated  what the average monthly mortgage payment would be with 20% down and the interest rate that year and used the median monthly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Affordability changes were not evenly distributed across the Metro. </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map shows that affordability pressures were widespread across Nashville. While nearly all ZIP codes saw worsening affordability, only two experienced improvements. In those areas, income growth outpaced home price increases, leading to a decline </a:t>
            </a:r>
            <a:r>
              <a:rPr lang="en-US" b="1"/>
              <a:t>in the price-to-income ratio.</a:t>
            </a:r>
            <a:endParaRPr lang="en-US" b="1" dirty="0"/>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Some ZIP codes experienced much larger increases in price-to-income ratios than others.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suggests that affordability outcomes are driven by localized income and housing market dynamics rather than uniform metro-wide trends.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This highlights the importance of examining affordability at a local level rather than relying only on metro-wide averages.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Highest increase 37015. Decrease 37143 and 37028</a:t>
            </a:r>
          </a:p>
          <a:p>
            <a:pPr marL="171450" indent="-171450">
              <a:buFont typeface="Arial" panose="020B0604020202020204" pitchFamily="34" charset="0"/>
              <a:buChar char="•"/>
            </a:pPr>
            <a:endParaRPr lang="en-US" b="1"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11</a:t>
            </a:fld>
            <a:endParaRPr lang="en-US"/>
          </a:p>
        </p:txBody>
      </p:sp>
    </p:spTree>
    <p:extLst>
      <p:ext uri="{BB962C8B-B14F-4D97-AF65-F5344CB8AC3E}">
        <p14:creationId xmlns:p14="http://schemas.microsoft.com/office/powerpoint/2010/main" val="466719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Home prices increased faster than incomes, widening the affordability gap.</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Rising mortgage rates significantly increased borrowing costs.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Housing market conditions tightened early in the period and remained challenging.</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uneven across ZIP codes.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Together, these factors contributed to a substantial decline in homeownership affordability.</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pPr marL="171450" indent="-171450">
              <a:buFont typeface="Arial" panose="020B0604020202020204" pitchFamily="34" charset="0"/>
              <a:buChar char="•"/>
            </a:pPr>
            <a:r>
              <a:rPr lang="en-US" b="1" dirty="0"/>
              <a:t>There was several limitations to this analysis.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Mainly ZIP code boundaries pertaining to what zip codes are considered Metro Nashville vary across data sources.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Future work could examine a longer time frame to see how these numbers have changed over a larger data span</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Additionally looking at factors like rent prices or demographic changes could also be interesting to explored to see what role they play to affordability.</a:t>
            </a:r>
          </a:p>
          <a:p>
            <a:endParaRPr lang="en-US" dirty="0"/>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b="1" dirty="0"/>
              <a:t>Between 2020 and 2023, rising home prices, higher mortgage rates, and constrained market conditions significantly reduced housing affordability in Metro Nashville.</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While incomes increased, they did not keep pace with housing costs.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Affordability pressures were not evenly distributed across neighborhoods.</a:t>
            </a:r>
          </a:p>
          <a:p>
            <a:pPr marL="171450" indent="-171450">
              <a:buFont typeface="Arial" panose="020B0604020202020204" pitchFamily="34" charset="0"/>
              <a:buChar char="•"/>
            </a:pPr>
            <a:endParaRPr lang="en-US" b="1" dirty="0"/>
          </a:p>
          <a:p>
            <a:pPr marL="171450" indent="-171450">
              <a:buFont typeface="Arial" panose="020B0604020202020204" pitchFamily="34" charset="0"/>
              <a:buChar char="•"/>
            </a:pPr>
            <a:r>
              <a:rPr lang="en-US" b="1" dirty="0"/>
              <a:t>Overall, this analysis shows how multiple market forces combined to worsen housing affordability in Metro Nashville during this period.</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14</a:t>
            </a:fld>
            <a:endParaRPr lang="en-US"/>
          </a:p>
        </p:txBody>
      </p:sp>
    </p:spTree>
    <p:extLst>
      <p:ext uri="{BB962C8B-B14F-4D97-AF65-F5344CB8AC3E}">
        <p14:creationId xmlns:p14="http://schemas.microsoft.com/office/powerpoint/2010/main" val="3967946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23CA-F784-8609-0053-212FA3AE92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BF1ED-677E-4E16-D8CE-A99EBE92F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4D6CC0-871A-93D4-2DB3-A0558479D7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C5540D-FF74-83C1-A1BD-A09C777BF1F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4F93AA-2A77-4ACB-8117-F9E159C9069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56215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1/5/2026</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08008" y="2524079"/>
            <a:ext cx="6251110" cy="1431706"/>
          </a:xfrm>
        </p:spPr>
        <p:txBody>
          <a:bodyPr anchor="b">
            <a:normAutofit/>
          </a:bodyPr>
          <a:lstStyle/>
          <a:p>
            <a:r>
              <a:rPr lang="en-US" sz="4400" b="1" dirty="0"/>
              <a:t>Housing Affordability in Metro Nashville</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631216"/>
          </a:xfrm>
          <a:prstGeom prst="rect">
            <a:avLst/>
          </a:prstGeom>
          <a:noFill/>
        </p:spPr>
        <p:txBody>
          <a:bodyPr wrap="square" rtlCol="0">
            <a:spAutoFit/>
          </a:bodyPr>
          <a:lstStyle/>
          <a:p>
            <a:r>
              <a:rPr lang="en-US" sz="2000" dirty="0"/>
              <a:t>To evaluate changes in housing affordability in Metro Nashville from 2020 to 2023 by analyzing trends in home prices, mortgage interest rates, and household income, and to identify differences in affordability outcomes across ZIP codes.</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3E77630-18EE-928C-634C-5E9C4E3C004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E6226DB-4232-F6B4-B520-30D9636796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EEC8808-9AEF-CD15-EBA7-1CA3413867B0}"/>
              </a:ext>
            </a:extLst>
          </p:cNvPr>
          <p:cNvSpPr>
            <a:spLocks noGrp="1"/>
          </p:cNvSpPr>
          <p:nvPr>
            <p:ph type="title"/>
          </p:nvPr>
        </p:nvSpPr>
        <p:spPr>
          <a:xfrm>
            <a:off x="838200" y="365125"/>
            <a:ext cx="10515600" cy="1325563"/>
          </a:xfrm>
        </p:spPr>
        <p:txBody>
          <a:bodyPr>
            <a:normAutofit/>
          </a:bodyPr>
          <a:lstStyle/>
          <a:p>
            <a:r>
              <a:rPr lang="en-US" b="1" dirty="0"/>
              <a:t>Research Questions</a:t>
            </a:r>
          </a:p>
        </p:txBody>
      </p:sp>
      <p:sp>
        <p:nvSpPr>
          <p:cNvPr id="19" name="sketch line">
            <a:extLst>
              <a:ext uri="{FF2B5EF4-FFF2-40B4-BE49-F238E27FC236}">
                <a16:creationId xmlns:a16="http://schemas.microsoft.com/office/drawing/2014/main" id="{2490B431-C78D-22C2-2D2B-DDBF47A01F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A581FB95-F069-BC84-88AE-577884E5A698}"/>
              </a:ext>
            </a:extLst>
          </p:cNvPr>
          <p:cNvSpPr txBox="1"/>
          <p:nvPr/>
        </p:nvSpPr>
        <p:spPr>
          <a:xfrm>
            <a:off x="1569042" y="2055813"/>
            <a:ext cx="9050867" cy="4524315"/>
          </a:xfrm>
          <a:prstGeom prst="rect">
            <a:avLst/>
          </a:prstGeom>
          <a:noFill/>
        </p:spPr>
        <p:txBody>
          <a:bodyPr wrap="square" rtlCol="0">
            <a:spAutoFit/>
          </a:bodyPr>
          <a:lstStyle/>
          <a:p>
            <a:pPr marL="342900" indent="-342900">
              <a:buAutoNum type="arabicPeriod"/>
            </a:pPr>
            <a:r>
              <a:rPr lang="en-US" dirty="0"/>
              <a:t>How did median single-family home sale prices in Metro Nashville change between 2020 and 2023, and to what extent did median household income growth keep pace with these price changes?</a:t>
            </a:r>
          </a:p>
          <a:p>
            <a:pPr marL="342900" indent="-342900">
              <a:buFont typeface="+mj-lt"/>
              <a:buAutoNum type="arabicPeriod"/>
            </a:pPr>
            <a:endParaRPr lang="en-US" dirty="0"/>
          </a:p>
          <a:p>
            <a:pPr marL="342900" indent="-342900">
              <a:buFontTx/>
              <a:buAutoNum type="arabicPeriod"/>
            </a:pPr>
            <a:r>
              <a:rPr lang="en-US" dirty="0"/>
              <a:t>How did housing inventory levels and home sales volume in Metro Nashville change between 2020 and 2023, and how did these market conditions correspond with changes in median home sale prices?</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influence homeownership affordability for a median-income household in Metro Nashville?</a:t>
            </a:r>
          </a:p>
          <a:p>
            <a:pPr marL="342900" indent="-342900">
              <a:buFont typeface="+mj-lt"/>
              <a:buAutoNum type="arabicPeriod"/>
            </a:pPr>
            <a:endParaRPr lang="en-US" dirty="0"/>
          </a:p>
          <a:p>
            <a:pPr marL="342900" indent="-342900">
              <a:buFont typeface="+mj-lt"/>
              <a:buAutoNum type="arabicPeriod"/>
            </a:pPr>
            <a:r>
              <a:rPr lang="en-US" dirty="0"/>
              <a:t>Were changes in housing affordability evenly distributed across ZIP codes in Metro Nashville between 2020 and 2023, or did certain ZIP codes experience disproportionately larger shifts in affordability?</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15056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838200" y="2055813"/>
            <a:ext cx="9050867" cy="3970318"/>
          </a:xfrm>
          <a:prstGeom prst="rect">
            <a:avLst/>
          </a:prstGeom>
          <a:noFill/>
        </p:spPr>
        <p:txBody>
          <a:bodyPr wrap="square" rtlCol="0">
            <a:spAutoFit/>
          </a:bodyPr>
          <a:lstStyle/>
          <a:p>
            <a:pPr marL="285750" indent="-285750">
              <a:buFont typeface="Arial" panose="020B0604020202020204" pitchFamily="34" charset="0"/>
              <a:buChar char="•"/>
            </a:pPr>
            <a:r>
              <a:rPr lang="en-US" b="1" dirty="0"/>
              <a:t>Scope</a:t>
            </a:r>
            <a:endParaRPr lang="en-US" dirty="0"/>
          </a:p>
          <a:p>
            <a:pPr marL="742950" lvl="1" indent="-285750">
              <a:buFont typeface="Arial" panose="020B0604020202020204" pitchFamily="34" charset="0"/>
              <a:buChar char="•"/>
            </a:pPr>
            <a:r>
              <a:rPr lang="en-US" b="1" dirty="0"/>
              <a:t>Location:</a:t>
            </a:r>
            <a:r>
              <a:rPr lang="en-US" dirty="0"/>
              <a:t> Metro Nashville</a:t>
            </a:r>
          </a:p>
          <a:p>
            <a:pPr marL="742950" lvl="1" indent="-285750">
              <a:buFont typeface="Arial" panose="020B0604020202020204" pitchFamily="34" charset="0"/>
              <a:buChar char="•"/>
            </a:pPr>
            <a:r>
              <a:rPr lang="en-US" b="1" dirty="0"/>
              <a:t>Period:</a:t>
            </a:r>
            <a:r>
              <a:rPr lang="en-US" dirty="0"/>
              <a:t> 2020–2023</a:t>
            </a:r>
          </a:p>
          <a:p>
            <a:pPr marL="742950" lvl="1" indent="-285750">
              <a:buFont typeface="Arial" panose="020B0604020202020204" pitchFamily="34" charset="0"/>
              <a:buChar char="•"/>
            </a:pPr>
            <a:r>
              <a:rPr lang="en-US" b="1" dirty="0"/>
              <a:t>Focus:</a:t>
            </a:r>
            <a:r>
              <a:rPr lang="en-US" dirty="0"/>
              <a:t> Single-family housing affordability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Data Sources</a:t>
            </a:r>
            <a:endParaRPr lang="en-US" dirty="0"/>
          </a:p>
          <a:p>
            <a:pPr marL="742950" lvl="1" indent="-285750">
              <a:buFont typeface="Arial" panose="020B0604020202020204" pitchFamily="34" charset="0"/>
              <a:buChar char="•"/>
            </a:pPr>
            <a:r>
              <a:rPr lang="en-US" b="1" dirty="0"/>
              <a:t>Metro Nashville Parcel Sales Data:</a:t>
            </a:r>
            <a:r>
              <a:rPr lang="en-US" dirty="0"/>
              <a:t> Used to calculate </a:t>
            </a:r>
            <a:r>
              <a:rPr lang="en-US" b="1" dirty="0"/>
              <a:t>median single-family home sale prices</a:t>
            </a:r>
            <a:r>
              <a:rPr lang="en-US" dirty="0"/>
              <a:t> from observed transactions</a:t>
            </a:r>
          </a:p>
          <a:p>
            <a:pPr marL="742950" lvl="1" indent="-285750">
              <a:buFont typeface="Arial" panose="020B0604020202020204" pitchFamily="34" charset="0"/>
              <a:buChar char="•"/>
            </a:pPr>
            <a:r>
              <a:rPr lang="en-US" b="1" dirty="0"/>
              <a:t>Redfin Market Data:</a:t>
            </a:r>
            <a:r>
              <a:rPr lang="en-US" dirty="0"/>
              <a:t> Used for </a:t>
            </a:r>
            <a:r>
              <a:rPr lang="en-US" b="1" dirty="0"/>
              <a:t>inventory indicators, total homes sold, and market competitiveness</a:t>
            </a:r>
            <a:endParaRPr lang="en-US" dirty="0"/>
          </a:p>
          <a:p>
            <a:pPr marL="742950" lvl="1" indent="-285750">
              <a:buFont typeface="Arial" panose="020B0604020202020204" pitchFamily="34" charset="0"/>
              <a:buChar char="•"/>
            </a:pPr>
            <a:r>
              <a:rPr lang="en-US" b="1" dirty="0"/>
              <a:t>U.S. Census ACS:</a:t>
            </a:r>
            <a:r>
              <a:rPr lang="en-US" dirty="0"/>
              <a:t> Used for </a:t>
            </a:r>
            <a:r>
              <a:rPr lang="en-US" b="1" dirty="0"/>
              <a:t>median household income and housing context</a:t>
            </a:r>
            <a:r>
              <a:rPr lang="en-US" dirty="0"/>
              <a:t> at the ZIP (ZCTA) level</a:t>
            </a:r>
          </a:p>
          <a:p>
            <a:pPr marL="742950" lvl="1" indent="-285750">
              <a:buFont typeface="Arial" panose="020B0604020202020204" pitchFamily="34" charset="0"/>
              <a:buChar char="•"/>
            </a:pPr>
            <a:r>
              <a:rPr lang="en-US" b="1" dirty="0"/>
              <a:t>FRED (Federal Reserve Economic Data): </a:t>
            </a:r>
            <a:r>
              <a:rPr lang="en-US" dirty="0"/>
              <a:t>Used for </a:t>
            </a:r>
            <a:r>
              <a:rPr lang="en-US" b="1" dirty="0"/>
              <a:t>30-year fixed mortgage interest rates</a:t>
            </a: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Metro Nashville 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chemeClr val="bg1"/>
          </a:solidFill>
          <a:ln w="28575">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$320,000</a:t>
            </a:r>
          </a:p>
          <a:p>
            <a:pPr algn="ctr"/>
            <a:r>
              <a:rPr lang="en-US" sz="1400" dirty="0"/>
              <a:t>Median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$437,200</a:t>
            </a:r>
          </a:p>
          <a:p>
            <a:pPr algn="ctr"/>
            <a:r>
              <a:rPr lang="en-US" sz="1400" dirty="0"/>
              <a:t>Median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$74,974</a:t>
            </a:r>
          </a:p>
          <a:p>
            <a:pPr algn="ctr"/>
            <a:r>
              <a:rPr lang="en-US" sz="1400" dirty="0"/>
              <a:t>Median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dirty="0"/>
              <a:t>$90,246</a:t>
            </a:r>
          </a:p>
          <a:p>
            <a:pPr algn="ctr"/>
            <a:r>
              <a:rPr lang="en-US" sz="1400" dirty="0"/>
              <a:t>Median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1261884"/>
          </a:xfrm>
          <a:prstGeom prst="rect">
            <a:avLst/>
          </a:prstGeom>
          <a:noFill/>
        </p:spPr>
        <p:txBody>
          <a:bodyPr wrap="square" rtlCol="0">
            <a:spAutoFit/>
          </a:bodyPr>
          <a:lstStyle/>
          <a:p>
            <a:pPr algn="ctr"/>
            <a:r>
              <a:rPr lang="en-US" sz="3400" b="1" dirty="0"/>
              <a:t>38,234</a:t>
            </a:r>
          </a:p>
          <a:p>
            <a:pPr algn="ctr"/>
            <a:r>
              <a:rPr lang="en-US" sz="1400" dirty="0"/>
              <a:t>Total Single-Family Home Sales</a:t>
            </a:r>
          </a:p>
          <a:p>
            <a:pPr algn="ctr"/>
            <a:endParaRPr lang="en-US" sz="1400" dirty="0"/>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solidFill>
            <a:schemeClr val="bg1"/>
          </a:solid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1261884"/>
          </a:xfrm>
          <a:prstGeom prst="rect">
            <a:avLst/>
          </a:prstGeom>
          <a:noFill/>
        </p:spPr>
        <p:txBody>
          <a:bodyPr wrap="square" rtlCol="0">
            <a:spAutoFit/>
          </a:bodyPr>
          <a:lstStyle/>
          <a:p>
            <a:pPr algn="ctr"/>
            <a:r>
              <a:rPr lang="en-US" sz="3400" b="1" dirty="0"/>
              <a:t>26,570</a:t>
            </a:r>
          </a:p>
          <a:p>
            <a:pPr algn="ctr"/>
            <a:r>
              <a:rPr lang="en-US" sz="1400" dirty="0"/>
              <a:t>Total Single-Family Home Sales</a:t>
            </a:r>
          </a:p>
          <a:p>
            <a:pPr algn="ctr"/>
            <a:endParaRPr lang="en-US" sz="1400" dirty="0"/>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129545" y="6537321"/>
            <a:ext cx="4873450" cy="215444"/>
          </a:xfrm>
          <a:prstGeom prst="rect">
            <a:avLst/>
          </a:prstGeom>
          <a:noFill/>
        </p:spPr>
        <p:txBody>
          <a:bodyPr wrap="square" rtlCol="0">
            <a:spAutoFit/>
          </a:bodyPr>
          <a:lstStyle/>
          <a:p>
            <a:r>
              <a:rPr lang="en-US" sz="800" i="1" dirty="0"/>
              <a:t>Sources: Metro Nashville Parcel Data, Redfin, U.S. Census ACS, FRED</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 in Metro Nashville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211580" y="1860404"/>
            <a:ext cx="10311384" cy="369332"/>
          </a:xfrm>
          <a:prstGeom prst="rect">
            <a:avLst/>
          </a:prstGeom>
          <a:noFill/>
        </p:spPr>
        <p:txBody>
          <a:bodyPr wrap="square" rtlCol="0">
            <a:spAutoFit/>
          </a:bodyPr>
          <a:lstStyle/>
          <a:p>
            <a:r>
              <a:rPr lang="en-US" dirty="0"/>
              <a:t>Median home prices increased substantially faster than household incomes between 2020 and 2023.</a:t>
            </a:r>
          </a:p>
        </p:txBody>
      </p:sp>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052B4196-3BE3-0CE2-9267-4AB6AD95E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5551" y="2409209"/>
            <a:ext cx="9597849" cy="398044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The Price-to-Income Gap in Metro Nashville</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85204" y="3876681"/>
            <a:ext cx="4800600" cy="1754326"/>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4.3 to 5</a:t>
            </a:r>
            <a:r>
              <a:rPr lang="en-US" dirty="0"/>
              <a:t>. While incomes rose in 2023, affordability remained strained, with the ratio remaining elevated relative to earlier years.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19AD51AE-DF4F-6B5B-A05A-423474F3BD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66681"/>
            <a:ext cx="5560677" cy="3623483"/>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308324"/>
          </a:xfrm>
          <a:prstGeom prst="rect">
            <a:avLst/>
          </a:prstGeom>
          <a:noFill/>
        </p:spPr>
        <p:txBody>
          <a:bodyPr wrap="square" rtlCol="0">
            <a:spAutoFit/>
          </a:bodyPr>
          <a:lstStyle/>
          <a:p>
            <a:r>
              <a:rPr lang="en-US" dirty="0"/>
              <a:t>Housing market conditions tightened in 2021 as inventory declined and sales activity remained elevated. Even as inventory partially recovered after 2021, higher prices and rising mortgage rates reduced sales activity, contributing to continued price pressure and affordability challenges.</a:t>
            </a:r>
          </a:p>
        </p:txBody>
      </p:sp>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7E3D6DB2-8495-5ABC-2FAB-2F1449DB5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127153"/>
            <a:ext cx="6251744" cy="3867527"/>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477328"/>
          </a:xfrm>
          <a:prstGeom prst="rect">
            <a:avLst/>
          </a:prstGeom>
          <a:noFill/>
        </p:spPr>
        <p:txBody>
          <a:bodyPr wrap="square" rtlCol="0">
            <a:spAutoFit/>
          </a:bodyPr>
          <a:lstStyle/>
          <a:p>
            <a:r>
              <a:rPr lang="en-US" dirty="0"/>
              <a:t>Interest rates remained historically low in 2020–2021, but rose sharply beginning in 2022, increasing monthly mortgage payments and the cost of financing a home purchase.</a:t>
            </a:r>
          </a:p>
        </p:txBody>
      </p:sp>
      <p:sp>
        <p:nvSpPr>
          <p:cNvPr id="7" name="TextBox 6">
            <a:extLst>
              <a:ext uri="{FF2B5EF4-FFF2-40B4-BE49-F238E27FC236}">
                <a16:creationId xmlns:a16="http://schemas.microsoft.com/office/drawing/2014/main" id="{CD2A6343-3F32-E1BA-2F4E-58ECF4E926AE}"/>
              </a:ext>
            </a:extLst>
          </p:cNvPr>
          <p:cNvSpPr txBox="1"/>
          <p:nvPr/>
        </p:nvSpPr>
        <p:spPr>
          <a:xfrm>
            <a:off x="162437" y="6559179"/>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4" name="Picture 3">
            <a:extLst>
              <a:ext uri="{FF2B5EF4-FFF2-40B4-BE49-F238E27FC236}">
                <a16:creationId xmlns:a16="http://schemas.microsoft.com/office/drawing/2014/main" id="{F198F5E3-645C-D31C-F4C1-30BCE2265A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72950"/>
            <a:ext cx="6094229" cy="388779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3200" b="1" dirty="0"/>
              <a:t>Higher Mortgage Rates Reduced Homeownership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031325"/>
          </a:xfrm>
          <a:prstGeom prst="rect">
            <a:avLst/>
          </a:prstGeom>
          <a:noFill/>
        </p:spPr>
        <p:txBody>
          <a:bodyPr wrap="square" rtlCol="0">
            <a:spAutoFit/>
          </a:bodyPr>
          <a:lstStyle/>
          <a:p>
            <a:r>
              <a:rPr lang="en-US" dirty="0"/>
              <a:t>As mortgage rates increased, the share of median household income required for mortgage payments increased. By 2023, typical housing costs exceeded the 30% affordability threshold, reducing affordability for many median-income households under standard housing cost thresholds.</a:t>
            </a:r>
          </a:p>
        </p:txBody>
      </p:sp>
      <p:sp>
        <p:nvSpPr>
          <p:cNvPr id="7" name="TextBox 6">
            <a:extLst>
              <a:ext uri="{FF2B5EF4-FFF2-40B4-BE49-F238E27FC236}">
                <a16:creationId xmlns:a16="http://schemas.microsoft.com/office/drawing/2014/main" id="{A004F379-19A0-C0B8-020A-433A7D73BA73}"/>
              </a:ext>
            </a:extLst>
          </p:cNvPr>
          <p:cNvSpPr txBox="1"/>
          <p:nvPr/>
        </p:nvSpPr>
        <p:spPr>
          <a:xfrm>
            <a:off x="247956" y="6537321"/>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5" name="Picture 4">
            <a:extLst>
              <a:ext uri="{FF2B5EF4-FFF2-40B4-BE49-F238E27FC236}">
                <a16:creationId xmlns:a16="http://schemas.microsoft.com/office/drawing/2014/main" id="{0910D6F0-3995-51D4-955A-BD9C74C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036" y="2055813"/>
            <a:ext cx="6109715" cy="3895838"/>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000" b="1" dirty="0"/>
              <a:t>Affordability Pressures Were Uneven Across Metro Nashville</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6875392" y="3002239"/>
            <a:ext cx="42926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Housing affordability worsened across nearly all ZIP codes</a:t>
            </a:r>
          </a:p>
          <a:p>
            <a:pPr marL="285750" indent="-285750">
              <a:buFont typeface="Arial" panose="020B0604020202020204" pitchFamily="34" charset="0"/>
              <a:buChar char="•"/>
            </a:pPr>
            <a:r>
              <a:rPr lang="en-US" dirty="0"/>
              <a:t>Changes were uneven, with significant neighborhood-level variation</a:t>
            </a:r>
          </a:p>
          <a:p>
            <a:pPr marL="285750" indent="-285750">
              <a:buFont typeface="Arial" panose="020B0604020202020204" pitchFamily="34" charset="0"/>
              <a:buChar char="•"/>
            </a:pPr>
            <a:r>
              <a:rPr lang="en-US" dirty="0"/>
              <a:t>Two ZIP codes experienced modest improvement due to stronger income growth</a:t>
            </a:r>
          </a:p>
        </p:txBody>
      </p:sp>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dirty="0"/>
              <a:t>Sources: Metro Nashville Parcel Data, Redfin, U.S. Census ACS, FRED</a:t>
            </a:r>
            <a:endParaRPr lang="en-US" sz="800" i="1" dirty="0"/>
          </a:p>
        </p:txBody>
      </p:sp>
      <p:pic>
        <p:nvPicPr>
          <p:cNvPr id="10" name="Picture 9">
            <a:extLst>
              <a:ext uri="{FF2B5EF4-FFF2-40B4-BE49-F238E27FC236}">
                <a16:creationId xmlns:a16="http://schemas.microsoft.com/office/drawing/2014/main" id="{A692C29B-25EE-7B86-E930-B1F4C2FEA1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126" y="1976392"/>
            <a:ext cx="5303140" cy="4360019"/>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37% between 2020 and 2023</a:t>
            </a:r>
            <a:r>
              <a:rPr lang="en-US" sz="1600" dirty="0"/>
              <a:t>, while median household income increased by only </a:t>
            </a:r>
            <a:r>
              <a:rPr lang="en-US" sz="1600" b="1" dirty="0"/>
              <a:t>20%</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4.3% in 2020 to a peak of 5%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30%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forces not prices alone, shaped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a:extLst>
            <a:ext uri="{FF2B5EF4-FFF2-40B4-BE49-F238E27FC236}">
              <a16:creationId xmlns:a16="http://schemas.microsoft.com/office/drawing/2014/main" id="{56129134-68B0-D803-EB90-6CBB36DBD5E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2F497DA-E1E0-88A0-E713-86FE6261C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822C743-1514-89D4-2DAD-3E9F08CB440F}"/>
              </a:ext>
            </a:extLst>
          </p:cNvPr>
          <p:cNvSpPr>
            <a:spLocks noGrp="1"/>
          </p:cNvSpPr>
          <p:nvPr>
            <p:ph type="title"/>
          </p:nvPr>
        </p:nvSpPr>
        <p:spPr>
          <a:xfrm>
            <a:off x="838200" y="365125"/>
            <a:ext cx="10515600" cy="1325563"/>
          </a:xfrm>
        </p:spPr>
        <p:txBody>
          <a:bodyPr>
            <a:normAutofit/>
          </a:bodyPr>
          <a:lstStyle/>
          <a:p>
            <a:r>
              <a:rPr lang="en-US" b="1" dirty="0"/>
              <a:t>Q&amp;A</a:t>
            </a:r>
          </a:p>
        </p:txBody>
      </p:sp>
      <p:sp>
        <p:nvSpPr>
          <p:cNvPr id="19" name="sketch line">
            <a:extLst>
              <a:ext uri="{FF2B5EF4-FFF2-40B4-BE49-F238E27FC236}">
                <a16:creationId xmlns:a16="http://schemas.microsoft.com/office/drawing/2014/main" id="{F8977E18-51BF-1A23-DDB8-51F1B26B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17DC6DB-FFF7-A177-A3E3-A53D84FD998F}"/>
              </a:ext>
            </a:extLst>
          </p:cNvPr>
          <p:cNvSpPr txBox="1"/>
          <p:nvPr/>
        </p:nvSpPr>
        <p:spPr>
          <a:xfrm>
            <a:off x="4382000" y="2967335"/>
            <a:ext cx="342495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Thank you!</a:t>
            </a:r>
          </a:p>
        </p:txBody>
      </p:sp>
    </p:spTree>
    <p:extLst>
      <p:ext uri="{BB962C8B-B14F-4D97-AF65-F5344CB8AC3E}">
        <p14:creationId xmlns:p14="http://schemas.microsoft.com/office/powerpoint/2010/main" val="2960301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14126</TotalTime>
  <Words>2150</Words>
  <Application>Microsoft Office PowerPoint</Application>
  <PresentationFormat>Widescreen</PresentationFormat>
  <Paragraphs>221</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Housing Affordability in Metro Nashville</vt:lpstr>
      <vt:lpstr>Purpose of This Analysis</vt:lpstr>
      <vt:lpstr>Research Questions</vt:lpstr>
      <vt:lpstr>About the data</vt:lpstr>
      <vt:lpstr>Metro Nashville Housing Market Snapshot</vt:lpstr>
      <vt:lpstr>Sale Price vs Income in Metro Nashville</vt:lpstr>
      <vt:lpstr>The Price-to-Income Gap in Metro Nashville</vt:lpstr>
      <vt:lpstr>Housing Supply Trends</vt:lpstr>
      <vt:lpstr>Rising Mortgage Rates Increased Borrowing Costs</vt:lpstr>
      <vt:lpstr>Higher Mortgage Rates Reduced Homeownership Affordability</vt:lpstr>
      <vt:lpstr>Affordability Pressures Were Uneven Across Metro Nashville</vt:lpstr>
      <vt:lpstr>Key Findings</vt:lpstr>
      <vt:lpstr>Limitations &amp; Next Steps</vt:lpstr>
      <vt:lpstr>Conclusion</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2026-01-06T20:10:12Z</dcterms:modified>
</cp:coreProperties>
</file>