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7"/>
  </p:notesMasterIdLst>
  <p:sldIdLst>
    <p:sldId id="256" r:id="rId2"/>
    <p:sldId id="257" r:id="rId3"/>
    <p:sldId id="293" r:id="rId4"/>
    <p:sldId id="278" r:id="rId5"/>
    <p:sldId id="277" r:id="rId6"/>
    <p:sldId id="280" r:id="rId7"/>
    <p:sldId id="282" r:id="rId8"/>
    <p:sldId id="283" r:id="rId9"/>
    <p:sldId id="284" r:id="rId10"/>
    <p:sldId id="290" r:id="rId11"/>
    <p:sldId id="288" r:id="rId12"/>
    <p:sldId id="287" r:id="rId13"/>
    <p:sldId id="286" r:id="rId14"/>
    <p:sldId id="285" r:id="rId15"/>
    <p:sldId id="291"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AFAF7"/>
    <a:srgbClr val="F2F2F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C0D10D6-1D88-4B0E-87C1-EF36A8B2A437}" v="243" dt="2026-01-06T20:06:04.01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1904" autoAdjust="0"/>
    <p:restoredTop sz="78365" autoAdjust="0"/>
  </p:normalViewPr>
  <p:slideViewPr>
    <p:cSldViewPr snapToGrid="0">
      <p:cViewPr>
        <p:scale>
          <a:sx n="92" d="100"/>
          <a:sy n="92" d="100"/>
        </p:scale>
        <p:origin x="916" y="2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Luke Gaffney" userId="6fa697cc8cd57f76" providerId="LiveId" clId="{528BD4CA-A453-43AA-8F73-3E975C3B2CFE}"/>
    <pc:docChg chg="undo custSel addSld delSld modSld sldOrd">
      <pc:chgData name="Luke Gaffney" userId="6fa697cc8cd57f76" providerId="LiveId" clId="{528BD4CA-A453-43AA-8F73-3E975C3B2CFE}" dt="2026-01-07T14:23:55.997" v="5159" actId="255"/>
      <pc:docMkLst>
        <pc:docMk/>
      </pc:docMkLst>
      <pc:sldChg chg="modSp mod setBg modNotesTx">
        <pc:chgData name="Luke Gaffney" userId="6fa697cc8cd57f76" providerId="LiveId" clId="{528BD4CA-A453-43AA-8F73-3E975C3B2CFE}" dt="2026-01-06T19:48:34.033" v="4662" actId="20577"/>
        <pc:sldMkLst>
          <pc:docMk/>
          <pc:sldMk cId="101415907" sldId="256"/>
        </pc:sldMkLst>
        <pc:spChg chg="mod">
          <ac:chgData name="Luke Gaffney" userId="6fa697cc8cd57f76" providerId="LiveId" clId="{528BD4CA-A453-43AA-8F73-3E975C3B2CFE}" dt="2025-12-23T17:53:16.697" v="2171" actId="1076"/>
          <ac:spMkLst>
            <pc:docMk/>
            <pc:sldMk cId="101415907" sldId="256"/>
            <ac:spMk id="2" creationId="{D5871A2F-1D02-6452-5157-8CB541F3456A}"/>
          </ac:spMkLst>
        </pc:spChg>
      </pc:sldChg>
      <pc:sldChg chg="modSp add del mod modNotesTx">
        <pc:chgData name="Luke Gaffney" userId="6fa697cc8cd57f76" providerId="LiveId" clId="{528BD4CA-A453-43AA-8F73-3E975C3B2CFE}" dt="2026-01-07T02:45:25.367" v="5100" actId="20577"/>
        <pc:sldMkLst>
          <pc:docMk/>
          <pc:sldMk cId="3484887589" sldId="257"/>
        </pc:sldMkLst>
        <pc:spChg chg="mod">
          <ac:chgData name="Luke Gaffney" userId="6fa697cc8cd57f76" providerId="LiveId" clId="{528BD4CA-A453-43AA-8F73-3E975C3B2CFE}" dt="2025-12-23T20:43:56.433" v="2843" actId="20577"/>
          <ac:spMkLst>
            <pc:docMk/>
            <pc:sldMk cId="3484887589" sldId="257"/>
            <ac:spMk id="2" creationId="{DE9FC05C-E79A-F5B5-327B-29607701820D}"/>
          </ac:spMkLst>
        </pc:spChg>
        <pc:spChg chg="mod">
          <ac:chgData name="Luke Gaffney" userId="6fa697cc8cd57f76" providerId="LiveId" clId="{528BD4CA-A453-43AA-8F73-3E975C3B2CFE}" dt="2025-12-23T20:43:36.892" v="2840"/>
          <ac:spMkLst>
            <pc:docMk/>
            <pc:sldMk cId="3484887589" sldId="257"/>
            <ac:spMk id="4" creationId="{35E1C994-818C-0ACC-C41E-5E01DA946D82}"/>
          </ac:spMkLst>
        </pc:spChg>
      </pc:sldChg>
      <pc:sldChg chg="addSp delSp modSp mod setBg modNotesTx">
        <pc:chgData name="Luke Gaffney" userId="6fa697cc8cd57f76" providerId="LiveId" clId="{528BD4CA-A453-43AA-8F73-3E975C3B2CFE}" dt="2026-01-07T02:50:30.712" v="5103" actId="120"/>
        <pc:sldMkLst>
          <pc:docMk/>
          <pc:sldMk cId="542633763" sldId="277"/>
        </pc:sldMkLst>
        <pc:spChg chg="mod">
          <ac:chgData name="Luke Gaffney" userId="6fa697cc8cd57f76" providerId="LiveId" clId="{528BD4CA-A453-43AA-8F73-3E975C3B2CFE}" dt="2026-01-07T02:50:30.712" v="5103" actId="120"/>
          <ac:spMkLst>
            <pc:docMk/>
            <pc:sldMk cId="542633763" sldId="277"/>
            <ac:spMk id="2" creationId="{AFB1300D-AC32-6A7E-3302-C38583BC0E9A}"/>
          </ac:spMkLst>
        </pc:spChg>
        <pc:spChg chg="add mod">
          <ac:chgData name="Luke Gaffney" userId="6fa697cc8cd57f76" providerId="LiveId" clId="{528BD4CA-A453-43AA-8F73-3E975C3B2CFE}" dt="2025-12-19T16:03:45.807" v="1413" actId="1076"/>
          <ac:spMkLst>
            <pc:docMk/>
            <pc:sldMk cId="542633763" sldId="277"/>
            <ac:spMk id="3" creationId="{BD7F736E-6940-81F4-8CCE-71C9F3341512}"/>
          </ac:spMkLst>
        </pc:spChg>
        <pc:spChg chg="add mod">
          <ac:chgData name="Luke Gaffney" userId="6fa697cc8cd57f76" providerId="LiveId" clId="{528BD4CA-A453-43AA-8F73-3E975C3B2CFE}" dt="2025-12-19T16:03:49.932" v="1415" actId="20577"/>
          <ac:spMkLst>
            <pc:docMk/>
            <pc:sldMk cId="542633763" sldId="277"/>
            <ac:spMk id="4" creationId="{E493CBD1-94BF-5E0A-77DB-FF5C226FD519}"/>
          </ac:spMkLst>
        </pc:spChg>
        <pc:spChg chg="add mod">
          <ac:chgData name="Luke Gaffney" userId="6fa697cc8cd57f76" providerId="LiveId" clId="{528BD4CA-A453-43AA-8F73-3E975C3B2CFE}" dt="2025-12-22T13:29:00.713" v="1938" actId="113"/>
          <ac:spMkLst>
            <pc:docMk/>
            <pc:sldMk cId="542633763" sldId="277"/>
            <ac:spMk id="5" creationId="{7188F6DC-749C-0E58-9C52-708EB0881C1C}"/>
          </ac:spMkLst>
        </pc:spChg>
        <pc:spChg chg="add mod">
          <ac:chgData name="Luke Gaffney" userId="6fa697cc8cd57f76" providerId="LiveId" clId="{528BD4CA-A453-43AA-8F73-3E975C3B2CFE}" dt="2026-01-05T15:08:10.594" v="3187" actId="207"/>
          <ac:spMkLst>
            <pc:docMk/>
            <pc:sldMk cId="542633763" sldId="277"/>
            <ac:spMk id="6" creationId="{E9D36018-8142-2EDD-EF2A-A6BBC8C171D8}"/>
          </ac:spMkLst>
        </pc:spChg>
        <pc:spChg chg="add mod">
          <ac:chgData name="Luke Gaffney" userId="6fa697cc8cd57f76" providerId="LiveId" clId="{528BD4CA-A453-43AA-8F73-3E975C3B2CFE}" dt="2025-12-22T13:29:05.562" v="1939" actId="113"/>
          <ac:spMkLst>
            <pc:docMk/>
            <pc:sldMk cId="542633763" sldId="277"/>
            <ac:spMk id="7" creationId="{29E4D0B8-5AD9-3177-AEEB-D8BF77B12F2A}"/>
          </ac:spMkLst>
        </pc:spChg>
        <pc:spChg chg="add mod">
          <ac:chgData name="Luke Gaffney" userId="6fa697cc8cd57f76" providerId="LiveId" clId="{528BD4CA-A453-43AA-8F73-3E975C3B2CFE}" dt="2025-12-19T16:11:56.909" v="1510" actId="408"/>
          <ac:spMkLst>
            <pc:docMk/>
            <pc:sldMk cId="542633763" sldId="277"/>
            <ac:spMk id="8" creationId="{C50D66DC-6DC7-0FFF-14AB-BE095496AAF2}"/>
          </ac:spMkLst>
        </pc:spChg>
        <pc:spChg chg="add mod">
          <ac:chgData name="Luke Gaffney" userId="6fa697cc8cd57f76" providerId="LiveId" clId="{528BD4CA-A453-43AA-8F73-3E975C3B2CFE}" dt="2025-12-22T13:30:08.878" v="1944" actId="114"/>
          <ac:spMkLst>
            <pc:docMk/>
            <pc:sldMk cId="542633763" sldId="277"/>
            <ac:spMk id="9" creationId="{3C7FBA32-85DE-EFE7-0D4A-994A972D3294}"/>
          </ac:spMkLst>
        </pc:spChg>
        <pc:spChg chg="mod">
          <ac:chgData name="Luke Gaffney" userId="6fa697cc8cd57f76" providerId="LiveId" clId="{528BD4CA-A453-43AA-8F73-3E975C3B2CFE}" dt="2026-01-05T15:38:02.084" v="3262" actId="1582"/>
          <ac:spMkLst>
            <pc:docMk/>
            <pc:sldMk cId="542633763" sldId="277"/>
            <ac:spMk id="50" creationId="{7B064B8D-B47F-4375-2B50-CF6CF3893C03}"/>
          </ac:spMkLst>
        </pc:spChg>
        <pc:spChg chg="mod">
          <ac:chgData name="Luke Gaffney" userId="6fa697cc8cd57f76" providerId="LiveId" clId="{528BD4CA-A453-43AA-8F73-3E975C3B2CFE}" dt="2026-01-05T15:38:27.580" v="3267" actId="1582"/>
          <ac:spMkLst>
            <pc:docMk/>
            <pc:sldMk cId="542633763" sldId="277"/>
            <ac:spMk id="53" creationId="{A0F0684F-4197-6064-55B4-98EB35BEC608}"/>
          </ac:spMkLst>
        </pc:spChg>
        <pc:spChg chg="mod">
          <ac:chgData name="Luke Gaffney" userId="6fa697cc8cd57f76" providerId="LiveId" clId="{528BD4CA-A453-43AA-8F73-3E975C3B2CFE}" dt="2026-01-05T15:38:07.324" v="3263" actId="1582"/>
          <ac:spMkLst>
            <pc:docMk/>
            <pc:sldMk cId="542633763" sldId="277"/>
            <ac:spMk id="54" creationId="{1EDDE1D7-883C-62FF-3687-9FBB1577874D}"/>
          </ac:spMkLst>
        </pc:spChg>
        <pc:spChg chg="mod">
          <ac:chgData name="Luke Gaffney" userId="6fa697cc8cd57f76" providerId="LiveId" clId="{528BD4CA-A453-43AA-8F73-3E975C3B2CFE}" dt="2026-01-05T15:38:38.742" v="3269" actId="1582"/>
          <ac:spMkLst>
            <pc:docMk/>
            <pc:sldMk cId="542633763" sldId="277"/>
            <ac:spMk id="55" creationId="{F9704708-6D90-46C9-1CAE-40013BD95D43}"/>
          </ac:spMkLst>
        </pc:spChg>
        <pc:spChg chg="mod">
          <ac:chgData name="Luke Gaffney" userId="6fa697cc8cd57f76" providerId="LiveId" clId="{528BD4CA-A453-43AA-8F73-3E975C3B2CFE}" dt="2026-01-05T15:38:17.174" v="3265" actId="1582"/>
          <ac:spMkLst>
            <pc:docMk/>
            <pc:sldMk cId="542633763" sldId="277"/>
            <ac:spMk id="56" creationId="{F92D9006-4F0B-4761-2C1A-A8C48A31A008}"/>
          </ac:spMkLst>
        </pc:spChg>
        <pc:spChg chg="mod">
          <ac:chgData name="Luke Gaffney" userId="6fa697cc8cd57f76" providerId="LiveId" clId="{528BD4CA-A453-43AA-8F73-3E975C3B2CFE}" dt="2026-01-05T15:38:21.822" v="3266" actId="1582"/>
          <ac:spMkLst>
            <pc:docMk/>
            <pc:sldMk cId="542633763" sldId="277"/>
            <ac:spMk id="57" creationId="{32D69E2D-ACD2-E3BF-DC2D-FE6E5D6DFB26}"/>
          </ac:spMkLst>
        </pc:spChg>
        <pc:spChg chg="mod">
          <ac:chgData name="Luke Gaffney" userId="6fa697cc8cd57f76" providerId="LiveId" clId="{528BD4CA-A453-43AA-8F73-3E975C3B2CFE}" dt="2026-01-05T15:38:32.873" v="3268" actId="1582"/>
          <ac:spMkLst>
            <pc:docMk/>
            <pc:sldMk cId="542633763" sldId="277"/>
            <ac:spMk id="58" creationId="{A2B05C51-F692-ADF1-1A14-326A496A24C3}"/>
          </ac:spMkLst>
        </pc:spChg>
        <pc:spChg chg="mod">
          <ac:chgData name="Luke Gaffney" userId="6fa697cc8cd57f76" providerId="LiveId" clId="{528BD4CA-A453-43AA-8F73-3E975C3B2CFE}" dt="2026-01-05T15:38:12.642" v="3264" actId="1582"/>
          <ac:spMkLst>
            <pc:docMk/>
            <pc:sldMk cId="542633763" sldId="277"/>
            <ac:spMk id="60" creationId="{9BFF97D0-ED64-E128-C274-C00499EFFAE4}"/>
          </ac:spMkLst>
        </pc:spChg>
        <pc:spChg chg="mod">
          <ac:chgData name="Luke Gaffney" userId="6fa697cc8cd57f76" providerId="LiveId" clId="{528BD4CA-A453-43AA-8F73-3E975C3B2CFE}" dt="2025-12-20T01:38:31.975" v="1738" actId="20577"/>
          <ac:spMkLst>
            <pc:docMk/>
            <pc:sldMk cId="542633763" sldId="277"/>
            <ac:spMk id="62" creationId="{EC08A544-DE54-C799-B423-36CDCF2C5E78}"/>
          </ac:spMkLst>
        </pc:spChg>
        <pc:spChg chg="mod">
          <ac:chgData name="Luke Gaffney" userId="6fa697cc8cd57f76" providerId="LiveId" clId="{528BD4CA-A453-43AA-8F73-3E975C3B2CFE}" dt="2025-12-20T01:38:38.957" v="1750" actId="20577"/>
          <ac:spMkLst>
            <pc:docMk/>
            <pc:sldMk cId="542633763" sldId="277"/>
            <ac:spMk id="63" creationId="{5CDB8C99-1CCB-5587-C46B-2A5DF5A29899}"/>
          </ac:spMkLst>
        </pc:spChg>
        <pc:spChg chg="mod">
          <ac:chgData name="Luke Gaffney" userId="6fa697cc8cd57f76" providerId="LiveId" clId="{528BD4CA-A453-43AA-8F73-3E975C3B2CFE}" dt="2025-12-20T13:40:53.595" v="1826" actId="20577"/>
          <ac:spMkLst>
            <pc:docMk/>
            <pc:sldMk cId="542633763" sldId="277"/>
            <ac:spMk id="65" creationId="{40D337F7-9BCF-4A96-AD0F-AE467E9DF863}"/>
          </ac:spMkLst>
        </pc:spChg>
        <pc:spChg chg="mod">
          <ac:chgData name="Luke Gaffney" userId="6fa697cc8cd57f76" providerId="LiveId" clId="{528BD4CA-A453-43AA-8F73-3E975C3B2CFE}" dt="2025-12-22T13:28:19.515" v="1920" actId="20577"/>
          <ac:spMkLst>
            <pc:docMk/>
            <pc:sldMk cId="542633763" sldId="277"/>
            <ac:spMk id="67" creationId="{CD7201A7-9E3A-067E-7422-34FDC06F2DFB}"/>
          </ac:spMkLst>
        </pc:spChg>
      </pc:sldChg>
      <pc:sldChg chg="addSp delSp modSp mod setBg modNotesTx">
        <pc:chgData name="Luke Gaffney" userId="6fa697cc8cd57f76" providerId="LiveId" clId="{528BD4CA-A453-43AA-8F73-3E975C3B2CFE}" dt="2026-01-06T19:46:42.398" v="4512" actId="313"/>
        <pc:sldMkLst>
          <pc:docMk/>
          <pc:sldMk cId="835599444" sldId="278"/>
        </pc:sldMkLst>
        <pc:spChg chg="mod">
          <ac:chgData name="Luke Gaffney" userId="6fa697cc8cd57f76" providerId="LiveId" clId="{528BD4CA-A453-43AA-8F73-3E975C3B2CFE}" dt="2025-12-18T20:12:34.010" v="973" actId="113"/>
          <ac:spMkLst>
            <pc:docMk/>
            <pc:sldMk cId="835599444" sldId="278"/>
            <ac:spMk id="2" creationId="{0D3BA9AF-2BD7-97AC-F960-51216C2F9482}"/>
          </ac:spMkLst>
        </pc:spChg>
        <pc:spChg chg="add mod">
          <ac:chgData name="Luke Gaffney" userId="6fa697cc8cd57f76" providerId="LiveId" clId="{528BD4CA-A453-43AA-8F73-3E975C3B2CFE}" dt="2025-12-23T20:27:11.049" v="2835" actId="20577"/>
          <ac:spMkLst>
            <pc:docMk/>
            <pc:sldMk cId="835599444" sldId="278"/>
            <ac:spMk id="61" creationId="{BFD046D5-C800-2F5C-68F0-9AD62A89727F}"/>
          </ac:spMkLst>
        </pc:spChg>
      </pc:sldChg>
      <pc:sldChg chg="addSp delSp modSp mod setBg modNotesTx">
        <pc:chgData name="Luke Gaffney" userId="6fa697cc8cd57f76" providerId="LiveId" clId="{528BD4CA-A453-43AA-8F73-3E975C3B2CFE}" dt="2026-01-07T02:51:39.549" v="5132" actId="20577"/>
        <pc:sldMkLst>
          <pc:docMk/>
          <pc:sldMk cId="1987554360" sldId="280"/>
        </pc:sldMkLst>
        <pc:spChg chg="mod">
          <ac:chgData name="Luke Gaffney" userId="6fa697cc8cd57f76" providerId="LiveId" clId="{528BD4CA-A453-43AA-8F73-3E975C3B2CFE}" dt="2026-01-07T02:50:54.443" v="5104" actId="20577"/>
          <ac:spMkLst>
            <pc:docMk/>
            <pc:sldMk cId="1987554360" sldId="280"/>
            <ac:spMk id="2" creationId="{29061BB3-7E15-2851-2DDF-7643C2B84269}"/>
          </ac:spMkLst>
        </pc:spChg>
        <pc:spChg chg="add mod">
          <ac:chgData name="Luke Gaffney" userId="6fa697cc8cd57f76" providerId="LiveId" clId="{528BD4CA-A453-43AA-8F73-3E975C3B2CFE}" dt="2025-12-22T13:30:24.369" v="1953"/>
          <ac:spMkLst>
            <pc:docMk/>
            <pc:sldMk cId="1987554360" sldId="280"/>
            <ac:spMk id="7" creationId="{F8680954-FCF1-9813-090F-D0E3B62B1BC5}"/>
          </ac:spMkLst>
        </pc:spChg>
        <pc:spChg chg="add mod">
          <ac:chgData name="Luke Gaffney" userId="6fa697cc8cd57f76" providerId="LiveId" clId="{528BD4CA-A453-43AA-8F73-3E975C3B2CFE}" dt="2025-12-22T13:34:51.592" v="1973" actId="1076"/>
          <ac:spMkLst>
            <pc:docMk/>
            <pc:sldMk cId="1987554360" sldId="280"/>
            <ac:spMk id="21" creationId="{600A8C6F-BFC4-607E-3627-E251A8A378A6}"/>
          </ac:spMkLst>
        </pc:spChg>
        <pc:picChg chg="add mod">
          <ac:chgData name="Luke Gaffney" userId="6fa697cc8cd57f76" providerId="LiveId" clId="{528BD4CA-A453-43AA-8F73-3E975C3B2CFE}" dt="2026-01-05T15:29:48.021" v="3204" actId="1076"/>
          <ac:picMkLst>
            <pc:docMk/>
            <pc:sldMk cId="1987554360" sldId="280"/>
            <ac:picMk id="4" creationId="{052B4196-3BE3-0CE2-9267-4AB6AD95E0C0}"/>
          </ac:picMkLst>
        </pc:picChg>
      </pc:sldChg>
      <pc:sldChg chg="addSp delSp modSp mod setBg modNotesTx">
        <pc:chgData name="Luke Gaffney" userId="6fa697cc8cd57f76" providerId="LiveId" clId="{528BD4CA-A453-43AA-8F73-3E975C3B2CFE}" dt="2026-01-07T14:23:34.233" v="5157" actId="20577"/>
        <pc:sldMkLst>
          <pc:docMk/>
          <pc:sldMk cId="2767592310" sldId="282"/>
        </pc:sldMkLst>
        <pc:spChg chg="mod">
          <ac:chgData name="Luke Gaffney" userId="6fa697cc8cd57f76" providerId="LiveId" clId="{528BD4CA-A453-43AA-8F73-3E975C3B2CFE}" dt="2026-01-07T14:23:34.233" v="5157" actId="20577"/>
          <ac:spMkLst>
            <pc:docMk/>
            <pc:sldMk cId="2767592310" sldId="282"/>
            <ac:spMk id="2" creationId="{9CD3A3AA-476B-A498-4856-A7F18AA6D853}"/>
          </ac:spMkLst>
        </pc:spChg>
        <pc:spChg chg="add mod">
          <ac:chgData name="Luke Gaffney" userId="6fa697cc8cd57f76" providerId="LiveId" clId="{528BD4CA-A453-43AA-8F73-3E975C3B2CFE}" dt="2025-12-22T13:30:51.083" v="1961"/>
          <ac:spMkLst>
            <pc:docMk/>
            <pc:sldMk cId="2767592310" sldId="282"/>
            <ac:spMk id="5" creationId="{02DDFBE0-D271-E4EC-47A5-AABCE4FE7865}"/>
          </ac:spMkLst>
        </pc:spChg>
        <pc:spChg chg="mod">
          <ac:chgData name="Luke Gaffney" userId="6fa697cc8cd57f76" providerId="LiveId" clId="{528BD4CA-A453-43AA-8F73-3E975C3B2CFE}" dt="2025-12-23T20:21:23.712" v="2828" actId="1076"/>
          <ac:spMkLst>
            <pc:docMk/>
            <pc:sldMk cId="2767592310" sldId="282"/>
            <ac:spMk id="6" creationId="{7C17B134-C5BC-C626-F537-43616E13A7E1}"/>
          </ac:spMkLst>
        </pc:spChg>
        <pc:spChg chg="add mod">
          <ac:chgData name="Luke Gaffney" userId="6fa697cc8cd57f76" providerId="LiveId" clId="{528BD4CA-A453-43AA-8F73-3E975C3B2CFE}" dt="2025-12-18T20:29:05.070" v="1112" actId="1076"/>
          <ac:spMkLst>
            <pc:docMk/>
            <pc:sldMk cId="2767592310" sldId="282"/>
            <ac:spMk id="10" creationId="{0C14E7C4-BD1E-A981-A7EF-4E5642FCA054}"/>
          </ac:spMkLst>
        </pc:spChg>
        <pc:spChg chg="add mod">
          <ac:chgData name="Luke Gaffney" userId="6fa697cc8cd57f76" providerId="LiveId" clId="{528BD4CA-A453-43AA-8F73-3E975C3B2CFE}" dt="2025-12-18T20:29:23.438" v="1117" actId="1076"/>
          <ac:spMkLst>
            <pc:docMk/>
            <pc:sldMk cId="2767592310" sldId="282"/>
            <ac:spMk id="11" creationId="{B14B5E4F-FAE5-273D-4212-BDC05E0394AC}"/>
          </ac:spMkLst>
        </pc:spChg>
        <pc:spChg chg="add mod">
          <ac:chgData name="Luke Gaffney" userId="6fa697cc8cd57f76" providerId="LiveId" clId="{528BD4CA-A453-43AA-8F73-3E975C3B2CFE}" dt="2025-12-18T20:29:35.177" v="1119" actId="1076"/>
          <ac:spMkLst>
            <pc:docMk/>
            <pc:sldMk cId="2767592310" sldId="282"/>
            <ac:spMk id="12" creationId="{106330F7-4175-F54E-5BFC-7E5FDF1409EC}"/>
          </ac:spMkLst>
        </pc:spChg>
        <pc:picChg chg="add mod">
          <ac:chgData name="Luke Gaffney" userId="6fa697cc8cd57f76" providerId="LiveId" clId="{528BD4CA-A453-43AA-8F73-3E975C3B2CFE}" dt="2026-01-05T15:35:35.521" v="3224" actId="1076"/>
          <ac:picMkLst>
            <pc:docMk/>
            <pc:sldMk cId="2767592310" sldId="282"/>
            <ac:picMk id="4" creationId="{19AD51AE-DF4F-6B5B-A05A-423474F3BDF8}"/>
          </ac:picMkLst>
        </pc:picChg>
        <pc:cxnChg chg="add mod">
          <ac:chgData name="Luke Gaffney" userId="6fa697cc8cd57f76" providerId="LiveId" clId="{528BD4CA-A453-43AA-8F73-3E975C3B2CFE}" dt="2025-12-18T20:29:12.594" v="1114" actId="1076"/>
          <ac:cxnSpMkLst>
            <pc:docMk/>
            <pc:sldMk cId="2767592310" sldId="282"/>
            <ac:cxnSpMk id="14" creationId="{8B58EA03-6D38-5D8F-C94A-F215E27DE5F9}"/>
          </ac:cxnSpMkLst>
        </pc:cxnChg>
      </pc:sldChg>
      <pc:sldChg chg="addSp delSp modSp mod setBg modNotesTx">
        <pc:chgData name="Luke Gaffney" userId="6fa697cc8cd57f76" providerId="LiveId" clId="{528BD4CA-A453-43AA-8F73-3E975C3B2CFE}" dt="2026-01-06T20:02:57.871" v="4935" actId="20577"/>
        <pc:sldMkLst>
          <pc:docMk/>
          <pc:sldMk cId="2267194495" sldId="283"/>
        </pc:sldMkLst>
        <pc:spChg chg="mod">
          <ac:chgData name="Luke Gaffney" userId="6fa697cc8cd57f76" providerId="LiveId" clId="{528BD4CA-A453-43AA-8F73-3E975C3B2CFE}" dt="2025-12-18T20:12:55.663" v="976" actId="113"/>
          <ac:spMkLst>
            <pc:docMk/>
            <pc:sldMk cId="2267194495" sldId="283"/>
            <ac:spMk id="2" creationId="{FF5C7DD5-93F4-87B9-7BE2-CF7C4DD653E2}"/>
          </ac:spMkLst>
        </pc:spChg>
        <pc:spChg chg="add mod">
          <ac:chgData name="Luke Gaffney" userId="6fa697cc8cd57f76" providerId="LiveId" clId="{528BD4CA-A453-43AA-8F73-3E975C3B2CFE}" dt="2025-12-22T13:30:40.917" v="1959"/>
          <ac:spMkLst>
            <pc:docMk/>
            <pc:sldMk cId="2267194495" sldId="283"/>
            <ac:spMk id="5" creationId="{47234CCC-923A-7AC6-E216-680BA1BD92B6}"/>
          </ac:spMkLst>
        </pc:spChg>
        <pc:spChg chg="add mod">
          <ac:chgData name="Luke Gaffney" userId="6fa697cc8cd57f76" providerId="LiveId" clId="{528BD4CA-A453-43AA-8F73-3E975C3B2CFE}" dt="2025-12-23T19:20:30.645" v="2317" actId="20577"/>
          <ac:spMkLst>
            <pc:docMk/>
            <pc:sldMk cId="2267194495" sldId="283"/>
            <ac:spMk id="8" creationId="{9D29D358-04B9-5357-361B-0994D1A9FA6E}"/>
          </ac:spMkLst>
        </pc:spChg>
        <pc:picChg chg="add mod">
          <ac:chgData name="Luke Gaffney" userId="6fa697cc8cd57f76" providerId="LiveId" clId="{528BD4CA-A453-43AA-8F73-3E975C3B2CFE}" dt="2026-01-05T15:36:05.521" v="3233" actId="1076"/>
          <ac:picMkLst>
            <pc:docMk/>
            <pc:sldMk cId="2267194495" sldId="283"/>
            <ac:picMk id="4" creationId="{7E3D6DB2-8495-5ABC-2FAB-2F1449DB5C6C}"/>
          </ac:picMkLst>
        </pc:picChg>
      </pc:sldChg>
      <pc:sldChg chg="addSp delSp modSp mod setBg modNotesTx">
        <pc:chgData name="Luke Gaffney" userId="6fa697cc8cd57f76" providerId="LiveId" clId="{528BD4CA-A453-43AA-8F73-3E975C3B2CFE}" dt="2026-01-07T14:23:48.297" v="5158" actId="255"/>
        <pc:sldMkLst>
          <pc:docMk/>
          <pc:sldMk cId="3664452497" sldId="284"/>
        </pc:sldMkLst>
        <pc:spChg chg="mod">
          <ac:chgData name="Luke Gaffney" userId="6fa697cc8cd57f76" providerId="LiveId" clId="{528BD4CA-A453-43AA-8F73-3E975C3B2CFE}" dt="2026-01-07T14:23:48.297" v="5158" actId="255"/>
          <ac:spMkLst>
            <pc:docMk/>
            <pc:sldMk cId="3664452497" sldId="284"/>
            <ac:spMk id="2" creationId="{51F9CD1A-A750-7D78-ECE6-CEB7E83AE85A}"/>
          </ac:spMkLst>
        </pc:spChg>
        <pc:spChg chg="add mod">
          <ac:chgData name="Luke Gaffney" userId="6fa697cc8cd57f76" providerId="LiveId" clId="{528BD4CA-A453-43AA-8F73-3E975C3B2CFE}" dt="2026-01-06T20:04:09.635" v="4939" actId="20577"/>
          <ac:spMkLst>
            <pc:docMk/>
            <pc:sldMk cId="3664452497" sldId="284"/>
            <ac:spMk id="5" creationId="{44BA4203-4B1F-29D4-9B45-1F495A7BBED2}"/>
          </ac:spMkLst>
        </pc:spChg>
        <pc:spChg chg="add mod">
          <ac:chgData name="Luke Gaffney" userId="6fa697cc8cd57f76" providerId="LiveId" clId="{528BD4CA-A453-43AA-8F73-3E975C3B2CFE}" dt="2025-12-22T13:31:09.968" v="1964"/>
          <ac:spMkLst>
            <pc:docMk/>
            <pc:sldMk cId="3664452497" sldId="284"/>
            <ac:spMk id="7" creationId="{CD2A6343-3F32-E1BA-2F4E-58ECF4E926AE}"/>
          </ac:spMkLst>
        </pc:spChg>
        <pc:picChg chg="add mod">
          <ac:chgData name="Luke Gaffney" userId="6fa697cc8cd57f76" providerId="LiveId" clId="{528BD4CA-A453-43AA-8F73-3E975C3B2CFE}" dt="2026-01-05T15:36:36.189" v="3242" actId="14100"/>
          <ac:picMkLst>
            <pc:docMk/>
            <pc:sldMk cId="3664452497" sldId="284"/>
            <ac:picMk id="4" creationId="{F198F5E3-645C-D31C-F4C1-30BCE2265AB2}"/>
          </ac:picMkLst>
        </pc:picChg>
      </pc:sldChg>
      <pc:sldChg chg="addSp modSp mod setBg modNotesTx">
        <pc:chgData name="Luke Gaffney" userId="6fa697cc8cd57f76" providerId="LiveId" clId="{528BD4CA-A453-43AA-8F73-3E975C3B2CFE}" dt="2026-01-07T02:59:31.137" v="5151" actId="20577"/>
        <pc:sldMkLst>
          <pc:docMk/>
          <pc:sldMk cId="3434264560" sldId="285"/>
        </pc:sldMkLst>
        <pc:spChg chg="mod">
          <ac:chgData name="Luke Gaffney" userId="6fa697cc8cd57f76" providerId="LiveId" clId="{528BD4CA-A453-43AA-8F73-3E975C3B2CFE}" dt="2025-12-18T20:13:41.767" v="988" actId="255"/>
          <ac:spMkLst>
            <pc:docMk/>
            <pc:sldMk cId="3434264560" sldId="285"/>
            <ac:spMk id="2" creationId="{B0E19932-3748-B970-1992-0517CEAD921D}"/>
          </ac:spMkLst>
        </pc:spChg>
        <pc:spChg chg="add mod">
          <ac:chgData name="Luke Gaffney" userId="6fa697cc8cd57f76" providerId="LiveId" clId="{528BD4CA-A453-43AA-8F73-3E975C3B2CFE}" dt="2026-01-07T02:59:31.137" v="5151" actId="20577"/>
          <ac:spMkLst>
            <pc:docMk/>
            <pc:sldMk cId="3434264560" sldId="285"/>
            <ac:spMk id="3" creationId="{8A614149-FDAB-936D-306E-4186EFF4198E}"/>
          </ac:spMkLst>
        </pc:spChg>
      </pc:sldChg>
      <pc:sldChg chg="addSp modSp mod setBg modNotesTx">
        <pc:chgData name="Luke Gaffney" userId="6fa697cc8cd57f76" providerId="LiveId" clId="{528BD4CA-A453-43AA-8F73-3E975C3B2CFE}" dt="2026-01-06T14:49:53.968" v="4214" actId="20577"/>
        <pc:sldMkLst>
          <pc:docMk/>
          <pc:sldMk cId="3314449408" sldId="286"/>
        </pc:sldMkLst>
        <pc:spChg chg="mod">
          <ac:chgData name="Luke Gaffney" userId="6fa697cc8cd57f76" providerId="LiveId" clId="{528BD4CA-A453-43AA-8F73-3E975C3B2CFE}" dt="2025-12-18T20:13:35.248" v="986" actId="113"/>
          <ac:spMkLst>
            <pc:docMk/>
            <pc:sldMk cId="3314449408" sldId="286"/>
            <ac:spMk id="2" creationId="{321E8CED-2FC4-4AB1-9316-5EC71D806FF8}"/>
          </ac:spMkLst>
        </pc:spChg>
        <pc:spChg chg="add mod">
          <ac:chgData name="Luke Gaffney" userId="6fa697cc8cd57f76" providerId="LiveId" clId="{528BD4CA-A453-43AA-8F73-3E975C3B2CFE}" dt="2025-12-19T17:00:16.004" v="1632" actId="20577"/>
          <ac:spMkLst>
            <pc:docMk/>
            <pc:sldMk cId="3314449408" sldId="286"/>
            <ac:spMk id="4" creationId="{85D7D54C-61CE-1353-4D47-22F7C28900B4}"/>
          </ac:spMkLst>
        </pc:spChg>
      </pc:sldChg>
      <pc:sldChg chg="addSp delSp modSp mod ord setBg modNotesTx">
        <pc:chgData name="Luke Gaffney" userId="6fa697cc8cd57f76" providerId="LiveId" clId="{528BD4CA-A453-43AA-8F73-3E975C3B2CFE}" dt="2026-01-07T03:01:50.920" v="5153"/>
        <pc:sldMkLst>
          <pc:docMk/>
          <pc:sldMk cId="2071100020" sldId="287"/>
        </pc:sldMkLst>
        <pc:spChg chg="mod">
          <ac:chgData name="Luke Gaffney" userId="6fa697cc8cd57f76" providerId="LiveId" clId="{528BD4CA-A453-43AA-8F73-3E975C3B2CFE}" dt="2025-12-18T20:13:28.121" v="984" actId="113"/>
          <ac:spMkLst>
            <pc:docMk/>
            <pc:sldMk cId="2071100020" sldId="287"/>
            <ac:spMk id="2" creationId="{B0872236-0092-44E2-42F3-D0FFBC7801D7}"/>
          </ac:spMkLst>
        </pc:spChg>
        <pc:spChg chg="add mod">
          <ac:chgData name="Luke Gaffney" userId="6fa697cc8cd57f76" providerId="LiveId" clId="{528BD4CA-A453-43AA-8F73-3E975C3B2CFE}" dt="2025-12-23T19:25:37.908" v="2348" actId="20577"/>
          <ac:spMkLst>
            <pc:docMk/>
            <pc:sldMk cId="2071100020" sldId="287"/>
            <ac:spMk id="6" creationId="{B003664B-4843-8B17-5A4C-50D54A7CADC5}"/>
          </ac:spMkLst>
        </pc:spChg>
      </pc:sldChg>
      <pc:sldChg chg="addSp delSp modSp mod setBg modNotesTx">
        <pc:chgData name="Luke Gaffney" userId="6fa697cc8cd57f76" providerId="LiveId" clId="{528BD4CA-A453-43AA-8F73-3E975C3B2CFE}" dt="2026-01-06T20:10:07.087" v="5098" actId="20577"/>
        <pc:sldMkLst>
          <pc:docMk/>
          <pc:sldMk cId="3684625901" sldId="288"/>
        </pc:sldMkLst>
        <pc:spChg chg="mod">
          <ac:chgData name="Luke Gaffney" userId="6fa697cc8cd57f76" providerId="LiveId" clId="{528BD4CA-A453-43AA-8F73-3E975C3B2CFE}" dt="2026-01-05T16:37:38.938" v="3324" actId="255"/>
          <ac:spMkLst>
            <pc:docMk/>
            <pc:sldMk cId="3684625901" sldId="288"/>
            <ac:spMk id="2" creationId="{D13892BC-B838-0EBB-9CE6-B92041741EEF}"/>
          </ac:spMkLst>
        </pc:spChg>
        <pc:spChg chg="add mod">
          <ac:chgData name="Luke Gaffney" userId="6fa697cc8cd57f76" providerId="LiveId" clId="{528BD4CA-A453-43AA-8F73-3E975C3B2CFE}" dt="2026-01-05T19:16:18.881" v="3857" actId="20577"/>
          <ac:spMkLst>
            <pc:docMk/>
            <pc:sldMk cId="3684625901" sldId="288"/>
            <ac:spMk id="5" creationId="{FD65859E-3885-553F-D101-4DA042CB4B7F}"/>
          </ac:spMkLst>
        </pc:spChg>
        <pc:spChg chg="add mod">
          <ac:chgData name="Luke Gaffney" userId="6fa697cc8cd57f76" providerId="LiveId" clId="{528BD4CA-A453-43AA-8F73-3E975C3B2CFE}" dt="2025-12-22T13:31:24.977" v="1969"/>
          <ac:spMkLst>
            <pc:docMk/>
            <pc:sldMk cId="3684625901" sldId="288"/>
            <ac:spMk id="7" creationId="{AAB38F1D-65AE-4A13-42AF-46651D5EDEFA}"/>
          </ac:spMkLst>
        </pc:spChg>
        <pc:picChg chg="add mod">
          <ac:chgData name="Luke Gaffney" userId="6fa697cc8cd57f76" providerId="LiveId" clId="{528BD4CA-A453-43AA-8F73-3E975C3B2CFE}" dt="2026-01-05T16:35:04.922" v="3317" actId="14100"/>
          <ac:picMkLst>
            <pc:docMk/>
            <pc:sldMk cId="3684625901" sldId="288"/>
            <ac:picMk id="10" creationId="{A692C29B-25EE-7B86-E930-B1F4C2FEA138}"/>
          </ac:picMkLst>
        </pc:picChg>
      </pc:sldChg>
      <pc:sldChg chg="addSp delSp modSp add mod setBg modNotesTx">
        <pc:chgData name="Luke Gaffney" userId="6fa697cc8cd57f76" providerId="LiveId" clId="{528BD4CA-A453-43AA-8F73-3E975C3B2CFE}" dt="2026-01-07T14:23:55.997" v="5159" actId="255"/>
        <pc:sldMkLst>
          <pc:docMk/>
          <pc:sldMk cId="1769301805" sldId="290"/>
        </pc:sldMkLst>
        <pc:spChg chg="mod">
          <ac:chgData name="Luke Gaffney" userId="6fa697cc8cd57f76" providerId="LiveId" clId="{528BD4CA-A453-43AA-8F73-3E975C3B2CFE}" dt="2026-01-07T14:23:55.997" v="5159" actId="255"/>
          <ac:spMkLst>
            <pc:docMk/>
            <pc:sldMk cId="1769301805" sldId="290"/>
            <ac:spMk id="2" creationId="{F3F3FCB4-8A99-77D8-DB09-84A061141F35}"/>
          </ac:spMkLst>
        </pc:spChg>
        <pc:spChg chg="add mod">
          <ac:chgData name="Luke Gaffney" userId="6fa697cc8cd57f76" providerId="LiveId" clId="{528BD4CA-A453-43AA-8F73-3E975C3B2CFE}" dt="2025-12-23T19:21:55.272" v="2341" actId="20577"/>
          <ac:spMkLst>
            <pc:docMk/>
            <pc:sldMk cId="1769301805" sldId="290"/>
            <ac:spMk id="3" creationId="{7F57997F-3107-1310-A949-2FE70FD3D3B0}"/>
          </ac:spMkLst>
        </pc:spChg>
        <pc:spChg chg="add mod">
          <ac:chgData name="Luke Gaffney" userId="6fa697cc8cd57f76" providerId="LiveId" clId="{528BD4CA-A453-43AA-8F73-3E975C3B2CFE}" dt="2025-12-22T13:31:20.165" v="1967"/>
          <ac:spMkLst>
            <pc:docMk/>
            <pc:sldMk cId="1769301805" sldId="290"/>
            <ac:spMk id="7" creationId="{A004F379-19A0-C0B8-020A-433A7D73BA73}"/>
          </ac:spMkLst>
        </pc:spChg>
        <pc:picChg chg="add mod">
          <ac:chgData name="Luke Gaffney" userId="6fa697cc8cd57f76" providerId="LiveId" clId="{528BD4CA-A453-43AA-8F73-3E975C3B2CFE}" dt="2026-01-05T15:37:04.089" v="3252" actId="1076"/>
          <ac:picMkLst>
            <pc:docMk/>
            <pc:sldMk cId="1769301805" sldId="290"/>
            <ac:picMk id="5" creationId="{0910D6F0-3995-51D4-955A-BD9C74CF6157}"/>
          </ac:picMkLst>
        </pc:picChg>
      </pc:sldChg>
      <pc:sldChg chg="modSp add mod setBg modNotesTx">
        <pc:chgData name="Luke Gaffney" userId="6fa697cc8cd57f76" providerId="LiveId" clId="{528BD4CA-A453-43AA-8F73-3E975C3B2CFE}" dt="2025-12-23T21:19:30.448" v="2858"/>
        <pc:sldMkLst>
          <pc:docMk/>
          <pc:sldMk cId="2960301856" sldId="291"/>
        </pc:sldMkLst>
        <pc:spChg chg="mod">
          <ac:chgData name="Luke Gaffney" userId="6fa697cc8cd57f76" providerId="LiveId" clId="{528BD4CA-A453-43AA-8F73-3E975C3B2CFE}" dt="2025-12-22T15:15:36.138" v="2084" actId="20577"/>
          <ac:spMkLst>
            <pc:docMk/>
            <pc:sldMk cId="2960301856" sldId="291"/>
            <ac:spMk id="2" creationId="{2822C743-1514-89D4-2DAD-3E9F08CB440F}"/>
          </ac:spMkLst>
        </pc:spChg>
        <pc:spChg chg="mod">
          <ac:chgData name="Luke Gaffney" userId="6fa697cc8cd57f76" providerId="LiveId" clId="{528BD4CA-A453-43AA-8F73-3E975C3B2CFE}" dt="2025-12-22T15:15:58.873" v="2104" actId="1076"/>
          <ac:spMkLst>
            <pc:docMk/>
            <pc:sldMk cId="2960301856" sldId="291"/>
            <ac:spMk id="3" creationId="{717DC6DB-FFF7-A177-A3E3-A53D84FD998F}"/>
          </ac:spMkLst>
        </pc:spChg>
      </pc:sldChg>
      <pc:sldChg chg="modSp add mod setBg modNotesTx">
        <pc:chgData name="Luke Gaffney" userId="6fa697cc8cd57f76" providerId="LiveId" clId="{528BD4CA-A453-43AA-8F73-3E975C3B2CFE}" dt="2026-01-06T19:40:19.247" v="4380" actId="20577"/>
        <pc:sldMkLst>
          <pc:docMk/>
          <pc:sldMk cId="3315056854" sldId="293"/>
        </pc:sldMkLst>
        <pc:spChg chg="mod">
          <ac:chgData name="Luke Gaffney" userId="6fa697cc8cd57f76" providerId="LiveId" clId="{528BD4CA-A453-43AA-8F73-3E975C3B2CFE}" dt="2025-12-23T16:24:33.612" v="2152"/>
          <ac:spMkLst>
            <pc:docMk/>
            <pc:sldMk cId="3315056854" sldId="293"/>
            <ac:spMk id="2" creationId="{CEEC8808-9AEF-CD15-EBA7-1CA3413867B0}"/>
          </ac:spMkLst>
        </pc:spChg>
        <pc:spChg chg="mod">
          <ac:chgData name="Luke Gaffney" userId="6fa697cc8cd57f76" providerId="LiveId" clId="{528BD4CA-A453-43AA-8F73-3E975C3B2CFE}" dt="2025-12-23T20:21:03.529" v="2826" actId="1076"/>
          <ac:spMkLst>
            <pc:docMk/>
            <pc:sldMk cId="3315056854" sldId="293"/>
            <ac:spMk id="61" creationId="{A581FB95-F069-BC84-88AE-577884E5A698}"/>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9DC4030-9B2D-4C56-AA99-33874DEDBB43}" type="datetimeFigureOut">
              <a:rPr lang="en-US" smtClean="0"/>
              <a:t>1/6/2026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04F93AA-2A77-4ACB-8117-F9E159C9069A}" type="slidenum">
              <a:rPr lang="en-US" smtClean="0"/>
              <a:t>‹#›</a:t>
            </a:fld>
            <a:endParaRPr lang="en-US"/>
          </a:p>
        </p:txBody>
      </p:sp>
    </p:spTree>
    <p:extLst>
      <p:ext uri="{BB962C8B-B14F-4D97-AF65-F5344CB8AC3E}">
        <p14:creationId xmlns:p14="http://schemas.microsoft.com/office/powerpoint/2010/main" val="3618208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sz="1600" b="1" dirty="0"/>
              <a:t>Hi my name is Luke Gaffney and I’m a part of DDA17 with the Nashville Software School</a:t>
            </a:r>
          </a:p>
          <a:p>
            <a:pPr marL="171450" indent="-171450">
              <a:buFont typeface="Arial" panose="020B0604020202020204" pitchFamily="34" charset="0"/>
              <a:buChar char="•"/>
            </a:pPr>
            <a:endParaRPr lang="en-US" sz="1600" b="1" dirty="0"/>
          </a:p>
          <a:p>
            <a:pPr marL="171450" indent="-171450">
              <a:buFont typeface="Arial" panose="020B0604020202020204" pitchFamily="34" charset="0"/>
              <a:buChar char="•"/>
            </a:pPr>
            <a:r>
              <a:rPr lang="en-US" sz="1600" b="1" dirty="0"/>
              <a:t>My capstone project examines how housing affordability changed in Metro Nashville from 2020 through 2023 for single-family homes.</a:t>
            </a:r>
          </a:p>
          <a:p>
            <a:pPr marL="171450" indent="-171450">
              <a:buFont typeface="Arial" panose="020B0604020202020204" pitchFamily="34" charset="0"/>
              <a:buChar char="•"/>
            </a:pPr>
            <a:endParaRPr lang="en-US" sz="1600" b="1" dirty="0"/>
          </a:p>
          <a:p>
            <a:pPr marL="171450" indent="-171450">
              <a:buFont typeface="Arial" panose="020B0604020202020204" pitchFamily="34" charset="0"/>
              <a:buChar char="•"/>
            </a:pPr>
            <a:r>
              <a:rPr lang="en-US" sz="1600" b="1" dirty="0"/>
              <a:t>The reason that I was interested in completing my capstone on this topic is that I have personally bought and sold a house in metro Nashville during this time frame and experienced firsthand how the affordability changed.</a:t>
            </a:r>
          </a:p>
          <a:p>
            <a:pPr marL="171450" indent="-171450">
              <a:buFont typeface="Arial" panose="020B0604020202020204" pitchFamily="34" charset="0"/>
              <a:buChar char="•"/>
            </a:pPr>
            <a:endParaRPr lang="en-US" dirty="0"/>
          </a:p>
        </p:txBody>
      </p:sp>
      <p:sp>
        <p:nvSpPr>
          <p:cNvPr id="4" name="Slide Number Placeholder 3"/>
          <p:cNvSpPr>
            <a:spLocks noGrp="1"/>
          </p:cNvSpPr>
          <p:nvPr>
            <p:ph type="sldNum" sz="quarter" idx="5"/>
          </p:nvPr>
        </p:nvSpPr>
        <p:spPr/>
        <p:txBody>
          <a:bodyPr/>
          <a:lstStyle/>
          <a:p>
            <a:fld id="{F04F93AA-2A77-4ACB-8117-F9E159C9069A}" type="slidenum">
              <a:rPr lang="en-US" smtClean="0"/>
              <a:t>1</a:t>
            </a:fld>
            <a:endParaRPr lang="en-US"/>
          </a:p>
        </p:txBody>
      </p:sp>
    </p:spTree>
    <p:extLst>
      <p:ext uri="{BB962C8B-B14F-4D97-AF65-F5344CB8AC3E}">
        <p14:creationId xmlns:p14="http://schemas.microsoft.com/office/powerpoint/2010/main" val="306054891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b="1" dirty="0"/>
              <a:t>The purpose of this analysis is to evaluate changes in housing affordability in Metro Nashville during a period of market disruption.</a:t>
            </a:r>
          </a:p>
          <a:p>
            <a:pPr marL="171450" indent="-171450">
              <a:buFont typeface="Arial" panose="020B0604020202020204" pitchFamily="34" charset="0"/>
              <a:buChar char="•"/>
            </a:pPr>
            <a:endParaRPr lang="en-US" b="1" dirty="0"/>
          </a:p>
          <a:p>
            <a:pPr marL="171450" indent="-171450">
              <a:buFont typeface="Arial" panose="020B0604020202020204" pitchFamily="34" charset="0"/>
              <a:buChar char="•"/>
            </a:pPr>
            <a:r>
              <a:rPr lang="en-US" b="1" dirty="0"/>
              <a:t>I focused on three key drivers of affordability: home prices, household income, and interest rates.</a:t>
            </a:r>
          </a:p>
          <a:p>
            <a:pPr marL="171450" indent="-171450">
              <a:buFont typeface="Arial" panose="020B0604020202020204" pitchFamily="34" charset="0"/>
              <a:buChar char="•"/>
            </a:pPr>
            <a:endParaRPr lang="en-US" b="1" dirty="0"/>
          </a:p>
          <a:p>
            <a:pPr marL="171450" indent="-171450">
              <a:buFont typeface="Arial" panose="020B0604020202020204" pitchFamily="34" charset="0"/>
              <a:buChar char="•"/>
            </a:pPr>
            <a:r>
              <a:rPr lang="en-US" b="1" dirty="0"/>
              <a:t>In addition to overall trends, I examined ZIP Code-level differences to understand whether some neighborhoods experienced greater affordability pressures than others.</a:t>
            </a:r>
          </a:p>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04F93AA-2A77-4ACB-8117-F9E159C9069A}"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3959142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1000C6-CA7F-0E1E-8CF4-8FB1276922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76476E9-3016-EC17-C647-408C61148C2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86ED9BB-2D2D-F5C2-ABA8-2D4FF19D021B}"/>
              </a:ext>
            </a:extLst>
          </p:cNvPr>
          <p:cNvSpPr>
            <a:spLocks noGrp="1"/>
          </p:cNvSpPr>
          <p:nvPr>
            <p:ph type="body" idx="1"/>
          </p:nvPr>
        </p:nvSpPr>
        <p:spPr/>
        <p:txBody>
          <a:bodyPr/>
          <a:lstStyle/>
          <a:p>
            <a:pPr marL="171450" indent="-171450">
              <a:buFont typeface="Arial" panose="020B0604020202020204" pitchFamily="34" charset="0"/>
              <a:buChar char="•"/>
            </a:pPr>
            <a:r>
              <a:rPr lang="en-US" b="1" dirty="0"/>
              <a:t>This project is guided by four research questions.</a:t>
            </a:r>
          </a:p>
          <a:p>
            <a:pPr marL="171450" indent="-171450">
              <a:buFont typeface="Arial" panose="020B0604020202020204" pitchFamily="34" charset="0"/>
              <a:buChar char="•"/>
            </a:pPr>
            <a:endParaRPr lang="en-US" b="1" dirty="0"/>
          </a:p>
          <a:p>
            <a:pPr marL="171450" indent="-171450">
              <a:buFont typeface="Arial" panose="020B0604020202020204" pitchFamily="34" charset="0"/>
              <a:buChar char="•"/>
            </a:pPr>
            <a:r>
              <a:rPr lang="en-US" b="1" dirty="0"/>
              <a:t>First, I examined how the median home price changed relative to household income.</a:t>
            </a:r>
          </a:p>
          <a:p>
            <a:pPr marL="171450" indent="-171450">
              <a:buFont typeface="Arial" panose="020B0604020202020204" pitchFamily="34" charset="0"/>
              <a:buChar char="•"/>
            </a:pPr>
            <a:endParaRPr lang="en-US" b="1" dirty="0"/>
          </a:p>
          <a:p>
            <a:pPr marL="171450" indent="-171450">
              <a:buFont typeface="Arial" panose="020B0604020202020204" pitchFamily="34" charset="0"/>
              <a:buChar char="•"/>
            </a:pPr>
            <a:r>
              <a:rPr lang="en-US" b="1" dirty="0"/>
              <a:t>Second, I looked at housing market activity, including inventory levels and home sales volume.</a:t>
            </a:r>
          </a:p>
          <a:p>
            <a:pPr marL="171450" indent="-171450">
              <a:buFont typeface="Arial" panose="020B0604020202020204" pitchFamily="34" charset="0"/>
              <a:buChar char="•"/>
            </a:pPr>
            <a:endParaRPr lang="en-US" b="1" dirty="0"/>
          </a:p>
          <a:p>
            <a:pPr marL="171450" indent="-171450">
              <a:buFont typeface="Arial" panose="020B0604020202020204" pitchFamily="34" charset="0"/>
              <a:buChar char="•"/>
            </a:pPr>
            <a:r>
              <a:rPr lang="en-US" b="1" dirty="0"/>
              <a:t>Third, I assessed how rising interest rates affected affordability for a median-income household.</a:t>
            </a:r>
          </a:p>
          <a:p>
            <a:pPr marL="171450" indent="-171450">
              <a:buFont typeface="Arial" panose="020B0604020202020204" pitchFamily="34" charset="0"/>
              <a:buChar char="•"/>
            </a:pPr>
            <a:endParaRPr lang="en-US" b="1" dirty="0"/>
          </a:p>
          <a:p>
            <a:pPr marL="171450" indent="-171450">
              <a:buFont typeface="Arial" panose="020B0604020202020204" pitchFamily="34" charset="0"/>
              <a:buChar char="•"/>
            </a:pPr>
            <a:r>
              <a:rPr lang="en-US" b="1" dirty="0"/>
              <a:t>Finally, I analyzed whether affordability changes were evenly distributed across ZIP codes in Metro Nashville.</a:t>
            </a:r>
          </a:p>
          <a:p>
            <a:endParaRPr lang="en-US" dirty="0"/>
          </a:p>
        </p:txBody>
      </p:sp>
      <p:sp>
        <p:nvSpPr>
          <p:cNvPr id="4" name="Slide Number Placeholder 3">
            <a:extLst>
              <a:ext uri="{FF2B5EF4-FFF2-40B4-BE49-F238E27FC236}">
                <a16:creationId xmlns:a16="http://schemas.microsoft.com/office/drawing/2014/main" id="{DC63E42E-8076-E603-64B6-541295610684}"/>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04F93AA-2A77-4ACB-8117-F9E159C9069A}"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40031166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b="1" dirty="0"/>
              <a:t>This data focuses on Metro Nashville from 2020 through 2023.</a:t>
            </a:r>
          </a:p>
          <a:p>
            <a:pPr marL="171450" indent="-171450">
              <a:buFont typeface="Arial" panose="020B0604020202020204" pitchFamily="34" charset="0"/>
              <a:buChar char="•"/>
            </a:pPr>
            <a:endParaRPr lang="en-US" b="1" dirty="0"/>
          </a:p>
          <a:p>
            <a:pPr marL="171450" indent="-171450">
              <a:buFont typeface="Arial" panose="020B0604020202020204" pitchFamily="34" charset="0"/>
              <a:buChar char="•"/>
            </a:pPr>
            <a:r>
              <a:rPr lang="en-US" b="1" dirty="0"/>
              <a:t>I combined multiple datasets to capture different dimensions of affordability.</a:t>
            </a:r>
          </a:p>
          <a:p>
            <a:pPr marL="171450" indent="-171450">
              <a:buFont typeface="Arial" panose="020B0604020202020204" pitchFamily="34" charset="0"/>
              <a:buChar char="•"/>
            </a:pPr>
            <a:endParaRPr lang="en-US" b="1" dirty="0"/>
          </a:p>
          <a:p>
            <a:pPr marL="171450" indent="-171450">
              <a:buFont typeface="Arial" panose="020B0604020202020204" pitchFamily="34" charset="0"/>
              <a:buChar char="•"/>
            </a:pPr>
            <a:r>
              <a:rPr lang="en-US" b="1" dirty="0"/>
              <a:t>Parcel sales data from the Nashville Data Portal provided transaction prices for single-family homes.</a:t>
            </a:r>
          </a:p>
          <a:p>
            <a:pPr marL="171450" indent="-171450">
              <a:buFont typeface="Arial" panose="020B0604020202020204" pitchFamily="34" charset="0"/>
              <a:buChar char="•"/>
            </a:pPr>
            <a:endParaRPr lang="en-US" b="1" dirty="0"/>
          </a:p>
          <a:p>
            <a:pPr marL="171450" indent="-171450">
              <a:buFont typeface="Arial" panose="020B0604020202020204" pitchFamily="34" charset="0"/>
              <a:buChar char="•"/>
            </a:pPr>
            <a:r>
              <a:rPr lang="en-US" b="1" dirty="0"/>
              <a:t>Redfin Data Center  data provided housing market indicators like inventory and homes sold.</a:t>
            </a:r>
          </a:p>
          <a:p>
            <a:pPr marL="171450" indent="-171450">
              <a:buFont typeface="Arial" panose="020B0604020202020204" pitchFamily="34" charset="0"/>
              <a:buChar char="•"/>
            </a:pPr>
            <a:endParaRPr lang="en-US" b="1" dirty="0"/>
          </a:p>
          <a:p>
            <a:pPr marL="171450" indent="-171450">
              <a:buFont typeface="Arial" panose="020B0604020202020204" pitchFamily="34" charset="0"/>
              <a:buChar char="•"/>
            </a:pPr>
            <a:r>
              <a:rPr lang="en-US" b="1" dirty="0"/>
              <a:t>The US Census ACS data using their API provided median household income at the ZIP code level.</a:t>
            </a:r>
          </a:p>
          <a:p>
            <a:pPr marL="171450" indent="-171450">
              <a:buFont typeface="Arial" panose="020B0604020202020204" pitchFamily="34" charset="0"/>
              <a:buChar char="•"/>
            </a:pPr>
            <a:endParaRPr lang="en-US" b="1" dirty="0"/>
          </a:p>
          <a:p>
            <a:pPr marL="171450" indent="-171450">
              <a:buFont typeface="Arial" panose="020B0604020202020204" pitchFamily="34" charset="0"/>
              <a:buChar char="•"/>
            </a:pPr>
            <a:r>
              <a:rPr lang="en-US" b="1" dirty="0"/>
              <a:t>Mortgage rate data came from the Federal Reserve Economic Data and reflect national 30-year fixed rates.</a:t>
            </a:r>
          </a:p>
          <a:p>
            <a:endParaRPr lang="en-US" dirty="0"/>
          </a:p>
        </p:txBody>
      </p:sp>
      <p:sp>
        <p:nvSpPr>
          <p:cNvPr id="4" name="Slide Number Placeholder 3"/>
          <p:cNvSpPr>
            <a:spLocks noGrp="1"/>
          </p:cNvSpPr>
          <p:nvPr>
            <p:ph type="sldNum" sz="quarter" idx="5"/>
          </p:nvPr>
        </p:nvSpPr>
        <p:spPr/>
        <p:txBody>
          <a:bodyPr/>
          <a:lstStyle/>
          <a:p>
            <a:fld id="{F04F93AA-2A77-4ACB-8117-F9E159C9069A}" type="slidenum">
              <a:rPr lang="en-US" smtClean="0"/>
              <a:t>4</a:t>
            </a:fld>
            <a:endParaRPr lang="en-US"/>
          </a:p>
        </p:txBody>
      </p:sp>
    </p:spTree>
    <p:extLst>
      <p:ext uri="{BB962C8B-B14F-4D97-AF65-F5344CB8AC3E}">
        <p14:creationId xmlns:p14="http://schemas.microsoft.com/office/powerpoint/2010/main" val="326519406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b="1" dirty="0"/>
              <a:t>First, I would like to show a high-level comparison for Nashville comparing the 2020 to the year 2023.</a:t>
            </a:r>
          </a:p>
          <a:p>
            <a:pPr marL="171450" indent="-171450">
              <a:buFont typeface="Arial" panose="020B0604020202020204" pitchFamily="34" charset="0"/>
              <a:buChar char="•"/>
            </a:pPr>
            <a:endParaRPr lang="en-US" b="1" dirty="0"/>
          </a:p>
          <a:p>
            <a:pPr marL="171450" indent="-171450">
              <a:buFont typeface="Arial" panose="020B0604020202020204" pitchFamily="34" charset="0"/>
              <a:buChar char="•"/>
            </a:pPr>
            <a:r>
              <a:rPr lang="en-US" b="1" dirty="0"/>
              <a:t>Median home prices during this time increased from $320,000 to over $437,000.</a:t>
            </a:r>
          </a:p>
          <a:p>
            <a:pPr marL="171450" indent="-171450">
              <a:buFont typeface="Arial" panose="020B0604020202020204" pitchFamily="34" charset="0"/>
              <a:buChar char="•"/>
            </a:pPr>
            <a:endParaRPr lang="en-US" b="1" dirty="0"/>
          </a:p>
          <a:p>
            <a:pPr marL="171450" indent="-171450">
              <a:buFont typeface="Arial" panose="020B0604020202020204" pitchFamily="34" charset="0"/>
              <a:buChar char="•"/>
            </a:pPr>
            <a:r>
              <a:rPr lang="en-US" b="1" dirty="0"/>
              <a:t>Median household income increased as well, but at a slower pace when compared to home prices.</a:t>
            </a:r>
          </a:p>
          <a:p>
            <a:pPr marL="171450" indent="-171450">
              <a:buFont typeface="Arial" panose="020B0604020202020204" pitchFamily="34" charset="0"/>
              <a:buChar char="•"/>
            </a:pPr>
            <a:endParaRPr lang="en-US" b="1" dirty="0"/>
          </a:p>
          <a:p>
            <a:pPr marL="171450" indent="-171450">
              <a:buFont typeface="Arial" panose="020B0604020202020204" pitchFamily="34" charset="0"/>
              <a:buChar char="•"/>
            </a:pPr>
            <a:r>
              <a:rPr lang="en-US" b="1" dirty="0"/>
              <a:t>At the same time, total single-family home sales declined significantly.</a:t>
            </a:r>
          </a:p>
          <a:p>
            <a:pPr marL="171450" indent="-171450">
              <a:buFont typeface="Arial" panose="020B0604020202020204" pitchFamily="34" charset="0"/>
              <a:buChar char="•"/>
            </a:pPr>
            <a:endParaRPr lang="en-US" b="1" dirty="0"/>
          </a:p>
          <a:p>
            <a:pPr marL="171450" indent="-171450">
              <a:buFont typeface="Arial" panose="020B0604020202020204" pitchFamily="34" charset="0"/>
              <a:buChar char="•"/>
            </a:pPr>
            <a:r>
              <a:rPr lang="en-US" b="1" dirty="0"/>
              <a:t>Mortgage rates more than doubled, increasing borrowing costs and reducing affordability.</a:t>
            </a:r>
          </a:p>
          <a:p>
            <a:endParaRPr lang="en-US" dirty="0"/>
          </a:p>
        </p:txBody>
      </p:sp>
      <p:sp>
        <p:nvSpPr>
          <p:cNvPr id="4" name="Slide Number Placeholder 3"/>
          <p:cNvSpPr>
            <a:spLocks noGrp="1"/>
          </p:cNvSpPr>
          <p:nvPr>
            <p:ph type="sldNum" sz="quarter" idx="5"/>
          </p:nvPr>
        </p:nvSpPr>
        <p:spPr/>
        <p:txBody>
          <a:bodyPr/>
          <a:lstStyle/>
          <a:p>
            <a:fld id="{F04F93AA-2A77-4ACB-8117-F9E159C9069A}" type="slidenum">
              <a:rPr lang="en-US" smtClean="0"/>
              <a:t>5</a:t>
            </a:fld>
            <a:endParaRPr lang="en-US"/>
          </a:p>
        </p:txBody>
      </p:sp>
    </p:spTree>
    <p:extLst>
      <p:ext uri="{BB962C8B-B14F-4D97-AF65-F5344CB8AC3E}">
        <p14:creationId xmlns:p14="http://schemas.microsoft.com/office/powerpoint/2010/main" val="171980010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b="1" dirty="0"/>
              <a:t>This visual compares trends in the median home price and median household income over the span of this analysis.</a:t>
            </a:r>
          </a:p>
          <a:p>
            <a:pPr marL="171450" indent="-171450">
              <a:buFont typeface="Arial" panose="020B0604020202020204" pitchFamily="34" charset="0"/>
              <a:buChar char="•"/>
            </a:pPr>
            <a:endParaRPr lang="en-US" b="1" dirty="0"/>
          </a:p>
          <a:p>
            <a:pPr marL="171450" indent="-171450">
              <a:buFont typeface="Arial" panose="020B0604020202020204" pitchFamily="34" charset="0"/>
              <a:buChar char="•"/>
            </a:pPr>
            <a:r>
              <a:rPr lang="en-US" b="1" dirty="0"/>
              <a:t>Home prices increased substantially faster and more significantly than incomes.</a:t>
            </a:r>
          </a:p>
          <a:p>
            <a:pPr marL="171450" indent="-171450">
              <a:buFont typeface="Arial" panose="020B0604020202020204" pitchFamily="34" charset="0"/>
              <a:buChar char="•"/>
            </a:pPr>
            <a:endParaRPr lang="en-US" b="1" dirty="0"/>
          </a:p>
          <a:p>
            <a:pPr marL="171450" indent="-171450">
              <a:buFont typeface="Arial" panose="020B0604020202020204" pitchFamily="34" charset="0"/>
              <a:buChar char="•"/>
            </a:pPr>
            <a:r>
              <a:rPr lang="en-US" b="1" dirty="0"/>
              <a:t>Between 2020 and 2023, prices rose by roughly 37%, while incomes only increased by about 20%.</a:t>
            </a:r>
          </a:p>
          <a:p>
            <a:pPr marL="171450" indent="-171450">
              <a:buFont typeface="Arial" panose="020B0604020202020204" pitchFamily="34" charset="0"/>
              <a:buChar char="•"/>
            </a:pPr>
            <a:endParaRPr lang="en-US" b="1" dirty="0"/>
          </a:p>
          <a:p>
            <a:pPr marL="171450" indent="-171450">
              <a:buFont typeface="Arial" panose="020B0604020202020204" pitchFamily="34" charset="0"/>
              <a:buChar char="•"/>
            </a:pPr>
            <a:r>
              <a:rPr lang="en-US" b="1" dirty="0"/>
              <a:t>This growing gap suggests that affordability worsened even before considering other factors.</a:t>
            </a:r>
          </a:p>
          <a:p>
            <a:endParaRPr lang="en-US" dirty="0"/>
          </a:p>
        </p:txBody>
      </p:sp>
      <p:sp>
        <p:nvSpPr>
          <p:cNvPr id="4" name="Slide Number Placeholder 3"/>
          <p:cNvSpPr>
            <a:spLocks noGrp="1"/>
          </p:cNvSpPr>
          <p:nvPr>
            <p:ph type="sldNum" sz="quarter" idx="5"/>
          </p:nvPr>
        </p:nvSpPr>
        <p:spPr/>
        <p:txBody>
          <a:bodyPr/>
          <a:lstStyle/>
          <a:p>
            <a:fld id="{F04F93AA-2A77-4ACB-8117-F9E159C9069A}" type="slidenum">
              <a:rPr lang="en-US" smtClean="0"/>
              <a:t>6</a:t>
            </a:fld>
            <a:endParaRPr lang="en-US"/>
          </a:p>
        </p:txBody>
      </p:sp>
    </p:spTree>
    <p:extLst>
      <p:ext uri="{BB962C8B-B14F-4D97-AF65-F5344CB8AC3E}">
        <p14:creationId xmlns:p14="http://schemas.microsoft.com/office/powerpoint/2010/main" val="165244790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b="1" dirty="0"/>
              <a:t>The price-to-income ratio which is widely used by the US department of Housing and Urban Development or HUD, measures housing affordability by comparing the cost of a median home to the income of a median household and helps summarizes the relationship between home prices and income</a:t>
            </a:r>
          </a:p>
          <a:p>
            <a:pPr marL="171450" lvl="0" indent="-171450">
              <a:buFont typeface="Arial" panose="020B0604020202020204" pitchFamily="34" charset="0"/>
              <a:buChar char="•"/>
            </a:pPr>
            <a:endParaRPr lang="en-US" b="1" dirty="0"/>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b="1" dirty="0"/>
              <a:t>The formula for this is (Median Home Sale Price/Median Household Income=Price-to-Income Ratio), where a higher ratio indicates reduced affordability.</a:t>
            </a:r>
          </a:p>
          <a:p>
            <a:pPr marL="0" indent="0">
              <a:buFont typeface="Arial" panose="020B0604020202020204" pitchFamily="34" charset="0"/>
              <a:buNone/>
            </a:pPr>
            <a:endParaRPr lang="en-US" b="1" dirty="0"/>
          </a:p>
          <a:p>
            <a:pPr marL="171450" indent="-171450">
              <a:buFont typeface="Arial" panose="020B0604020202020204" pitchFamily="34" charset="0"/>
              <a:buChar char="•"/>
            </a:pPr>
            <a:r>
              <a:rPr lang="en-US" b="1" dirty="0"/>
              <a:t>Between 2020 and 2022, the ratio increased due to home prices outpacing income growth.</a:t>
            </a:r>
          </a:p>
          <a:p>
            <a:pPr marL="171450" indent="-171450">
              <a:buFont typeface="Arial" panose="020B0604020202020204" pitchFamily="34" charset="0"/>
              <a:buChar char="•"/>
            </a:pPr>
            <a:endParaRPr lang="en-US" b="1" dirty="0"/>
          </a:p>
          <a:p>
            <a:pPr marL="171450" indent="-171450">
              <a:buFont typeface="Arial" panose="020B0604020202020204" pitchFamily="34" charset="0"/>
              <a:buChar char="•"/>
            </a:pPr>
            <a:r>
              <a:rPr lang="en-US" b="1" dirty="0"/>
              <a:t>While income growth in 2023 slightly reduced the ratio, affordability pressure remained elevated compared to earlier years in the period.</a:t>
            </a:r>
          </a:p>
          <a:p>
            <a:pPr marL="285750" lvl="0" indent="-285750">
              <a:buFont typeface="Arial" panose="020B0604020202020204" pitchFamily="34" charset="0"/>
              <a:buChar char="•"/>
            </a:pPr>
            <a:endParaRPr lang="en-US" b="1" dirty="0"/>
          </a:p>
          <a:p>
            <a:endParaRPr lang="en-US" dirty="0"/>
          </a:p>
        </p:txBody>
      </p:sp>
      <p:sp>
        <p:nvSpPr>
          <p:cNvPr id="4" name="Slide Number Placeholder 3"/>
          <p:cNvSpPr>
            <a:spLocks noGrp="1"/>
          </p:cNvSpPr>
          <p:nvPr>
            <p:ph type="sldNum" sz="quarter" idx="5"/>
          </p:nvPr>
        </p:nvSpPr>
        <p:spPr/>
        <p:txBody>
          <a:bodyPr/>
          <a:lstStyle/>
          <a:p>
            <a:fld id="{F04F93AA-2A77-4ACB-8117-F9E159C9069A}" type="slidenum">
              <a:rPr lang="en-US" smtClean="0"/>
              <a:t>7</a:t>
            </a:fld>
            <a:endParaRPr lang="en-US"/>
          </a:p>
        </p:txBody>
      </p:sp>
    </p:spTree>
    <p:extLst>
      <p:ext uri="{BB962C8B-B14F-4D97-AF65-F5344CB8AC3E}">
        <p14:creationId xmlns:p14="http://schemas.microsoft.com/office/powerpoint/2010/main" val="352434370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b="1" dirty="0"/>
              <a:t>When looking at the housing supply this visual shows changes in market conditions.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b="1" dirty="0"/>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b="1" dirty="0"/>
              <a:t>During this period, Nashville experienced continued population growth, while housing inventory remained constrained. This imbalance between demand and available housing can help explain why prices continued to rise despite fluctuations in sales volume. </a:t>
            </a:r>
          </a:p>
          <a:p>
            <a:pPr marL="0" indent="0">
              <a:buFont typeface="Arial" panose="020B0604020202020204" pitchFamily="34" charset="0"/>
              <a:buNone/>
            </a:pPr>
            <a:endParaRPr lang="en-US" b="1" dirty="0"/>
          </a:p>
          <a:p>
            <a:pPr marL="171450" indent="-171450">
              <a:buFont typeface="Arial" panose="020B0604020202020204" pitchFamily="34" charset="0"/>
              <a:buChar char="•"/>
            </a:pPr>
            <a:r>
              <a:rPr lang="en-US" b="1" dirty="0"/>
              <a:t>The average inventory reflects the typical number of homes available for sale at any point during the year. Rather than using a single month, I averaged monthly inventory values to capture overall supply conditions</a:t>
            </a:r>
          </a:p>
          <a:p>
            <a:pPr marL="0" indent="0">
              <a:buFont typeface="Arial" panose="020B0604020202020204" pitchFamily="34" charset="0"/>
              <a:buNone/>
            </a:pPr>
            <a:endParaRPr lang="en-US" b="1" dirty="0"/>
          </a:p>
          <a:p>
            <a:pPr marL="171450" indent="-171450">
              <a:buFont typeface="Arial" panose="020B0604020202020204" pitchFamily="34" charset="0"/>
              <a:buChar char="•"/>
            </a:pPr>
            <a:r>
              <a:rPr lang="en-US" b="1" dirty="0"/>
              <a:t>Inventory declined in 2021, tightening market conditions. Even as inventory partially recovered in later years, home sales continued to decline.</a:t>
            </a:r>
          </a:p>
          <a:p>
            <a:pPr marL="171450" indent="-171450">
              <a:buFont typeface="Arial" panose="020B0604020202020204" pitchFamily="34" charset="0"/>
              <a:buChar char="•"/>
            </a:pPr>
            <a:endParaRPr lang="en-US" b="1" dirty="0"/>
          </a:p>
          <a:p>
            <a:pPr marL="171450" indent="-171450">
              <a:buFont typeface="Arial" panose="020B0604020202020204" pitchFamily="34" charset="0"/>
              <a:buChar char="•"/>
            </a:pPr>
            <a:r>
              <a:rPr lang="en-US" b="1" dirty="0"/>
              <a:t>Higher prices and rising mortgage rates reduced buyer activity, contributing to continued affordability challenges.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endParaRPr lang="en-US" dirty="0"/>
          </a:p>
        </p:txBody>
      </p:sp>
      <p:sp>
        <p:nvSpPr>
          <p:cNvPr id="4" name="Slide Number Placeholder 3"/>
          <p:cNvSpPr>
            <a:spLocks noGrp="1"/>
          </p:cNvSpPr>
          <p:nvPr>
            <p:ph type="sldNum" sz="quarter" idx="5"/>
          </p:nvPr>
        </p:nvSpPr>
        <p:spPr/>
        <p:txBody>
          <a:bodyPr/>
          <a:lstStyle/>
          <a:p>
            <a:fld id="{F04F93AA-2A77-4ACB-8117-F9E159C9069A}" type="slidenum">
              <a:rPr lang="en-US" smtClean="0"/>
              <a:t>8</a:t>
            </a:fld>
            <a:endParaRPr lang="en-US"/>
          </a:p>
        </p:txBody>
      </p:sp>
    </p:spTree>
    <p:extLst>
      <p:ext uri="{BB962C8B-B14F-4D97-AF65-F5344CB8AC3E}">
        <p14:creationId xmlns:p14="http://schemas.microsoft.com/office/powerpoint/2010/main" val="235942272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b="1" dirty="0"/>
              <a:t>Interest rates remained historically low in 2020 and 2021. But beginning in 2022, rates increased rapidly.</a:t>
            </a:r>
          </a:p>
          <a:p>
            <a:pPr marL="171450" indent="-171450">
              <a:buFont typeface="Arial" panose="020B0604020202020204" pitchFamily="34" charset="0"/>
              <a:buChar char="•"/>
            </a:pPr>
            <a:endParaRPr lang="en-US" b="1" dirty="0"/>
          </a:p>
          <a:p>
            <a:pPr marL="171450" indent="-171450">
              <a:buFont typeface="Arial" panose="020B0604020202020204" pitchFamily="34" charset="0"/>
              <a:buChar char="•"/>
            </a:pPr>
            <a:r>
              <a:rPr lang="en-US" b="1" dirty="0"/>
              <a:t>Due to these increases this significantly raised monthly mortgage payments.</a:t>
            </a:r>
          </a:p>
          <a:p>
            <a:pPr marL="171450" indent="-171450">
              <a:buFont typeface="Arial" panose="020B0604020202020204" pitchFamily="34" charset="0"/>
              <a:buChar char="•"/>
            </a:pPr>
            <a:endParaRPr lang="en-US" b="1" dirty="0"/>
          </a:p>
          <a:p>
            <a:pPr marL="171450" indent="-171450">
              <a:buFont typeface="Arial" panose="020B0604020202020204" pitchFamily="34" charset="0"/>
              <a:buChar char="•"/>
            </a:pPr>
            <a:r>
              <a:rPr lang="en-US" b="1" dirty="0"/>
              <a:t>Rising home prices, combined with higher borrowing costs, intensified affordability challenges.</a:t>
            </a:r>
          </a:p>
        </p:txBody>
      </p:sp>
      <p:sp>
        <p:nvSpPr>
          <p:cNvPr id="4" name="Slide Number Placeholder 3"/>
          <p:cNvSpPr>
            <a:spLocks noGrp="1"/>
          </p:cNvSpPr>
          <p:nvPr>
            <p:ph type="sldNum" sz="quarter" idx="5"/>
          </p:nvPr>
        </p:nvSpPr>
        <p:spPr/>
        <p:txBody>
          <a:bodyPr/>
          <a:lstStyle/>
          <a:p>
            <a:fld id="{F04F93AA-2A77-4ACB-8117-F9E159C9069A}" type="slidenum">
              <a:rPr lang="en-US" smtClean="0"/>
              <a:t>9</a:t>
            </a:fld>
            <a:endParaRPr lang="en-US"/>
          </a:p>
        </p:txBody>
      </p:sp>
    </p:spTree>
    <p:extLst>
      <p:ext uri="{BB962C8B-B14F-4D97-AF65-F5344CB8AC3E}">
        <p14:creationId xmlns:p14="http://schemas.microsoft.com/office/powerpoint/2010/main" val="41815464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b="1" dirty="0"/>
              <a:t>This visual shows the share of a median household's income needed to comfortably afford a monthly mortgage payment.</a:t>
            </a:r>
          </a:p>
          <a:p>
            <a:pPr marL="171450" indent="-171450">
              <a:buFont typeface="Arial" panose="020B0604020202020204" pitchFamily="34" charset="0"/>
              <a:buChar char="•"/>
            </a:pPr>
            <a:endParaRPr lang="en-US" b="1" dirty="0"/>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b="1" dirty="0"/>
              <a:t>The dashed line represents the commonly used 30% affordability threshold, above which households are considered cost-burdened to the buyer.</a:t>
            </a:r>
          </a:p>
          <a:p>
            <a:pPr marL="0" indent="0">
              <a:buFont typeface="Arial" panose="020B0604020202020204" pitchFamily="34" charset="0"/>
              <a:buNone/>
            </a:pPr>
            <a:endParaRPr lang="en-US" b="1" dirty="0"/>
          </a:p>
          <a:p>
            <a:pPr marL="171450" indent="-171450">
              <a:buFont typeface="Arial" panose="020B0604020202020204" pitchFamily="34" charset="0"/>
              <a:buChar char="•"/>
            </a:pPr>
            <a:r>
              <a:rPr lang="en-US" b="1" dirty="0"/>
              <a:t>This chart estimates the share of median household income needed to comfortable afford monthly mortgage payments for a median-priced home. The monthly mortgage payments were calculated using median home prices and mortgage rates, then expressed as a percentage of median household income. </a:t>
            </a:r>
          </a:p>
          <a:p>
            <a:pPr marL="171450" indent="-171450">
              <a:buFont typeface="Arial" panose="020B0604020202020204" pitchFamily="34" charset="0"/>
              <a:buChar char="•"/>
            </a:pPr>
            <a:endParaRPr lang="en-US" b="1" dirty="0"/>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b="1" dirty="0"/>
              <a:t>By 2023, housing costs exceeded the 30% threshold. Reducing affordability for many median-income households</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b="1" dirty="0"/>
          </a:p>
          <a:p>
            <a:pPr marL="171450" indent="-171450">
              <a:buFont typeface="Arial" panose="020B0604020202020204" pitchFamily="34" charset="0"/>
              <a:buChar char="•"/>
            </a:pPr>
            <a:endParaRPr lang="en-US" b="1" dirty="0"/>
          </a:p>
          <a:p>
            <a:pPr marL="171450" indent="-171450">
              <a:buFont typeface="Arial" panose="020B0604020202020204" pitchFamily="34" charset="0"/>
              <a:buChar char="•"/>
            </a:pPr>
            <a:r>
              <a:rPr lang="en-US" b="1" dirty="0"/>
              <a:t>If asked how I did this, I calculated  what the average monthly mortgage payment would be with 20% down and the interest rate that year and used the median monthly income</a:t>
            </a:r>
          </a:p>
          <a:p>
            <a:endParaRPr lang="en-US" dirty="0"/>
          </a:p>
        </p:txBody>
      </p:sp>
      <p:sp>
        <p:nvSpPr>
          <p:cNvPr id="4" name="Slide Number Placeholder 3"/>
          <p:cNvSpPr>
            <a:spLocks noGrp="1"/>
          </p:cNvSpPr>
          <p:nvPr>
            <p:ph type="sldNum" sz="quarter" idx="5"/>
          </p:nvPr>
        </p:nvSpPr>
        <p:spPr/>
        <p:txBody>
          <a:bodyPr/>
          <a:lstStyle/>
          <a:p>
            <a:fld id="{F04F93AA-2A77-4ACB-8117-F9E159C9069A}" type="slidenum">
              <a:rPr lang="en-US" smtClean="0"/>
              <a:t>10</a:t>
            </a:fld>
            <a:endParaRPr lang="en-US"/>
          </a:p>
        </p:txBody>
      </p:sp>
    </p:spTree>
    <p:extLst>
      <p:ext uri="{BB962C8B-B14F-4D97-AF65-F5344CB8AC3E}">
        <p14:creationId xmlns:p14="http://schemas.microsoft.com/office/powerpoint/2010/main" val="73603499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b="1" dirty="0"/>
              <a:t>Affordability changes were not evenly distributed across the Metro. </a:t>
            </a:r>
          </a:p>
          <a:p>
            <a:pPr marL="171450" indent="-171450">
              <a:buFont typeface="Arial" panose="020B0604020202020204" pitchFamily="34" charset="0"/>
              <a:buChar char="•"/>
            </a:pPr>
            <a:endParaRPr lang="en-US" b="1" dirty="0"/>
          </a:p>
          <a:p>
            <a:pPr marL="171450" indent="-171450">
              <a:buFont typeface="Arial" panose="020B0604020202020204" pitchFamily="34" charset="0"/>
              <a:buChar char="•"/>
            </a:pPr>
            <a:r>
              <a:rPr lang="en-US" b="1" dirty="0"/>
              <a:t>This map shows that affordability pressures were widespread across Nashville. While nearly all ZIP codes saw worsening affordability, only two experienced improvements. In those areas, income growth outpaced home price increases, leading to a decline in the price-to-income ratio.</a:t>
            </a:r>
          </a:p>
          <a:p>
            <a:pPr marL="171450" indent="-171450">
              <a:buFont typeface="Arial" panose="020B0604020202020204" pitchFamily="34" charset="0"/>
              <a:buChar char="•"/>
            </a:pPr>
            <a:endParaRPr lang="en-US" b="1" dirty="0"/>
          </a:p>
          <a:p>
            <a:pPr marL="171450" indent="-171450">
              <a:buFont typeface="Arial" panose="020B0604020202020204" pitchFamily="34" charset="0"/>
              <a:buChar char="•"/>
            </a:pPr>
            <a:r>
              <a:rPr lang="en-US" b="1" dirty="0"/>
              <a:t>Some ZIP codes experienced much larger increases in price-to-income ratios than others.</a:t>
            </a:r>
          </a:p>
          <a:p>
            <a:pPr marL="171450" indent="-171450">
              <a:buFont typeface="Arial" panose="020B0604020202020204" pitchFamily="34" charset="0"/>
              <a:buChar char="•"/>
            </a:pPr>
            <a:endParaRPr lang="en-US" b="1" dirty="0"/>
          </a:p>
          <a:p>
            <a:pPr marL="171450" indent="-171450">
              <a:buFont typeface="Arial" panose="020B0604020202020204" pitchFamily="34" charset="0"/>
              <a:buChar char="•"/>
            </a:pPr>
            <a:r>
              <a:rPr lang="en-US" b="1" dirty="0"/>
              <a:t>This suggests that affordability outcomes are driven by localized income and housing market dynamics rather than uniform metro-wide trends.</a:t>
            </a:r>
          </a:p>
          <a:p>
            <a:pPr marL="171450" indent="-171450">
              <a:buFont typeface="Arial" panose="020B0604020202020204" pitchFamily="34" charset="0"/>
              <a:buChar char="•"/>
            </a:pPr>
            <a:endParaRPr lang="en-US" b="1" dirty="0"/>
          </a:p>
          <a:p>
            <a:pPr marL="171450" indent="-171450">
              <a:buFont typeface="Arial" panose="020B0604020202020204" pitchFamily="34" charset="0"/>
              <a:buChar char="•"/>
            </a:pPr>
            <a:r>
              <a:rPr lang="en-US" b="1" dirty="0"/>
              <a:t>This highlights the importance of examining affordability at a local level rather than relying only on metro-wide averages.</a:t>
            </a:r>
          </a:p>
          <a:p>
            <a:pPr marL="171450" indent="-171450">
              <a:buFont typeface="Arial" panose="020B0604020202020204" pitchFamily="34" charset="0"/>
              <a:buChar char="•"/>
            </a:pPr>
            <a:endParaRPr lang="en-US" b="1" dirty="0"/>
          </a:p>
          <a:p>
            <a:pPr marL="171450" indent="-171450">
              <a:buFont typeface="Arial" panose="020B0604020202020204" pitchFamily="34" charset="0"/>
              <a:buChar char="•"/>
            </a:pPr>
            <a:r>
              <a:rPr lang="en-US" b="1" dirty="0"/>
              <a:t>Highest increase 37015. Decrease 37143 and 37028</a:t>
            </a:r>
          </a:p>
          <a:p>
            <a:pPr marL="171450" indent="-171450">
              <a:buFont typeface="Arial" panose="020B0604020202020204" pitchFamily="34" charset="0"/>
              <a:buChar char="•"/>
            </a:pPr>
            <a:endParaRPr lang="en-US" b="1" dirty="0"/>
          </a:p>
          <a:p>
            <a:endParaRPr lang="en-US" dirty="0"/>
          </a:p>
        </p:txBody>
      </p:sp>
      <p:sp>
        <p:nvSpPr>
          <p:cNvPr id="4" name="Slide Number Placeholder 3"/>
          <p:cNvSpPr>
            <a:spLocks noGrp="1"/>
          </p:cNvSpPr>
          <p:nvPr>
            <p:ph type="sldNum" sz="quarter" idx="5"/>
          </p:nvPr>
        </p:nvSpPr>
        <p:spPr/>
        <p:txBody>
          <a:bodyPr/>
          <a:lstStyle/>
          <a:p>
            <a:fld id="{F04F93AA-2A77-4ACB-8117-F9E159C9069A}" type="slidenum">
              <a:rPr lang="en-US" smtClean="0"/>
              <a:t>11</a:t>
            </a:fld>
            <a:endParaRPr lang="en-US"/>
          </a:p>
        </p:txBody>
      </p:sp>
    </p:spTree>
    <p:extLst>
      <p:ext uri="{BB962C8B-B14F-4D97-AF65-F5344CB8AC3E}">
        <p14:creationId xmlns:p14="http://schemas.microsoft.com/office/powerpoint/2010/main" val="46671980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b="1" dirty="0"/>
              <a:t>Home prices increased faster than incomes, widening the affordability gap.</a:t>
            </a:r>
          </a:p>
          <a:p>
            <a:pPr marL="171450" indent="-171450">
              <a:buFont typeface="Arial" panose="020B0604020202020204" pitchFamily="34" charset="0"/>
              <a:buChar char="•"/>
            </a:pPr>
            <a:endParaRPr lang="en-US" b="1" dirty="0"/>
          </a:p>
          <a:p>
            <a:pPr marL="171450" indent="-171450">
              <a:buFont typeface="Arial" panose="020B0604020202020204" pitchFamily="34" charset="0"/>
              <a:buChar char="•"/>
            </a:pPr>
            <a:r>
              <a:rPr lang="en-US" b="1" dirty="0"/>
              <a:t>Rising mortgage rates significantly increased borrowing costs.</a:t>
            </a:r>
          </a:p>
          <a:p>
            <a:pPr marL="171450" indent="-171450">
              <a:buFont typeface="Arial" panose="020B0604020202020204" pitchFamily="34" charset="0"/>
              <a:buChar char="•"/>
            </a:pPr>
            <a:endParaRPr lang="en-US" b="1" dirty="0"/>
          </a:p>
          <a:p>
            <a:pPr marL="171450" indent="-171450">
              <a:buFont typeface="Arial" panose="020B0604020202020204" pitchFamily="34" charset="0"/>
              <a:buChar char="•"/>
            </a:pPr>
            <a:r>
              <a:rPr lang="en-US" b="1" dirty="0"/>
              <a:t>Housing market conditions tightened early in the period and remained challenging.</a:t>
            </a:r>
          </a:p>
          <a:p>
            <a:pPr marL="171450" indent="-171450">
              <a:buFont typeface="Arial" panose="020B0604020202020204" pitchFamily="34" charset="0"/>
              <a:buChar char="•"/>
            </a:pPr>
            <a:endParaRPr lang="en-US" b="1" dirty="0"/>
          </a:p>
          <a:p>
            <a:pPr marL="171450" indent="-171450">
              <a:buFont typeface="Arial" panose="020B0604020202020204" pitchFamily="34" charset="0"/>
              <a:buChar char="•"/>
            </a:pPr>
            <a:r>
              <a:rPr lang="en-US" b="1" dirty="0"/>
              <a:t>Affordability pressures were uneven across ZIP codes.</a:t>
            </a:r>
          </a:p>
          <a:p>
            <a:pPr marL="171450" indent="-171450">
              <a:buFont typeface="Arial" panose="020B0604020202020204" pitchFamily="34" charset="0"/>
              <a:buChar char="•"/>
            </a:pPr>
            <a:endParaRPr lang="en-US" b="1" dirty="0"/>
          </a:p>
          <a:p>
            <a:pPr marL="171450" indent="-171450">
              <a:buFont typeface="Arial" panose="020B0604020202020204" pitchFamily="34" charset="0"/>
              <a:buChar char="•"/>
            </a:pPr>
            <a:r>
              <a:rPr lang="en-US" b="1" dirty="0"/>
              <a:t>Together, these factors contributed to a substantial decline in homeownership affordability.</a:t>
            </a:r>
          </a:p>
          <a:p>
            <a:endParaRPr lang="en-US" dirty="0"/>
          </a:p>
        </p:txBody>
      </p:sp>
      <p:sp>
        <p:nvSpPr>
          <p:cNvPr id="4" name="Slide Number Placeholder 3"/>
          <p:cNvSpPr>
            <a:spLocks noGrp="1"/>
          </p:cNvSpPr>
          <p:nvPr>
            <p:ph type="sldNum" sz="quarter" idx="5"/>
          </p:nvPr>
        </p:nvSpPr>
        <p:spPr/>
        <p:txBody>
          <a:bodyPr/>
          <a:lstStyle/>
          <a:p>
            <a:fld id="{F04F93AA-2A77-4ACB-8117-F9E159C9069A}" type="slidenum">
              <a:rPr lang="en-US" smtClean="0"/>
              <a:t>12</a:t>
            </a:fld>
            <a:endParaRPr lang="en-US"/>
          </a:p>
        </p:txBody>
      </p:sp>
    </p:spTree>
    <p:extLst>
      <p:ext uri="{BB962C8B-B14F-4D97-AF65-F5344CB8AC3E}">
        <p14:creationId xmlns:p14="http://schemas.microsoft.com/office/powerpoint/2010/main" val="54006038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b="1" dirty="0"/>
          </a:p>
          <a:p>
            <a:pPr marL="171450" indent="-171450">
              <a:buFont typeface="Arial" panose="020B0604020202020204" pitchFamily="34" charset="0"/>
              <a:buChar char="•"/>
            </a:pPr>
            <a:r>
              <a:rPr lang="en-US" b="1" dirty="0"/>
              <a:t>There was several limitations to this analysis.</a:t>
            </a:r>
          </a:p>
          <a:p>
            <a:pPr marL="171450" indent="-171450">
              <a:buFont typeface="Arial" panose="020B0604020202020204" pitchFamily="34" charset="0"/>
              <a:buChar char="•"/>
            </a:pPr>
            <a:endParaRPr lang="en-US" b="1" dirty="0"/>
          </a:p>
          <a:p>
            <a:pPr marL="171450" indent="-171450">
              <a:buFont typeface="Arial" panose="020B0604020202020204" pitchFamily="34" charset="0"/>
              <a:buChar char="•"/>
            </a:pPr>
            <a:r>
              <a:rPr lang="en-US" b="1" dirty="0"/>
              <a:t>Mainly ZIP code boundaries pertaining to what zip codes are considered Metro Nashville vary across data sources.</a:t>
            </a:r>
          </a:p>
          <a:p>
            <a:pPr marL="171450" indent="-171450">
              <a:buFont typeface="Arial" panose="020B0604020202020204" pitchFamily="34" charset="0"/>
              <a:buChar char="•"/>
            </a:pPr>
            <a:endParaRPr lang="en-US" b="1" dirty="0"/>
          </a:p>
          <a:p>
            <a:pPr marL="171450" indent="-171450">
              <a:buFont typeface="Arial" panose="020B0604020202020204" pitchFamily="34" charset="0"/>
              <a:buChar char="•"/>
            </a:pPr>
            <a:r>
              <a:rPr lang="en-US" b="1" dirty="0"/>
              <a:t>Future work could examine a longer time frame to see how these numbers have changed over a larger data span</a:t>
            </a:r>
          </a:p>
          <a:p>
            <a:pPr marL="171450" indent="-171450">
              <a:buFont typeface="Arial" panose="020B0604020202020204" pitchFamily="34" charset="0"/>
              <a:buChar char="•"/>
            </a:pPr>
            <a:endParaRPr lang="en-US" b="1" dirty="0"/>
          </a:p>
          <a:p>
            <a:pPr marL="171450" indent="-171450">
              <a:buFont typeface="Arial" panose="020B0604020202020204" pitchFamily="34" charset="0"/>
              <a:buChar char="•"/>
            </a:pPr>
            <a:r>
              <a:rPr lang="en-US" b="1" dirty="0"/>
              <a:t>Additionally looking at factors like rent prices or demographic changes could also be interesting to explored to see what role they play to affordability.</a:t>
            </a:r>
          </a:p>
          <a:p>
            <a:endParaRPr lang="en-US" dirty="0"/>
          </a:p>
          <a:p>
            <a:endParaRPr lang="en-US" dirty="0"/>
          </a:p>
        </p:txBody>
      </p:sp>
      <p:sp>
        <p:nvSpPr>
          <p:cNvPr id="4" name="Slide Number Placeholder 3"/>
          <p:cNvSpPr>
            <a:spLocks noGrp="1"/>
          </p:cNvSpPr>
          <p:nvPr>
            <p:ph type="sldNum" sz="quarter" idx="5"/>
          </p:nvPr>
        </p:nvSpPr>
        <p:spPr/>
        <p:txBody>
          <a:bodyPr/>
          <a:lstStyle/>
          <a:p>
            <a:fld id="{F04F93AA-2A77-4ACB-8117-F9E159C9069A}" type="slidenum">
              <a:rPr lang="en-US" smtClean="0"/>
              <a:t>13</a:t>
            </a:fld>
            <a:endParaRPr lang="en-US"/>
          </a:p>
        </p:txBody>
      </p:sp>
    </p:spTree>
    <p:extLst>
      <p:ext uri="{BB962C8B-B14F-4D97-AF65-F5344CB8AC3E}">
        <p14:creationId xmlns:p14="http://schemas.microsoft.com/office/powerpoint/2010/main" val="43304227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b="1" dirty="0"/>
              <a:t>Between 2020 and 2023, rising home prices, higher mortgage rates, and constrained market conditions significantly reduced housing affordability in Metro Nashville.</a:t>
            </a:r>
          </a:p>
          <a:p>
            <a:pPr marL="171450" indent="-171450">
              <a:buFont typeface="Arial" panose="020B0604020202020204" pitchFamily="34" charset="0"/>
              <a:buChar char="•"/>
            </a:pPr>
            <a:endParaRPr lang="en-US" b="1" dirty="0"/>
          </a:p>
          <a:p>
            <a:pPr marL="171450" indent="-171450">
              <a:buFont typeface="Arial" panose="020B0604020202020204" pitchFamily="34" charset="0"/>
              <a:buChar char="•"/>
            </a:pPr>
            <a:r>
              <a:rPr lang="en-US" b="1" dirty="0"/>
              <a:t>While incomes increased, they did not keep pace with housing costs.</a:t>
            </a:r>
          </a:p>
          <a:p>
            <a:pPr marL="171450" indent="-171450">
              <a:buFont typeface="Arial" panose="020B0604020202020204" pitchFamily="34" charset="0"/>
              <a:buChar char="•"/>
            </a:pPr>
            <a:endParaRPr lang="en-US" b="1" dirty="0"/>
          </a:p>
          <a:p>
            <a:pPr marL="171450" indent="-171450">
              <a:buFont typeface="Arial" panose="020B0604020202020204" pitchFamily="34" charset="0"/>
              <a:buChar char="•"/>
            </a:pPr>
            <a:r>
              <a:rPr lang="en-US" b="1" dirty="0"/>
              <a:t>Affordability pressures were not evenly distributed across neighborhoods.</a:t>
            </a:r>
          </a:p>
          <a:p>
            <a:pPr marL="171450" indent="-171450">
              <a:buFont typeface="Arial" panose="020B0604020202020204" pitchFamily="34" charset="0"/>
              <a:buChar char="•"/>
            </a:pPr>
            <a:endParaRPr lang="en-US" b="1" dirty="0"/>
          </a:p>
          <a:p>
            <a:pPr marL="171450" indent="-171450">
              <a:buFont typeface="Arial" panose="020B0604020202020204" pitchFamily="34" charset="0"/>
              <a:buChar char="•"/>
            </a:pPr>
            <a:r>
              <a:rPr lang="en-US" b="1" dirty="0"/>
              <a:t>Overall, this analysis shows how multiple market forces combined to worsen housing affordability in Metro Nashville during this period.</a:t>
            </a:r>
          </a:p>
          <a:p>
            <a:endParaRPr lang="en-US" dirty="0"/>
          </a:p>
        </p:txBody>
      </p:sp>
      <p:sp>
        <p:nvSpPr>
          <p:cNvPr id="4" name="Slide Number Placeholder 3"/>
          <p:cNvSpPr>
            <a:spLocks noGrp="1"/>
          </p:cNvSpPr>
          <p:nvPr>
            <p:ph type="sldNum" sz="quarter" idx="5"/>
          </p:nvPr>
        </p:nvSpPr>
        <p:spPr/>
        <p:txBody>
          <a:bodyPr/>
          <a:lstStyle/>
          <a:p>
            <a:fld id="{F04F93AA-2A77-4ACB-8117-F9E159C9069A}" type="slidenum">
              <a:rPr lang="en-US" smtClean="0"/>
              <a:t>14</a:t>
            </a:fld>
            <a:endParaRPr lang="en-US"/>
          </a:p>
        </p:txBody>
      </p:sp>
    </p:spTree>
    <p:extLst>
      <p:ext uri="{BB962C8B-B14F-4D97-AF65-F5344CB8AC3E}">
        <p14:creationId xmlns:p14="http://schemas.microsoft.com/office/powerpoint/2010/main" val="396794614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6A23CA-F784-8609-0053-212FA3AE92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34BF1ED-677E-4E16-D8CE-A99EBE92F76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14D6CC0-871A-93D4-2DB3-A0558479D7C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2C5540D-FF74-83C1-A1BD-A09C777BF1FE}"/>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04F93AA-2A77-4ACB-8117-F9E159C9069A}"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5621508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A838B0-975D-31C0-7BD2-130C2454344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BB2F58E-52D2-45F0-509A-3E4302E7803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CF3F032-6152-B5C7-54EF-7EB35DF144E5}"/>
              </a:ext>
            </a:extLst>
          </p:cNvPr>
          <p:cNvSpPr>
            <a:spLocks noGrp="1"/>
          </p:cNvSpPr>
          <p:nvPr>
            <p:ph type="dt" sz="half" idx="10"/>
          </p:nvPr>
        </p:nvSpPr>
        <p:spPr/>
        <p:txBody>
          <a:bodyPr/>
          <a:lstStyle/>
          <a:p>
            <a:fld id="{13FBD760-3C71-467A-88B1-1440ED683542}" type="datetimeFigureOut">
              <a:rPr lang="en-US" smtClean="0"/>
              <a:t>1/6/2026</a:t>
            </a:fld>
            <a:endParaRPr lang="en-US"/>
          </a:p>
        </p:txBody>
      </p:sp>
      <p:sp>
        <p:nvSpPr>
          <p:cNvPr id="5" name="Footer Placeholder 4">
            <a:extLst>
              <a:ext uri="{FF2B5EF4-FFF2-40B4-BE49-F238E27FC236}">
                <a16:creationId xmlns:a16="http://schemas.microsoft.com/office/drawing/2014/main" id="{2E7E7F83-9F97-0164-4B11-1CACCD45E84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C8B827-DA72-76BF-61CA-181EA87576EF}"/>
              </a:ext>
            </a:extLst>
          </p:cNvPr>
          <p:cNvSpPr>
            <a:spLocks noGrp="1"/>
          </p:cNvSpPr>
          <p:nvPr>
            <p:ph type="sldNum" sz="quarter" idx="12"/>
          </p:nvPr>
        </p:nvSpPr>
        <p:spPr/>
        <p:txBody>
          <a:bodyPr/>
          <a:lstStyle/>
          <a:p>
            <a:fld id="{16CD607A-72E9-4BF2-9356-F51220A4424A}" type="slidenum">
              <a:rPr lang="en-US" smtClean="0"/>
              <a:t>‹#›</a:t>
            </a:fld>
            <a:endParaRPr lang="en-US"/>
          </a:p>
        </p:txBody>
      </p:sp>
    </p:spTree>
    <p:extLst>
      <p:ext uri="{BB962C8B-B14F-4D97-AF65-F5344CB8AC3E}">
        <p14:creationId xmlns:p14="http://schemas.microsoft.com/office/powerpoint/2010/main" val="148660202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C50E89-F670-4E88-3E52-1AA9D7600C8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21374FA-5609-F22E-26ED-7885D3E3514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91C0E74-7F8C-66C3-FE01-9E3D2BA99CDF}"/>
              </a:ext>
            </a:extLst>
          </p:cNvPr>
          <p:cNvSpPr>
            <a:spLocks noGrp="1"/>
          </p:cNvSpPr>
          <p:nvPr>
            <p:ph type="dt" sz="half" idx="10"/>
          </p:nvPr>
        </p:nvSpPr>
        <p:spPr/>
        <p:txBody>
          <a:bodyPr/>
          <a:lstStyle/>
          <a:p>
            <a:fld id="{13FBD760-3C71-467A-88B1-1440ED683542}" type="datetimeFigureOut">
              <a:rPr lang="en-US" smtClean="0"/>
              <a:t>1/6/2026</a:t>
            </a:fld>
            <a:endParaRPr lang="en-US"/>
          </a:p>
        </p:txBody>
      </p:sp>
      <p:sp>
        <p:nvSpPr>
          <p:cNvPr id="5" name="Footer Placeholder 4">
            <a:extLst>
              <a:ext uri="{FF2B5EF4-FFF2-40B4-BE49-F238E27FC236}">
                <a16:creationId xmlns:a16="http://schemas.microsoft.com/office/drawing/2014/main" id="{43335726-2349-EDE0-794B-25EA1D30447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811528-EF31-3213-AA8C-2CD786F52F19}"/>
              </a:ext>
            </a:extLst>
          </p:cNvPr>
          <p:cNvSpPr>
            <a:spLocks noGrp="1"/>
          </p:cNvSpPr>
          <p:nvPr>
            <p:ph type="sldNum" sz="quarter" idx="12"/>
          </p:nvPr>
        </p:nvSpPr>
        <p:spPr/>
        <p:txBody>
          <a:bodyPr/>
          <a:lstStyle/>
          <a:p>
            <a:fld id="{16CD607A-72E9-4BF2-9356-F51220A4424A}" type="slidenum">
              <a:rPr lang="en-US" smtClean="0"/>
              <a:t>‹#›</a:t>
            </a:fld>
            <a:endParaRPr lang="en-US"/>
          </a:p>
        </p:txBody>
      </p:sp>
    </p:spTree>
    <p:extLst>
      <p:ext uri="{BB962C8B-B14F-4D97-AF65-F5344CB8AC3E}">
        <p14:creationId xmlns:p14="http://schemas.microsoft.com/office/powerpoint/2010/main" val="10586702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8C2E8B-C2FA-9286-E03F-5062DD039F6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AACE3503-19AF-41A1-092B-60F71F8E30E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56C9196-F250-9AC7-C084-0C296B6EF68A}"/>
              </a:ext>
            </a:extLst>
          </p:cNvPr>
          <p:cNvSpPr>
            <a:spLocks noGrp="1"/>
          </p:cNvSpPr>
          <p:nvPr>
            <p:ph type="dt" sz="half" idx="10"/>
          </p:nvPr>
        </p:nvSpPr>
        <p:spPr/>
        <p:txBody>
          <a:bodyPr/>
          <a:lstStyle/>
          <a:p>
            <a:fld id="{13FBD760-3C71-467A-88B1-1440ED683542}" type="datetimeFigureOut">
              <a:rPr lang="en-US" smtClean="0"/>
              <a:t>1/6/2026</a:t>
            </a:fld>
            <a:endParaRPr lang="en-US"/>
          </a:p>
        </p:txBody>
      </p:sp>
      <p:sp>
        <p:nvSpPr>
          <p:cNvPr id="5" name="Footer Placeholder 4">
            <a:extLst>
              <a:ext uri="{FF2B5EF4-FFF2-40B4-BE49-F238E27FC236}">
                <a16:creationId xmlns:a16="http://schemas.microsoft.com/office/drawing/2014/main" id="{A342C2E2-AADD-09B1-ECA7-26C53131CEC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816FFD7-1E59-034B-3879-28E65E068368}"/>
              </a:ext>
            </a:extLst>
          </p:cNvPr>
          <p:cNvSpPr>
            <a:spLocks noGrp="1"/>
          </p:cNvSpPr>
          <p:nvPr>
            <p:ph type="sldNum" sz="quarter" idx="12"/>
          </p:nvPr>
        </p:nvSpPr>
        <p:spPr/>
        <p:txBody>
          <a:bodyPr/>
          <a:lstStyle/>
          <a:p>
            <a:fld id="{16CD607A-72E9-4BF2-9356-F51220A4424A}" type="slidenum">
              <a:rPr lang="en-US" smtClean="0"/>
              <a:t>‹#›</a:t>
            </a:fld>
            <a:endParaRPr lang="en-US"/>
          </a:p>
        </p:txBody>
      </p:sp>
    </p:spTree>
    <p:extLst>
      <p:ext uri="{BB962C8B-B14F-4D97-AF65-F5344CB8AC3E}">
        <p14:creationId xmlns:p14="http://schemas.microsoft.com/office/powerpoint/2010/main" val="48850208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7F1EF4-8D70-0817-DB5C-3369F32DC30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44E66F9-EA1A-E713-1129-AFC0F085A61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C926150-237C-07E5-F4DF-E50753C097F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4FAFE979-9992-5F31-187A-84483C24E7B9}"/>
              </a:ext>
            </a:extLst>
          </p:cNvPr>
          <p:cNvSpPr>
            <a:spLocks noGrp="1"/>
          </p:cNvSpPr>
          <p:nvPr>
            <p:ph type="dt" sz="half" idx="10"/>
          </p:nvPr>
        </p:nvSpPr>
        <p:spPr/>
        <p:txBody>
          <a:bodyPr/>
          <a:lstStyle/>
          <a:p>
            <a:fld id="{13FBD760-3C71-467A-88B1-1440ED683542}" type="datetimeFigureOut">
              <a:rPr lang="en-US" smtClean="0"/>
              <a:t>1/6/2026</a:t>
            </a:fld>
            <a:endParaRPr lang="en-US"/>
          </a:p>
        </p:txBody>
      </p:sp>
      <p:sp>
        <p:nvSpPr>
          <p:cNvPr id="6" name="Footer Placeholder 5">
            <a:extLst>
              <a:ext uri="{FF2B5EF4-FFF2-40B4-BE49-F238E27FC236}">
                <a16:creationId xmlns:a16="http://schemas.microsoft.com/office/drawing/2014/main" id="{2BF4108E-06EC-7DFA-4CBF-53D7FD74247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6B67EB0-7D64-B128-A285-B64767E10996}"/>
              </a:ext>
            </a:extLst>
          </p:cNvPr>
          <p:cNvSpPr>
            <a:spLocks noGrp="1"/>
          </p:cNvSpPr>
          <p:nvPr>
            <p:ph type="sldNum" sz="quarter" idx="12"/>
          </p:nvPr>
        </p:nvSpPr>
        <p:spPr/>
        <p:txBody>
          <a:bodyPr/>
          <a:lstStyle/>
          <a:p>
            <a:fld id="{16CD607A-72E9-4BF2-9356-F51220A4424A}" type="slidenum">
              <a:rPr lang="en-US" smtClean="0"/>
              <a:t>‹#›</a:t>
            </a:fld>
            <a:endParaRPr lang="en-US"/>
          </a:p>
        </p:txBody>
      </p:sp>
    </p:spTree>
    <p:extLst>
      <p:ext uri="{BB962C8B-B14F-4D97-AF65-F5344CB8AC3E}">
        <p14:creationId xmlns:p14="http://schemas.microsoft.com/office/powerpoint/2010/main" val="405771231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DE9BF-D271-59F7-CDC8-4BB6BA8E319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E51A5B08-8F08-2CB9-0A59-F064AB37185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189D034-3EF6-034B-72C7-61C65E3C63B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3E3EFCF9-610A-FF4B-3D06-FF194B3FE92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D5A1D2C-24CF-3533-0350-AAAEFC0537A3}"/>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D1B9B8B4-32D6-2982-33F4-7DBAB725FAE0}"/>
              </a:ext>
            </a:extLst>
          </p:cNvPr>
          <p:cNvSpPr>
            <a:spLocks noGrp="1"/>
          </p:cNvSpPr>
          <p:nvPr>
            <p:ph type="dt" sz="half" idx="10"/>
          </p:nvPr>
        </p:nvSpPr>
        <p:spPr/>
        <p:txBody>
          <a:bodyPr/>
          <a:lstStyle/>
          <a:p>
            <a:fld id="{13FBD760-3C71-467A-88B1-1440ED683542}" type="datetimeFigureOut">
              <a:rPr lang="en-US" smtClean="0"/>
              <a:t>1/6/2026</a:t>
            </a:fld>
            <a:endParaRPr lang="en-US"/>
          </a:p>
        </p:txBody>
      </p:sp>
      <p:sp>
        <p:nvSpPr>
          <p:cNvPr id="8" name="Footer Placeholder 7">
            <a:extLst>
              <a:ext uri="{FF2B5EF4-FFF2-40B4-BE49-F238E27FC236}">
                <a16:creationId xmlns:a16="http://schemas.microsoft.com/office/drawing/2014/main" id="{7D85D933-EB9E-64DD-6AC4-6BF2DE1E16CD}"/>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691474B-D526-55B5-F8D0-D4D9A6659C04}"/>
              </a:ext>
            </a:extLst>
          </p:cNvPr>
          <p:cNvSpPr>
            <a:spLocks noGrp="1"/>
          </p:cNvSpPr>
          <p:nvPr>
            <p:ph type="sldNum" sz="quarter" idx="12"/>
          </p:nvPr>
        </p:nvSpPr>
        <p:spPr/>
        <p:txBody>
          <a:bodyPr/>
          <a:lstStyle/>
          <a:p>
            <a:fld id="{16CD607A-72E9-4BF2-9356-F51220A4424A}" type="slidenum">
              <a:rPr lang="en-US" smtClean="0"/>
              <a:t>‹#›</a:t>
            </a:fld>
            <a:endParaRPr lang="en-US"/>
          </a:p>
        </p:txBody>
      </p:sp>
    </p:spTree>
    <p:extLst>
      <p:ext uri="{BB962C8B-B14F-4D97-AF65-F5344CB8AC3E}">
        <p14:creationId xmlns:p14="http://schemas.microsoft.com/office/powerpoint/2010/main" val="261250694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185F02-4A00-FEEB-7401-29905178EF45}"/>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10F79DE-8C6C-EBEE-AFF4-6600C380058F}"/>
              </a:ext>
            </a:extLst>
          </p:cNvPr>
          <p:cNvSpPr>
            <a:spLocks noGrp="1"/>
          </p:cNvSpPr>
          <p:nvPr>
            <p:ph type="dt" sz="half" idx="10"/>
          </p:nvPr>
        </p:nvSpPr>
        <p:spPr/>
        <p:txBody>
          <a:bodyPr/>
          <a:lstStyle/>
          <a:p>
            <a:fld id="{13FBD760-3C71-467A-88B1-1440ED683542}" type="datetimeFigureOut">
              <a:rPr lang="en-US" smtClean="0"/>
              <a:t>1/6/2026</a:t>
            </a:fld>
            <a:endParaRPr lang="en-US"/>
          </a:p>
        </p:txBody>
      </p:sp>
      <p:sp>
        <p:nvSpPr>
          <p:cNvPr id="4" name="Footer Placeholder 3">
            <a:extLst>
              <a:ext uri="{FF2B5EF4-FFF2-40B4-BE49-F238E27FC236}">
                <a16:creationId xmlns:a16="http://schemas.microsoft.com/office/drawing/2014/main" id="{BE0FCE67-FA2B-D1B0-BEA5-0689789FE1E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2348475D-4CAA-3871-ACB6-754155DC20ED}"/>
              </a:ext>
            </a:extLst>
          </p:cNvPr>
          <p:cNvSpPr>
            <a:spLocks noGrp="1"/>
          </p:cNvSpPr>
          <p:nvPr>
            <p:ph type="sldNum" sz="quarter" idx="12"/>
          </p:nvPr>
        </p:nvSpPr>
        <p:spPr/>
        <p:txBody>
          <a:bodyPr/>
          <a:lstStyle/>
          <a:p>
            <a:fld id="{16CD607A-72E9-4BF2-9356-F51220A4424A}" type="slidenum">
              <a:rPr lang="en-US" smtClean="0"/>
              <a:t>‹#›</a:t>
            </a:fld>
            <a:endParaRPr lang="en-US"/>
          </a:p>
        </p:txBody>
      </p:sp>
    </p:spTree>
    <p:extLst>
      <p:ext uri="{BB962C8B-B14F-4D97-AF65-F5344CB8AC3E}">
        <p14:creationId xmlns:p14="http://schemas.microsoft.com/office/powerpoint/2010/main" val="333160270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CFCEDD4-C8B3-C0CA-26ED-C549B6235587}"/>
              </a:ext>
            </a:extLst>
          </p:cNvPr>
          <p:cNvSpPr>
            <a:spLocks noGrp="1"/>
          </p:cNvSpPr>
          <p:nvPr>
            <p:ph type="dt" sz="half" idx="10"/>
          </p:nvPr>
        </p:nvSpPr>
        <p:spPr/>
        <p:txBody>
          <a:bodyPr/>
          <a:lstStyle/>
          <a:p>
            <a:fld id="{13FBD760-3C71-467A-88B1-1440ED683542}" type="datetimeFigureOut">
              <a:rPr lang="en-US" smtClean="0"/>
              <a:t>1/6/2026</a:t>
            </a:fld>
            <a:endParaRPr lang="en-US"/>
          </a:p>
        </p:txBody>
      </p:sp>
      <p:sp>
        <p:nvSpPr>
          <p:cNvPr id="3" name="Footer Placeholder 2">
            <a:extLst>
              <a:ext uri="{FF2B5EF4-FFF2-40B4-BE49-F238E27FC236}">
                <a16:creationId xmlns:a16="http://schemas.microsoft.com/office/drawing/2014/main" id="{28BF2656-8F73-2AB9-3AEC-9B2747D7793D}"/>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8F3B3B3-4FC1-AC29-C7E4-5BADB03A3DCD}"/>
              </a:ext>
            </a:extLst>
          </p:cNvPr>
          <p:cNvSpPr>
            <a:spLocks noGrp="1"/>
          </p:cNvSpPr>
          <p:nvPr>
            <p:ph type="sldNum" sz="quarter" idx="12"/>
          </p:nvPr>
        </p:nvSpPr>
        <p:spPr/>
        <p:txBody>
          <a:bodyPr/>
          <a:lstStyle/>
          <a:p>
            <a:fld id="{16CD607A-72E9-4BF2-9356-F51220A4424A}" type="slidenum">
              <a:rPr lang="en-US" smtClean="0"/>
              <a:t>‹#›</a:t>
            </a:fld>
            <a:endParaRPr lang="en-US"/>
          </a:p>
        </p:txBody>
      </p:sp>
    </p:spTree>
    <p:extLst>
      <p:ext uri="{BB962C8B-B14F-4D97-AF65-F5344CB8AC3E}">
        <p14:creationId xmlns:p14="http://schemas.microsoft.com/office/powerpoint/2010/main" val="296777247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7570B3-B4BA-AA12-3A32-39FA11E783E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6A7F0DEE-D2DF-E961-7282-0BC2D8876E4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741A205-AEB8-D897-5F94-1F12E34DBF5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E9DFE46-2C9B-35D2-D243-72709CB269DF}"/>
              </a:ext>
            </a:extLst>
          </p:cNvPr>
          <p:cNvSpPr>
            <a:spLocks noGrp="1"/>
          </p:cNvSpPr>
          <p:nvPr>
            <p:ph type="dt" sz="half" idx="10"/>
          </p:nvPr>
        </p:nvSpPr>
        <p:spPr/>
        <p:txBody>
          <a:bodyPr/>
          <a:lstStyle/>
          <a:p>
            <a:fld id="{13FBD760-3C71-467A-88B1-1440ED683542}" type="datetimeFigureOut">
              <a:rPr lang="en-US" smtClean="0"/>
              <a:t>1/6/2026</a:t>
            </a:fld>
            <a:endParaRPr lang="en-US"/>
          </a:p>
        </p:txBody>
      </p:sp>
      <p:sp>
        <p:nvSpPr>
          <p:cNvPr id="6" name="Footer Placeholder 5">
            <a:extLst>
              <a:ext uri="{FF2B5EF4-FFF2-40B4-BE49-F238E27FC236}">
                <a16:creationId xmlns:a16="http://schemas.microsoft.com/office/drawing/2014/main" id="{B990FAE4-F8DC-58C1-5838-5C112BAF56B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3D44D7A-A481-B793-36EB-93C2ED894824}"/>
              </a:ext>
            </a:extLst>
          </p:cNvPr>
          <p:cNvSpPr>
            <a:spLocks noGrp="1"/>
          </p:cNvSpPr>
          <p:nvPr>
            <p:ph type="sldNum" sz="quarter" idx="12"/>
          </p:nvPr>
        </p:nvSpPr>
        <p:spPr/>
        <p:txBody>
          <a:bodyPr/>
          <a:lstStyle/>
          <a:p>
            <a:fld id="{16CD607A-72E9-4BF2-9356-F51220A4424A}" type="slidenum">
              <a:rPr lang="en-US" smtClean="0"/>
              <a:t>‹#›</a:t>
            </a:fld>
            <a:endParaRPr lang="en-US"/>
          </a:p>
        </p:txBody>
      </p:sp>
    </p:spTree>
    <p:extLst>
      <p:ext uri="{BB962C8B-B14F-4D97-AF65-F5344CB8AC3E}">
        <p14:creationId xmlns:p14="http://schemas.microsoft.com/office/powerpoint/2010/main" val="20991868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5ED6C8-EB4E-48A1-5CE6-DCC89B514AA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737E20E6-9043-9EF1-69FA-9C08F6DA675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D05E99AC-2F15-B873-7B49-AF750FA7818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1D3D93-B00E-2BF1-1322-CA8D92BDDEF4}"/>
              </a:ext>
            </a:extLst>
          </p:cNvPr>
          <p:cNvSpPr>
            <a:spLocks noGrp="1"/>
          </p:cNvSpPr>
          <p:nvPr>
            <p:ph type="dt" sz="half" idx="10"/>
          </p:nvPr>
        </p:nvSpPr>
        <p:spPr/>
        <p:txBody>
          <a:bodyPr/>
          <a:lstStyle/>
          <a:p>
            <a:fld id="{13FBD760-3C71-467A-88B1-1440ED683542}" type="datetimeFigureOut">
              <a:rPr lang="en-US" smtClean="0"/>
              <a:t>1/6/2026</a:t>
            </a:fld>
            <a:endParaRPr lang="en-US"/>
          </a:p>
        </p:txBody>
      </p:sp>
      <p:sp>
        <p:nvSpPr>
          <p:cNvPr id="6" name="Footer Placeholder 5">
            <a:extLst>
              <a:ext uri="{FF2B5EF4-FFF2-40B4-BE49-F238E27FC236}">
                <a16:creationId xmlns:a16="http://schemas.microsoft.com/office/drawing/2014/main" id="{878AE80E-3BF8-3895-DA76-0D4FC1B365B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A7F440E-A6AE-421F-F21A-9158F42A602E}"/>
              </a:ext>
            </a:extLst>
          </p:cNvPr>
          <p:cNvSpPr>
            <a:spLocks noGrp="1"/>
          </p:cNvSpPr>
          <p:nvPr>
            <p:ph type="sldNum" sz="quarter" idx="12"/>
          </p:nvPr>
        </p:nvSpPr>
        <p:spPr/>
        <p:txBody>
          <a:bodyPr/>
          <a:lstStyle/>
          <a:p>
            <a:fld id="{16CD607A-72E9-4BF2-9356-F51220A4424A}" type="slidenum">
              <a:rPr lang="en-US" smtClean="0"/>
              <a:t>‹#›</a:t>
            </a:fld>
            <a:endParaRPr lang="en-US"/>
          </a:p>
        </p:txBody>
      </p:sp>
    </p:spTree>
    <p:extLst>
      <p:ext uri="{BB962C8B-B14F-4D97-AF65-F5344CB8AC3E}">
        <p14:creationId xmlns:p14="http://schemas.microsoft.com/office/powerpoint/2010/main" val="258806920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E09D6A-55E4-E96B-7AAA-490E4B1124FB}"/>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D28C3DA-E907-7104-FC2F-822FCB66459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00983F7-1A60-ABE5-F5C4-3FAEC5EFB796}"/>
              </a:ext>
            </a:extLst>
          </p:cNvPr>
          <p:cNvSpPr>
            <a:spLocks noGrp="1"/>
          </p:cNvSpPr>
          <p:nvPr>
            <p:ph type="dt" sz="half" idx="10"/>
          </p:nvPr>
        </p:nvSpPr>
        <p:spPr/>
        <p:txBody>
          <a:bodyPr/>
          <a:lstStyle/>
          <a:p>
            <a:fld id="{13FBD760-3C71-467A-88B1-1440ED683542}" type="datetimeFigureOut">
              <a:rPr lang="en-US" smtClean="0"/>
              <a:t>1/6/2026</a:t>
            </a:fld>
            <a:endParaRPr lang="en-US"/>
          </a:p>
        </p:txBody>
      </p:sp>
      <p:sp>
        <p:nvSpPr>
          <p:cNvPr id="5" name="Footer Placeholder 4">
            <a:extLst>
              <a:ext uri="{FF2B5EF4-FFF2-40B4-BE49-F238E27FC236}">
                <a16:creationId xmlns:a16="http://schemas.microsoft.com/office/drawing/2014/main" id="{B67EBBF6-4A85-99DB-669A-17849C39F77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40ED123-26C9-DDE2-9767-83C6171D943A}"/>
              </a:ext>
            </a:extLst>
          </p:cNvPr>
          <p:cNvSpPr>
            <a:spLocks noGrp="1"/>
          </p:cNvSpPr>
          <p:nvPr>
            <p:ph type="sldNum" sz="quarter" idx="12"/>
          </p:nvPr>
        </p:nvSpPr>
        <p:spPr/>
        <p:txBody>
          <a:bodyPr/>
          <a:lstStyle/>
          <a:p>
            <a:fld id="{16CD607A-72E9-4BF2-9356-F51220A4424A}" type="slidenum">
              <a:rPr lang="en-US" smtClean="0"/>
              <a:t>‹#›</a:t>
            </a:fld>
            <a:endParaRPr lang="en-US"/>
          </a:p>
        </p:txBody>
      </p:sp>
    </p:spTree>
    <p:extLst>
      <p:ext uri="{BB962C8B-B14F-4D97-AF65-F5344CB8AC3E}">
        <p14:creationId xmlns:p14="http://schemas.microsoft.com/office/powerpoint/2010/main" val="14839381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05208DA-23A1-B2DA-EAB5-C1FC20091E4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973F736D-53B1-AB46-2B66-10E5DDDCC06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9567765-E2E5-DB5D-13F8-0B11DEC18E89}"/>
              </a:ext>
            </a:extLst>
          </p:cNvPr>
          <p:cNvSpPr>
            <a:spLocks noGrp="1"/>
          </p:cNvSpPr>
          <p:nvPr>
            <p:ph type="dt" sz="half" idx="10"/>
          </p:nvPr>
        </p:nvSpPr>
        <p:spPr/>
        <p:txBody>
          <a:bodyPr/>
          <a:lstStyle/>
          <a:p>
            <a:fld id="{13FBD760-3C71-467A-88B1-1440ED683542}" type="datetimeFigureOut">
              <a:rPr lang="en-US" smtClean="0"/>
              <a:t>1/6/2026</a:t>
            </a:fld>
            <a:endParaRPr lang="en-US"/>
          </a:p>
        </p:txBody>
      </p:sp>
      <p:sp>
        <p:nvSpPr>
          <p:cNvPr id="5" name="Footer Placeholder 4">
            <a:extLst>
              <a:ext uri="{FF2B5EF4-FFF2-40B4-BE49-F238E27FC236}">
                <a16:creationId xmlns:a16="http://schemas.microsoft.com/office/drawing/2014/main" id="{EA3220CA-D52F-3532-C9DE-B094EED30F5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003457A-AA84-4CD3-FCAD-F750DEFB9C73}"/>
              </a:ext>
            </a:extLst>
          </p:cNvPr>
          <p:cNvSpPr>
            <a:spLocks noGrp="1"/>
          </p:cNvSpPr>
          <p:nvPr>
            <p:ph type="sldNum" sz="quarter" idx="12"/>
          </p:nvPr>
        </p:nvSpPr>
        <p:spPr/>
        <p:txBody>
          <a:bodyPr/>
          <a:lstStyle/>
          <a:p>
            <a:fld id="{16CD607A-72E9-4BF2-9356-F51220A4424A}" type="slidenum">
              <a:rPr lang="en-US" smtClean="0"/>
              <a:t>‹#›</a:t>
            </a:fld>
            <a:endParaRPr lang="en-US"/>
          </a:p>
        </p:txBody>
      </p:sp>
    </p:spTree>
    <p:extLst>
      <p:ext uri="{BB962C8B-B14F-4D97-AF65-F5344CB8AC3E}">
        <p14:creationId xmlns:p14="http://schemas.microsoft.com/office/powerpoint/2010/main" val="225898950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B0FFFA7-441F-50E1-A716-AC6833AAABA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DD1FB9B9-FF4D-9244-1F7D-98F874CA93A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2799808-6845-39EA-3256-B3F6ED28AC9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13FBD760-3C71-467A-88B1-1440ED683542}" type="datetimeFigureOut">
              <a:rPr lang="en-US" smtClean="0"/>
              <a:t>1/6/2026</a:t>
            </a:fld>
            <a:endParaRPr lang="en-US"/>
          </a:p>
        </p:txBody>
      </p:sp>
      <p:sp>
        <p:nvSpPr>
          <p:cNvPr id="5" name="Footer Placeholder 4">
            <a:extLst>
              <a:ext uri="{FF2B5EF4-FFF2-40B4-BE49-F238E27FC236}">
                <a16:creationId xmlns:a16="http://schemas.microsoft.com/office/drawing/2014/main" id="{28CE2A96-42F0-C2EA-1D5D-2AB730FB565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517B05EC-6F7A-BC17-BDEC-FF9652A1FBA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6CD607A-72E9-4BF2-9356-F51220A4424A}" type="slidenum">
              <a:rPr lang="en-US" smtClean="0"/>
              <a:t>‹#›</a:t>
            </a:fld>
            <a:endParaRPr lang="en-US"/>
          </a:p>
        </p:txBody>
      </p:sp>
    </p:spTree>
    <p:extLst>
      <p:ext uri="{BB962C8B-B14F-4D97-AF65-F5344CB8AC3E}">
        <p14:creationId xmlns:p14="http://schemas.microsoft.com/office/powerpoint/2010/main" val="128779443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AFAF7"/>
        </a:solidFill>
        <a:effectLst/>
      </p:bgPr>
    </p:bg>
    <p:spTree>
      <p:nvGrpSpPr>
        <p:cNvPr id="1" name=""/>
        <p:cNvGrpSpPr/>
        <p:nvPr/>
      </p:nvGrpSpPr>
      <p:grpSpPr>
        <a:xfrm>
          <a:off x="0" y="0"/>
          <a:ext cx="0" cy="0"/>
          <a:chOff x="0" y="0"/>
          <a:chExt cx="0" cy="0"/>
        </a:xfrm>
      </p:grpSpPr>
      <p:sp useBgFill="1">
        <p:nvSpPr>
          <p:cNvPr id="29" name="Rectangle 28">
            <a:extLst>
              <a:ext uri="{FF2B5EF4-FFF2-40B4-BE49-F238E27FC236}">
                <a16:creationId xmlns:a16="http://schemas.microsoft.com/office/drawing/2014/main" id="{9B7AD9F6-8CE7-4299-8FC6-328F4DCD3FF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5871A2F-1D02-6452-5157-8CB541F3456A}"/>
              </a:ext>
            </a:extLst>
          </p:cNvPr>
          <p:cNvSpPr>
            <a:spLocks noGrp="1"/>
          </p:cNvSpPr>
          <p:nvPr>
            <p:ph type="ctrTitle"/>
          </p:nvPr>
        </p:nvSpPr>
        <p:spPr>
          <a:xfrm>
            <a:off x="4808008" y="2524079"/>
            <a:ext cx="6251110" cy="1431706"/>
          </a:xfrm>
        </p:spPr>
        <p:txBody>
          <a:bodyPr anchor="b">
            <a:normAutofit/>
          </a:bodyPr>
          <a:lstStyle/>
          <a:p>
            <a:r>
              <a:rPr lang="en-US" sz="4400" b="1" dirty="0"/>
              <a:t>Housing Affordability in Metro Nashville</a:t>
            </a:r>
          </a:p>
        </p:txBody>
      </p:sp>
      <p:sp>
        <p:nvSpPr>
          <p:cNvPr id="3" name="Subtitle 2">
            <a:extLst>
              <a:ext uri="{FF2B5EF4-FFF2-40B4-BE49-F238E27FC236}">
                <a16:creationId xmlns:a16="http://schemas.microsoft.com/office/drawing/2014/main" id="{FB4789A9-F273-59F1-B441-515130EFAB92}"/>
              </a:ext>
            </a:extLst>
          </p:cNvPr>
          <p:cNvSpPr>
            <a:spLocks noGrp="1"/>
          </p:cNvSpPr>
          <p:nvPr>
            <p:ph type="subTitle" idx="1"/>
          </p:nvPr>
        </p:nvSpPr>
        <p:spPr>
          <a:xfrm>
            <a:off x="5381626" y="4617720"/>
            <a:ext cx="4655865" cy="355092"/>
          </a:xfrm>
        </p:spPr>
        <p:txBody>
          <a:bodyPr>
            <a:normAutofit lnSpcReduction="10000"/>
          </a:bodyPr>
          <a:lstStyle/>
          <a:p>
            <a:pPr algn="l"/>
            <a:r>
              <a:rPr lang="en-US" sz="2000" dirty="0"/>
              <a:t>Luke Gaffney | DDA17 Capstone Project</a:t>
            </a:r>
          </a:p>
          <a:p>
            <a:pPr algn="l"/>
            <a:endParaRPr lang="en-US" dirty="0"/>
          </a:p>
        </p:txBody>
      </p:sp>
      <p:pic>
        <p:nvPicPr>
          <p:cNvPr id="5" name="Picture 4" descr="Houses in a subdivision">
            <a:extLst>
              <a:ext uri="{FF2B5EF4-FFF2-40B4-BE49-F238E27FC236}">
                <a16:creationId xmlns:a16="http://schemas.microsoft.com/office/drawing/2014/main" id="{F2BEEBFA-CA17-EDF1-8619-5BB733B403C6}"/>
              </a:ext>
            </a:extLst>
          </p:cNvPr>
          <p:cNvPicPr>
            <a:picLocks noChangeAspect="1"/>
          </p:cNvPicPr>
          <p:nvPr/>
        </p:nvPicPr>
        <p:blipFill>
          <a:blip r:embed="rId3"/>
          <a:srcRect l="33472" r="21197" b="-1"/>
          <a:stretch>
            <a:fillRect/>
          </a:stretch>
        </p:blipFill>
        <p:spPr>
          <a:xfrm>
            <a:off x="1" y="10"/>
            <a:ext cx="4571999" cy="6857990"/>
          </a:xfrm>
          <a:custGeom>
            <a:avLst/>
            <a:gdLst/>
            <a:ahLst/>
            <a:cxnLst/>
            <a:rect l="l" t="t" r="r" b="b"/>
            <a:pathLst>
              <a:path w="4657344" h="6858000">
                <a:moveTo>
                  <a:pt x="0" y="0"/>
                </a:moveTo>
                <a:lnTo>
                  <a:pt x="3429755" y="0"/>
                </a:lnTo>
                <a:lnTo>
                  <a:pt x="3526016" y="148742"/>
                </a:lnTo>
                <a:cubicBezTo>
                  <a:pt x="3657740" y="365513"/>
                  <a:pt x="3777402" y="589569"/>
                  <a:pt x="3886489" y="819975"/>
                </a:cubicBezTo>
                <a:cubicBezTo>
                  <a:pt x="3891856" y="833492"/>
                  <a:pt x="3900663" y="845393"/>
                  <a:pt x="3912049" y="854514"/>
                </a:cubicBezTo>
                <a:cubicBezTo>
                  <a:pt x="3897352" y="819849"/>
                  <a:pt x="3883037" y="784928"/>
                  <a:pt x="3868083" y="750263"/>
                </a:cubicBezTo>
                <a:cubicBezTo>
                  <a:pt x="3806989" y="608712"/>
                  <a:pt x="3742478" y="469145"/>
                  <a:pt x="3674155" y="331786"/>
                </a:cubicBezTo>
                <a:lnTo>
                  <a:pt x="3496656" y="0"/>
                </a:lnTo>
                <a:lnTo>
                  <a:pt x="3554371" y="0"/>
                </a:lnTo>
                <a:lnTo>
                  <a:pt x="3661621" y="196614"/>
                </a:lnTo>
                <a:cubicBezTo>
                  <a:pt x="3856899" y="573253"/>
                  <a:pt x="4021071" y="966066"/>
                  <a:pt x="4161279" y="1371196"/>
                </a:cubicBezTo>
                <a:cubicBezTo>
                  <a:pt x="4379525" y="2007265"/>
                  <a:pt x="4530141" y="2664286"/>
                  <a:pt x="4610660" y="3331516"/>
                </a:cubicBezTo>
                <a:cubicBezTo>
                  <a:pt x="4652837" y="3672965"/>
                  <a:pt x="4671625" y="4013908"/>
                  <a:pt x="4645040" y="4357388"/>
                </a:cubicBezTo>
                <a:cubicBezTo>
                  <a:pt x="4613599" y="4758899"/>
                  <a:pt x="4566181" y="5157998"/>
                  <a:pt x="4485789" y="5552906"/>
                </a:cubicBezTo>
                <a:cubicBezTo>
                  <a:pt x="4397121" y="5988893"/>
                  <a:pt x="4276748" y="6414594"/>
                  <a:pt x="4117769" y="6828295"/>
                </a:cubicBezTo>
                <a:lnTo>
                  <a:pt x="4105288" y="6858000"/>
                </a:lnTo>
                <a:lnTo>
                  <a:pt x="4052520" y="6858000"/>
                </a:lnTo>
                <a:lnTo>
                  <a:pt x="4059369" y="6841549"/>
                </a:lnTo>
                <a:cubicBezTo>
                  <a:pt x="4147276" y="6614016"/>
                  <a:pt x="4224193" y="6380817"/>
                  <a:pt x="4291518" y="6142729"/>
                </a:cubicBezTo>
                <a:cubicBezTo>
                  <a:pt x="4350055" y="5935370"/>
                  <a:pt x="4393256" y="5723695"/>
                  <a:pt x="4443357" y="5513923"/>
                </a:cubicBezTo>
                <a:cubicBezTo>
                  <a:pt x="4444541" y="5502788"/>
                  <a:pt x="4445137" y="5491601"/>
                  <a:pt x="4445146" y="5480401"/>
                </a:cubicBezTo>
                <a:cubicBezTo>
                  <a:pt x="4408465" y="5607635"/>
                  <a:pt x="4379196" y="5719759"/>
                  <a:pt x="4344559" y="5830359"/>
                </a:cubicBezTo>
                <a:cubicBezTo>
                  <a:pt x="4254261" y="6118381"/>
                  <a:pt x="4150112" y="6398531"/>
                  <a:pt x="4031702" y="6670527"/>
                </a:cubicBezTo>
                <a:lnTo>
                  <a:pt x="3943824" y="6858000"/>
                </a:lnTo>
                <a:lnTo>
                  <a:pt x="0" y="6858000"/>
                </a:lnTo>
                <a:close/>
              </a:path>
            </a:pathLst>
          </a:custGeom>
        </p:spPr>
      </p:pic>
      <p:sp>
        <p:nvSpPr>
          <p:cNvPr id="30" name="sketchy line">
            <a:extLst>
              <a:ext uri="{FF2B5EF4-FFF2-40B4-BE49-F238E27FC236}">
                <a16:creationId xmlns:a16="http://schemas.microsoft.com/office/drawing/2014/main" id="{F49775AF-8896-43EE-92C6-83497D6DC5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12862" y="4409267"/>
            <a:ext cx="4243589" cy="18288"/>
          </a:xfrm>
          <a:custGeom>
            <a:avLst/>
            <a:gdLst>
              <a:gd name="csX0" fmla="*/ 0 w 4243589"/>
              <a:gd name="csY0" fmla="*/ 0 h 18288"/>
              <a:gd name="csX1" fmla="*/ 563791 w 4243589"/>
              <a:gd name="csY1" fmla="*/ 0 h 18288"/>
              <a:gd name="csX2" fmla="*/ 1042710 w 4243589"/>
              <a:gd name="csY2" fmla="*/ 0 h 18288"/>
              <a:gd name="csX3" fmla="*/ 1564066 w 4243589"/>
              <a:gd name="csY3" fmla="*/ 0 h 18288"/>
              <a:gd name="csX4" fmla="*/ 2212729 w 4243589"/>
              <a:gd name="csY4" fmla="*/ 0 h 18288"/>
              <a:gd name="csX5" fmla="*/ 2776520 w 4243589"/>
              <a:gd name="csY5" fmla="*/ 0 h 18288"/>
              <a:gd name="csX6" fmla="*/ 3297875 w 4243589"/>
              <a:gd name="csY6" fmla="*/ 0 h 18288"/>
              <a:gd name="csX7" fmla="*/ 4243589 w 4243589"/>
              <a:gd name="csY7" fmla="*/ 0 h 18288"/>
              <a:gd name="csX8" fmla="*/ 4243589 w 4243589"/>
              <a:gd name="csY8" fmla="*/ 18288 h 18288"/>
              <a:gd name="csX9" fmla="*/ 3637362 w 4243589"/>
              <a:gd name="csY9" fmla="*/ 18288 h 18288"/>
              <a:gd name="csX10" fmla="*/ 3116007 w 4243589"/>
              <a:gd name="csY10" fmla="*/ 18288 h 18288"/>
              <a:gd name="csX11" fmla="*/ 2424908 w 4243589"/>
              <a:gd name="csY11" fmla="*/ 18288 h 18288"/>
              <a:gd name="csX12" fmla="*/ 1861117 w 4243589"/>
              <a:gd name="csY12" fmla="*/ 18288 h 18288"/>
              <a:gd name="csX13" fmla="*/ 1382198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157351" y="-15653"/>
                  <a:pt x="378877" y="-5828"/>
                  <a:pt x="563791" y="0"/>
                </a:cubicBezTo>
                <a:cubicBezTo>
                  <a:pt x="748705" y="5828"/>
                  <a:pt x="905659" y="-5525"/>
                  <a:pt x="1042710" y="0"/>
                </a:cubicBezTo>
                <a:cubicBezTo>
                  <a:pt x="1179761" y="5525"/>
                  <a:pt x="1356845" y="-21288"/>
                  <a:pt x="1564066" y="0"/>
                </a:cubicBezTo>
                <a:cubicBezTo>
                  <a:pt x="1771287" y="21288"/>
                  <a:pt x="1912099" y="25135"/>
                  <a:pt x="2212729" y="0"/>
                </a:cubicBezTo>
                <a:cubicBezTo>
                  <a:pt x="2513359" y="-25135"/>
                  <a:pt x="2514918" y="-27119"/>
                  <a:pt x="2776520" y="0"/>
                </a:cubicBezTo>
                <a:cubicBezTo>
                  <a:pt x="3038122" y="27119"/>
                  <a:pt x="3178771" y="18116"/>
                  <a:pt x="3297875" y="0"/>
                </a:cubicBezTo>
                <a:cubicBezTo>
                  <a:pt x="3416980" y="-18116"/>
                  <a:pt x="4012240" y="-40869"/>
                  <a:pt x="4243589" y="0"/>
                </a:cubicBezTo>
                <a:cubicBezTo>
                  <a:pt x="4243987" y="7429"/>
                  <a:pt x="4243569" y="10822"/>
                  <a:pt x="4243589" y="18288"/>
                </a:cubicBezTo>
                <a:cubicBezTo>
                  <a:pt x="4112949" y="-2855"/>
                  <a:pt x="3928037" y="1831"/>
                  <a:pt x="3637362" y="18288"/>
                </a:cubicBezTo>
                <a:cubicBezTo>
                  <a:pt x="3346687" y="34745"/>
                  <a:pt x="3254446" y="26669"/>
                  <a:pt x="3116007" y="18288"/>
                </a:cubicBezTo>
                <a:cubicBezTo>
                  <a:pt x="2977569" y="9907"/>
                  <a:pt x="2620228" y="28873"/>
                  <a:pt x="2424908" y="18288"/>
                </a:cubicBezTo>
                <a:cubicBezTo>
                  <a:pt x="2229588" y="7703"/>
                  <a:pt x="2088287" y="-3854"/>
                  <a:pt x="1861117" y="18288"/>
                </a:cubicBezTo>
                <a:cubicBezTo>
                  <a:pt x="1633947" y="40430"/>
                  <a:pt x="1502447" y="-871"/>
                  <a:pt x="1382198" y="18288"/>
                </a:cubicBezTo>
                <a:cubicBezTo>
                  <a:pt x="1261949" y="37447"/>
                  <a:pt x="1045440" y="28353"/>
                  <a:pt x="733535" y="18288"/>
                </a:cubicBezTo>
                <a:cubicBezTo>
                  <a:pt x="421630" y="8223"/>
                  <a:pt x="341257" y="-18359"/>
                  <a:pt x="0" y="18288"/>
                </a:cubicBezTo>
                <a:cubicBezTo>
                  <a:pt x="-591" y="13205"/>
                  <a:pt x="-663" y="6329"/>
                  <a:pt x="0" y="0"/>
                </a:cubicBezTo>
                <a:close/>
              </a:path>
              <a:path w="4243589" h="18288" stroke="0" extrusionOk="0">
                <a:moveTo>
                  <a:pt x="0" y="0"/>
                </a:moveTo>
                <a:cubicBezTo>
                  <a:pt x="128164" y="17204"/>
                  <a:pt x="312653" y="1129"/>
                  <a:pt x="563791" y="0"/>
                </a:cubicBezTo>
                <a:cubicBezTo>
                  <a:pt x="814929" y="-1129"/>
                  <a:pt x="837271" y="8503"/>
                  <a:pt x="1042710" y="0"/>
                </a:cubicBezTo>
                <a:cubicBezTo>
                  <a:pt x="1248149" y="-8503"/>
                  <a:pt x="1588432" y="-28862"/>
                  <a:pt x="1733809" y="0"/>
                </a:cubicBezTo>
                <a:cubicBezTo>
                  <a:pt x="1879186" y="28862"/>
                  <a:pt x="2052815" y="5974"/>
                  <a:pt x="2297600" y="0"/>
                </a:cubicBezTo>
                <a:cubicBezTo>
                  <a:pt x="2542385" y="-5974"/>
                  <a:pt x="2699960" y="-23550"/>
                  <a:pt x="2861391" y="0"/>
                </a:cubicBezTo>
                <a:cubicBezTo>
                  <a:pt x="3022822" y="23550"/>
                  <a:pt x="3390411" y="25272"/>
                  <a:pt x="3552490" y="0"/>
                </a:cubicBezTo>
                <a:cubicBezTo>
                  <a:pt x="3714569" y="-25272"/>
                  <a:pt x="3950585" y="-31327"/>
                  <a:pt x="4243589" y="0"/>
                </a:cubicBezTo>
                <a:cubicBezTo>
                  <a:pt x="4242703" y="5429"/>
                  <a:pt x="4244410" y="14046"/>
                  <a:pt x="4243589" y="18288"/>
                </a:cubicBezTo>
                <a:cubicBezTo>
                  <a:pt x="4130424" y="-1240"/>
                  <a:pt x="3932803" y="42249"/>
                  <a:pt x="3722234" y="18288"/>
                </a:cubicBezTo>
                <a:cubicBezTo>
                  <a:pt x="3511665" y="-5673"/>
                  <a:pt x="3269903" y="45994"/>
                  <a:pt x="3116007" y="18288"/>
                </a:cubicBezTo>
                <a:cubicBezTo>
                  <a:pt x="2962111" y="-9418"/>
                  <a:pt x="2744280" y="23224"/>
                  <a:pt x="2509780" y="18288"/>
                </a:cubicBezTo>
                <a:cubicBezTo>
                  <a:pt x="2275280" y="13352"/>
                  <a:pt x="2066059" y="43664"/>
                  <a:pt x="1945989" y="18288"/>
                </a:cubicBezTo>
                <a:cubicBezTo>
                  <a:pt x="1825919" y="-7088"/>
                  <a:pt x="1407329" y="12616"/>
                  <a:pt x="1254890" y="18288"/>
                </a:cubicBezTo>
                <a:cubicBezTo>
                  <a:pt x="1102451" y="23960"/>
                  <a:pt x="837950" y="31673"/>
                  <a:pt x="563791" y="18288"/>
                </a:cubicBezTo>
                <a:cubicBezTo>
                  <a:pt x="289632" y="4903"/>
                  <a:pt x="132768" y="7105"/>
                  <a:pt x="0" y="18288"/>
                </a:cubicBezTo>
                <a:cubicBezTo>
                  <a:pt x="668" y="13665"/>
                  <a:pt x="578" y="5675"/>
                  <a:pt x="0" y="0"/>
                </a:cubicBezTo>
                <a:close/>
              </a:path>
            </a:pathLst>
          </a:custGeom>
          <a:solidFill>
            <a:schemeClr val="accent2"/>
          </a:solidFill>
          <a:ln w="4445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14159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par>
                                <p:cTn id="8" presetID="10" presetClass="entr" presetSubtype="0" fill="hold" grpId="0" nodeType="withEffect">
                                  <p:stCondLst>
                                    <p:cond delay="1500"/>
                                  </p:stCondLst>
                                  <p:iterate>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7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AFAF7"/>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777A147A-9ED8-46B4-8660-1B3C2AA880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DE9FC05C-E79A-F5B5-327B-29607701820D}"/>
              </a:ext>
            </a:extLst>
          </p:cNvPr>
          <p:cNvSpPr>
            <a:spLocks noGrp="1"/>
          </p:cNvSpPr>
          <p:nvPr>
            <p:ph type="title"/>
          </p:nvPr>
        </p:nvSpPr>
        <p:spPr>
          <a:xfrm>
            <a:off x="841248" y="548640"/>
            <a:ext cx="3600860" cy="5431536"/>
          </a:xfrm>
        </p:spPr>
        <p:txBody>
          <a:bodyPr>
            <a:normAutofit/>
          </a:bodyPr>
          <a:lstStyle/>
          <a:p>
            <a:pPr algn="ctr"/>
            <a:r>
              <a:rPr lang="en-US" b="1" dirty="0"/>
              <a:t>Purpose of This Analysis</a:t>
            </a:r>
          </a:p>
        </p:txBody>
      </p:sp>
      <p:sp>
        <p:nvSpPr>
          <p:cNvPr id="12" name="sketch line">
            <a:extLst>
              <a:ext uri="{FF2B5EF4-FFF2-40B4-BE49-F238E27FC236}">
                <a16:creationId xmlns:a16="http://schemas.microsoft.com/office/drawing/2014/main" id="{5D6C15A0-C087-4593-8414-2B4EC1CDC3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543983" y="3258715"/>
            <a:ext cx="4480560" cy="18288"/>
          </a:xfrm>
          <a:custGeom>
            <a:avLst/>
            <a:gdLst>
              <a:gd name="csX0" fmla="*/ 0 w 4480560"/>
              <a:gd name="csY0" fmla="*/ 0 h 18288"/>
              <a:gd name="csX1" fmla="*/ 595274 w 4480560"/>
              <a:gd name="csY1" fmla="*/ 0 h 18288"/>
              <a:gd name="csX2" fmla="*/ 1100938 w 4480560"/>
              <a:gd name="csY2" fmla="*/ 0 h 18288"/>
              <a:gd name="csX3" fmla="*/ 1651406 w 4480560"/>
              <a:gd name="csY3" fmla="*/ 0 h 18288"/>
              <a:gd name="csX4" fmla="*/ 2336292 w 4480560"/>
              <a:gd name="csY4" fmla="*/ 0 h 18288"/>
              <a:gd name="csX5" fmla="*/ 2931566 w 4480560"/>
              <a:gd name="csY5" fmla="*/ 0 h 18288"/>
              <a:gd name="csX6" fmla="*/ 3482035 w 4480560"/>
              <a:gd name="csY6" fmla="*/ 0 h 18288"/>
              <a:gd name="csX7" fmla="*/ 4480560 w 4480560"/>
              <a:gd name="csY7" fmla="*/ 0 h 18288"/>
              <a:gd name="csX8" fmla="*/ 4480560 w 4480560"/>
              <a:gd name="csY8" fmla="*/ 18288 h 18288"/>
              <a:gd name="csX9" fmla="*/ 3840480 w 4480560"/>
              <a:gd name="csY9" fmla="*/ 18288 h 18288"/>
              <a:gd name="csX10" fmla="*/ 3290011 w 4480560"/>
              <a:gd name="csY10" fmla="*/ 18288 h 18288"/>
              <a:gd name="csX11" fmla="*/ 2560320 w 4480560"/>
              <a:gd name="csY11" fmla="*/ 18288 h 18288"/>
              <a:gd name="csX12" fmla="*/ 1965046 w 4480560"/>
              <a:gd name="csY12" fmla="*/ 18288 h 18288"/>
              <a:gd name="csX13" fmla="*/ 1459382 w 4480560"/>
              <a:gd name="csY13" fmla="*/ 18288 h 18288"/>
              <a:gd name="csX14" fmla="*/ 774497 w 4480560"/>
              <a:gd name="csY14" fmla="*/ 18288 h 18288"/>
              <a:gd name="csX15" fmla="*/ 0 w 4480560"/>
              <a:gd name="csY15" fmla="*/ 18288 h 18288"/>
              <a:gd name="csX16" fmla="*/ 0 w 4480560"/>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480560" h="18288" fill="none" extrusionOk="0">
                <a:moveTo>
                  <a:pt x="0" y="0"/>
                </a:moveTo>
                <a:cubicBezTo>
                  <a:pt x="267821" y="8731"/>
                  <a:pt x="334105" y="2629"/>
                  <a:pt x="595274" y="0"/>
                </a:cubicBezTo>
                <a:cubicBezTo>
                  <a:pt x="856443" y="-2629"/>
                  <a:pt x="863808" y="-13353"/>
                  <a:pt x="1100938" y="0"/>
                </a:cubicBezTo>
                <a:cubicBezTo>
                  <a:pt x="1338068" y="13353"/>
                  <a:pt x="1431663" y="-25862"/>
                  <a:pt x="1651406" y="0"/>
                </a:cubicBezTo>
                <a:cubicBezTo>
                  <a:pt x="1871149" y="25862"/>
                  <a:pt x="2173163" y="23827"/>
                  <a:pt x="2336292" y="0"/>
                </a:cubicBezTo>
                <a:cubicBezTo>
                  <a:pt x="2499421" y="-23827"/>
                  <a:pt x="2720589" y="28148"/>
                  <a:pt x="2931566" y="0"/>
                </a:cubicBezTo>
                <a:cubicBezTo>
                  <a:pt x="3142543" y="-28148"/>
                  <a:pt x="3323630" y="27022"/>
                  <a:pt x="3482035" y="0"/>
                </a:cubicBezTo>
                <a:cubicBezTo>
                  <a:pt x="3640440" y="-27022"/>
                  <a:pt x="4012110" y="-20118"/>
                  <a:pt x="4480560" y="0"/>
                </a:cubicBezTo>
                <a:cubicBezTo>
                  <a:pt x="4480958" y="7429"/>
                  <a:pt x="4480540" y="10822"/>
                  <a:pt x="4480560" y="18288"/>
                </a:cubicBezTo>
                <a:cubicBezTo>
                  <a:pt x="4314132" y="14924"/>
                  <a:pt x="4028383" y="36632"/>
                  <a:pt x="3840480" y="18288"/>
                </a:cubicBezTo>
                <a:cubicBezTo>
                  <a:pt x="3652577" y="-56"/>
                  <a:pt x="3547615" y="2848"/>
                  <a:pt x="3290011" y="18288"/>
                </a:cubicBezTo>
                <a:cubicBezTo>
                  <a:pt x="3032407" y="33728"/>
                  <a:pt x="2830268" y="8719"/>
                  <a:pt x="2560320" y="18288"/>
                </a:cubicBezTo>
                <a:cubicBezTo>
                  <a:pt x="2290372" y="27857"/>
                  <a:pt x="2147422" y="6728"/>
                  <a:pt x="1965046" y="18288"/>
                </a:cubicBezTo>
                <a:cubicBezTo>
                  <a:pt x="1782670" y="29848"/>
                  <a:pt x="1689791" y="40680"/>
                  <a:pt x="1459382" y="18288"/>
                </a:cubicBezTo>
                <a:cubicBezTo>
                  <a:pt x="1228973" y="-4104"/>
                  <a:pt x="915486" y="36501"/>
                  <a:pt x="774497" y="18288"/>
                </a:cubicBezTo>
                <a:cubicBezTo>
                  <a:pt x="633508" y="75"/>
                  <a:pt x="361442" y="-11107"/>
                  <a:pt x="0" y="18288"/>
                </a:cubicBezTo>
                <a:cubicBezTo>
                  <a:pt x="-591" y="13205"/>
                  <a:pt x="-663" y="6329"/>
                  <a:pt x="0" y="0"/>
                </a:cubicBezTo>
                <a:close/>
              </a:path>
              <a:path w="4480560" h="18288" stroke="0" extrusionOk="0">
                <a:moveTo>
                  <a:pt x="0" y="0"/>
                </a:moveTo>
                <a:cubicBezTo>
                  <a:pt x="285465" y="225"/>
                  <a:pt x="322691" y="16223"/>
                  <a:pt x="595274" y="0"/>
                </a:cubicBezTo>
                <a:cubicBezTo>
                  <a:pt x="867857" y="-16223"/>
                  <a:pt x="989129" y="-11242"/>
                  <a:pt x="1100938" y="0"/>
                </a:cubicBezTo>
                <a:cubicBezTo>
                  <a:pt x="1212747" y="11242"/>
                  <a:pt x="1574350" y="-36410"/>
                  <a:pt x="1830629" y="0"/>
                </a:cubicBezTo>
                <a:cubicBezTo>
                  <a:pt x="2086908" y="36410"/>
                  <a:pt x="2180922" y="4645"/>
                  <a:pt x="2425903" y="0"/>
                </a:cubicBezTo>
                <a:cubicBezTo>
                  <a:pt x="2670884" y="-4645"/>
                  <a:pt x="2782024" y="22929"/>
                  <a:pt x="3021178" y="0"/>
                </a:cubicBezTo>
                <a:cubicBezTo>
                  <a:pt x="3260332" y="-22929"/>
                  <a:pt x="3456982" y="-1586"/>
                  <a:pt x="3750869" y="0"/>
                </a:cubicBezTo>
                <a:cubicBezTo>
                  <a:pt x="4044756" y="1586"/>
                  <a:pt x="4302726" y="17043"/>
                  <a:pt x="4480560" y="0"/>
                </a:cubicBezTo>
                <a:cubicBezTo>
                  <a:pt x="4479674" y="5429"/>
                  <a:pt x="4481381" y="14046"/>
                  <a:pt x="4480560" y="18288"/>
                </a:cubicBezTo>
                <a:cubicBezTo>
                  <a:pt x="4279652" y="-6850"/>
                  <a:pt x="4200762" y="41566"/>
                  <a:pt x="3930091" y="18288"/>
                </a:cubicBezTo>
                <a:cubicBezTo>
                  <a:pt x="3659420" y="-4990"/>
                  <a:pt x="3456052" y="22294"/>
                  <a:pt x="3290011" y="18288"/>
                </a:cubicBezTo>
                <a:cubicBezTo>
                  <a:pt x="3123970" y="14282"/>
                  <a:pt x="2882392" y="32818"/>
                  <a:pt x="2649931" y="18288"/>
                </a:cubicBezTo>
                <a:cubicBezTo>
                  <a:pt x="2417470" y="3758"/>
                  <a:pt x="2238426" y="7337"/>
                  <a:pt x="2054657" y="18288"/>
                </a:cubicBezTo>
                <a:cubicBezTo>
                  <a:pt x="1870888" y="29239"/>
                  <a:pt x="1566368" y="45040"/>
                  <a:pt x="1324966" y="18288"/>
                </a:cubicBezTo>
                <a:cubicBezTo>
                  <a:pt x="1083564" y="-8464"/>
                  <a:pt x="787410" y="10946"/>
                  <a:pt x="595274" y="18288"/>
                </a:cubicBezTo>
                <a:cubicBezTo>
                  <a:pt x="403138" y="25630"/>
                  <a:pt x="169622" y="10499"/>
                  <a:pt x="0" y="18288"/>
                </a:cubicBezTo>
                <a:cubicBezTo>
                  <a:pt x="668" y="13665"/>
                  <a:pt x="578" y="5675"/>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TextBox 3">
            <a:extLst>
              <a:ext uri="{FF2B5EF4-FFF2-40B4-BE49-F238E27FC236}">
                <a16:creationId xmlns:a16="http://schemas.microsoft.com/office/drawing/2014/main" id="{35E1C994-818C-0ACC-C41E-5E01DA946D82}"/>
              </a:ext>
            </a:extLst>
          </p:cNvPr>
          <p:cNvSpPr txBox="1"/>
          <p:nvPr/>
        </p:nvSpPr>
        <p:spPr>
          <a:xfrm>
            <a:off x="5223031" y="2602688"/>
            <a:ext cx="6403552" cy="1631216"/>
          </a:xfrm>
          <a:prstGeom prst="rect">
            <a:avLst/>
          </a:prstGeom>
          <a:noFill/>
        </p:spPr>
        <p:txBody>
          <a:bodyPr wrap="square" rtlCol="0">
            <a:spAutoFit/>
          </a:bodyPr>
          <a:lstStyle/>
          <a:p>
            <a:r>
              <a:rPr lang="en-US" sz="2000" dirty="0"/>
              <a:t>To evaluate changes in housing affordability in Metro Nashville from 2020 to 2023 by analyzing trends in home prices, mortgage interest rates, and household income, and to identify differences in affordability outcomes across ZIP codes.</a:t>
            </a:r>
          </a:p>
        </p:txBody>
      </p:sp>
    </p:spTree>
    <p:extLst>
      <p:ext uri="{BB962C8B-B14F-4D97-AF65-F5344CB8AC3E}">
        <p14:creationId xmlns:p14="http://schemas.microsoft.com/office/powerpoint/2010/main" val="34848875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AFAF7"/>
        </a:solidFill>
        <a:effectLst/>
      </p:bgPr>
    </p:bg>
    <p:spTree>
      <p:nvGrpSpPr>
        <p:cNvPr id="1" name="">
          <a:extLst>
            <a:ext uri="{FF2B5EF4-FFF2-40B4-BE49-F238E27FC236}">
              <a16:creationId xmlns:a16="http://schemas.microsoft.com/office/drawing/2014/main" id="{43E77630-18EE-928C-634C-5E9C4E3C0046}"/>
            </a:ext>
          </a:extLst>
        </p:cNvPr>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EE6226DB-4232-F6B4-B520-30D9636796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CEEC8808-9AEF-CD15-EBA7-1CA3413867B0}"/>
              </a:ext>
            </a:extLst>
          </p:cNvPr>
          <p:cNvSpPr>
            <a:spLocks noGrp="1"/>
          </p:cNvSpPr>
          <p:nvPr>
            <p:ph type="title"/>
          </p:nvPr>
        </p:nvSpPr>
        <p:spPr>
          <a:xfrm>
            <a:off x="838200" y="365125"/>
            <a:ext cx="10515600" cy="1325563"/>
          </a:xfrm>
        </p:spPr>
        <p:txBody>
          <a:bodyPr>
            <a:normAutofit/>
          </a:bodyPr>
          <a:lstStyle/>
          <a:p>
            <a:r>
              <a:rPr lang="en-US" b="1" dirty="0"/>
              <a:t>Research Questions</a:t>
            </a:r>
          </a:p>
        </p:txBody>
      </p:sp>
      <p:sp>
        <p:nvSpPr>
          <p:cNvPr id="19" name="sketch line">
            <a:extLst>
              <a:ext uri="{FF2B5EF4-FFF2-40B4-BE49-F238E27FC236}">
                <a16:creationId xmlns:a16="http://schemas.microsoft.com/office/drawing/2014/main" id="{2490B431-C78D-22C2-2D2B-DDBF47A01F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1" name="TextBox 60">
            <a:extLst>
              <a:ext uri="{FF2B5EF4-FFF2-40B4-BE49-F238E27FC236}">
                <a16:creationId xmlns:a16="http://schemas.microsoft.com/office/drawing/2014/main" id="{A581FB95-F069-BC84-88AE-577884E5A698}"/>
              </a:ext>
            </a:extLst>
          </p:cNvPr>
          <p:cNvSpPr txBox="1"/>
          <p:nvPr/>
        </p:nvSpPr>
        <p:spPr>
          <a:xfrm>
            <a:off x="1569042" y="2055813"/>
            <a:ext cx="9050867" cy="4524315"/>
          </a:xfrm>
          <a:prstGeom prst="rect">
            <a:avLst/>
          </a:prstGeom>
          <a:noFill/>
        </p:spPr>
        <p:txBody>
          <a:bodyPr wrap="square" rtlCol="0">
            <a:spAutoFit/>
          </a:bodyPr>
          <a:lstStyle/>
          <a:p>
            <a:pPr marL="342900" indent="-342900">
              <a:buAutoNum type="arabicPeriod"/>
            </a:pPr>
            <a:r>
              <a:rPr lang="en-US" dirty="0"/>
              <a:t>How did median single-family home sale prices in Metro Nashville change between 2020 and 2023, and to what extent did median household income growth keep pace with these price changes?</a:t>
            </a:r>
          </a:p>
          <a:p>
            <a:pPr marL="342900" indent="-342900">
              <a:buFont typeface="+mj-lt"/>
              <a:buAutoNum type="arabicPeriod"/>
            </a:pPr>
            <a:endParaRPr lang="en-US" dirty="0"/>
          </a:p>
          <a:p>
            <a:pPr marL="342900" indent="-342900">
              <a:buFontTx/>
              <a:buAutoNum type="arabicPeriod"/>
            </a:pPr>
            <a:r>
              <a:rPr lang="en-US" dirty="0"/>
              <a:t>How did housing inventory levels and home sales volume in Metro Nashville change between 2020 and 2023, and how did these market conditions correspond with changes in median home sale prices?</a:t>
            </a:r>
          </a:p>
          <a:p>
            <a:pPr marL="342900" indent="-342900">
              <a:buFont typeface="+mj-lt"/>
              <a:buAutoNum type="arabicPeriod"/>
            </a:pPr>
            <a:endParaRPr lang="en-US" dirty="0"/>
          </a:p>
          <a:p>
            <a:pPr marL="342900" indent="-342900">
              <a:buFontTx/>
              <a:buAutoNum type="arabicPeriod"/>
            </a:pPr>
            <a:r>
              <a:rPr lang="en-US" dirty="0"/>
              <a:t>How did changes in 30-year fixed mortgage interest rates between 2020 and 2023 influence homeownership affordability for a median-income household in Metro Nashville?</a:t>
            </a:r>
          </a:p>
          <a:p>
            <a:pPr marL="342900" indent="-342900">
              <a:buFont typeface="+mj-lt"/>
              <a:buAutoNum type="arabicPeriod"/>
            </a:pPr>
            <a:endParaRPr lang="en-US" dirty="0"/>
          </a:p>
          <a:p>
            <a:pPr marL="342900" indent="-342900">
              <a:buFont typeface="+mj-lt"/>
              <a:buAutoNum type="arabicPeriod"/>
            </a:pPr>
            <a:r>
              <a:rPr lang="en-US" dirty="0"/>
              <a:t>Were changes in housing affordability evenly distributed across ZIP codes in Metro Nashville between 2020 and 2023, or did certain ZIP codes experience disproportionately larger shifts in affordability?</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31505685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AFAF7"/>
        </a:solidFill>
        <a:effectLst/>
      </p:bgPr>
    </p:bg>
    <p:spTree>
      <p:nvGrpSpPr>
        <p:cNvPr id="1" name="">
          <a:extLst>
            <a:ext uri="{FF2B5EF4-FFF2-40B4-BE49-F238E27FC236}">
              <a16:creationId xmlns:a16="http://schemas.microsoft.com/office/drawing/2014/main" id="{56F808D7-A765-76F0-9157-9650D33648AF}"/>
            </a:ext>
          </a:extLst>
        </p:cNvPr>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734538BD-5182-757D-AA03-7FE43366C4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0D3BA9AF-2BD7-97AC-F960-51216C2F9482}"/>
              </a:ext>
            </a:extLst>
          </p:cNvPr>
          <p:cNvSpPr>
            <a:spLocks noGrp="1"/>
          </p:cNvSpPr>
          <p:nvPr>
            <p:ph type="title"/>
          </p:nvPr>
        </p:nvSpPr>
        <p:spPr>
          <a:xfrm>
            <a:off x="838200" y="365125"/>
            <a:ext cx="10515600" cy="1325563"/>
          </a:xfrm>
        </p:spPr>
        <p:txBody>
          <a:bodyPr>
            <a:normAutofit/>
          </a:bodyPr>
          <a:lstStyle/>
          <a:p>
            <a:r>
              <a:rPr lang="en-US" b="1" dirty="0"/>
              <a:t>About the data</a:t>
            </a:r>
          </a:p>
        </p:txBody>
      </p:sp>
      <p:sp>
        <p:nvSpPr>
          <p:cNvPr id="19" name="sketch line">
            <a:extLst>
              <a:ext uri="{FF2B5EF4-FFF2-40B4-BE49-F238E27FC236}">
                <a16:creationId xmlns:a16="http://schemas.microsoft.com/office/drawing/2014/main" id="{E2E8BF61-004B-D31B-5057-33B6A1A098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1" name="TextBox 60">
            <a:extLst>
              <a:ext uri="{FF2B5EF4-FFF2-40B4-BE49-F238E27FC236}">
                <a16:creationId xmlns:a16="http://schemas.microsoft.com/office/drawing/2014/main" id="{BFD046D5-C800-2F5C-68F0-9AD62A89727F}"/>
              </a:ext>
            </a:extLst>
          </p:cNvPr>
          <p:cNvSpPr txBox="1"/>
          <p:nvPr/>
        </p:nvSpPr>
        <p:spPr>
          <a:xfrm>
            <a:off x="838200" y="2055813"/>
            <a:ext cx="9050867" cy="3970318"/>
          </a:xfrm>
          <a:prstGeom prst="rect">
            <a:avLst/>
          </a:prstGeom>
          <a:noFill/>
        </p:spPr>
        <p:txBody>
          <a:bodyPr wrap="square" rtlCol="0">
            <a:spAutoFit/>
          </a:bodyPr>
          <a:lstStyle/>
          <a:p>
            <a:pPr marL="285750" indent="-285750">
              <a:buFont typeface="Arial" panose="020B0604020202020204" pitchFamily="34" charset="0"/>
              <a:buChar char="•"/>
            </a:pPr>
            <a:r>
              <a:rPr lang="en-US" b="1" dirty="0"/>
              <a:t>Scope</a:t>
            </a:r>
            <a:endParaRPr lang="en-US" dirty="0"/>
          </a:p>
          <a:p>
            <a:pPr marL="742950" lvl="1" indent="-285750">
              <a:buFont typeface="Arial" panose="020B0604020202020204" pitchFamily="34" charset="0"/>
              <a:buChar char="•"/>
            </a:pPr>
            <a:r>
              <a:rPr lang="en-US" b="1" dirty="0"/>
              <a:t>Location:</a:t>
            </a:r>
            <a:r>
              <a:rPr lang="en-US" dirty="0"/>
              <a:t> Metro Nashville</a:t>
            </a:r>
          </a:p>
          <a:p>
            <a:pPr marL="742950" lvl="1" indent="-285750">
              <a:buFont typeface="Arial" panose="020B0604020202020204" pitchFamily="34" charset="0"/>
              <a:buChar char="•"/>
            </a:pPr>
            <a:r>
              <a:rPr lang="en-US" b="1" dirty="0"/>
              <a:t>Period:</a:t>
            </a:r>
            <a:r>
              <a:rPr lang="en-US" dirty="0"/>
              <a:t> 2020–2023</a:t>
            </a:r>
          </a:p>
          <a:p>
            <a:pPr marL="742950" lvl="1" indent="-285750">
              <a:buFont typeface="Arial" panose="020B0604020202020204" pitchFamily="34" charset="0"/>
              <a:buChar char="•"/>
            </a:pPr>
            <a:r>
              <a:rPr lang="en-US" b="1" dirty="0"/>
              <a:t>Focus:</a:t>
            </a:r>
            <a:r>
              <a:rPr lang="en-US" dirty="0"/>
              <a:t> Single-family housing affordability</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b="1" dirty="0"/>
              <a:t>Data Sources</a:t>
            </a:r>
            <a:endParaRPr lang="en-US" dirty="0"/>
          </a:p>
          <a:p>
            <a:pPr marL="742950" lvl="1" indent="-285750">
              <a:buFont typeface="Arial" panose="020B0604020202020204" pitchFamily="34" charset="0"/>
              <a:buChar char="•"/>
            </a:pPr>
            <a:r>
              <a:rPr lang="en-US" b="1" dirty="0"/>
              <a:t>Metro Nashville Parcel Sales Data:</a:t>
            </a:r>
            <a:r>
              <a:rPr lang="en-US" dirty="0"/>
              <a:t> Used to calculate </a:t>
            </a:r>
            <a:r>
              <a:rPr lang="en-US" b="1" dirty="0"/>
              <a:t>median single-family home sale prices</a:t>
            </a:r>
            <a:r>
              <a:rPr lang="en-US" dirty="0"/>
              <a:t> from observed transactions</a:t>
            </a:r>
          </a:p>
          <a:p>
            <a:pPr marL="742950" lvl="1" indent="-285750">
              <a:buFont typeface="Arial" panose="020B0604020202020204" pitchFamily="34" charset="0"/>
              <a:buChar char="•"/>
            </a:pPr>
            <a:r>
              <a:rPr lang="en-US" b="1" dirty="0"/>
              <a:t>Redfin Market Data:</a:t>
            </a:r>
            <a:r>
              <a:rPr lang="en-US" dirty="0"/>
              <a:t> Used for </a:t>
            </a:r>
            <a:r>
              <a:rPr lang="en-US" b="1" dirty="0"/>
              <a:t>inventory indicators, total homes sold, and market competitiveness</a:t>
            </a:r>
            <a:endParaRPr lang="en-US" dirty="0"/>
          </a:p>
          <a:p>
            <a:pPr marL="742950" lvl="1" indent="-285750">
              <a:buFont typeface="Arial" panose="020B0604020202020204" pitchFamily="34" charset="0"/>
              <a:buChar char="•"/>
            </a:pPr>
            <a:r>
              <a:rPr lang="en-US" b="1" dirty="0"/>
              <a:t>U.S. Census ACS:</a:t>
            </a:r>
            <a:r>
              <a:rPr lang="en-US" dirty="0"/>
              <a:t> Used for </a:t>
            </a:r>
            <a:r>
              <a:rPr lang="en-US" b="1" dirty="0"/>
              <a:t>median household income and housing context</a:t>
            </a:r>
            <a:r>
              <a:rPr lang="en-US" dirty="0"/>
              <a:t> at the ZIP (ZCTA) level</a:t>
            </a:r>
          </a:p>
          <a:p>
            <a:pPr marL="742950" lvl="1" indent="-285750">
              <a:buFont typeface="Arial" panose="020B0604020202020204" pitchFamily="34" charset="0"/>
              <a:buChar char="•"/>
            </a:pPr>
            <a:r>
              <a:rPr lang="en-US" b="1" dirty="0"/>
              <a:t>FRED (Federal Reserve Economic Data): </a:t>
            </a:r>
            <a:r>
              <a:rPr lang="en-US" dirty="0"/>
              <a:t>Used for </a:t>
            </a:r>
            <a:r>
              <a:rPr lang="en-US" b="1" dirty="0"/>
              <a:t>30-year fixed mortgage interest rates</a:t>
            </a:r>
            <a:endParaRPr lang="en-US" dirty="0"/>
          </a:p>
        </p:txBody>
      </p:sp>
    </p:spTree>
    <p:extLst>
      <p:ext uri="{BB962C8B-B14F-4D97-AF65-F5344CB8AC3E}">
        <p14:creationId xmlns:p14="http://schemas.microsoft.com/office/powerpoint/2010/main" val="83559944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AFAF7"/>
        </a:solidFill>
        <a:effectLst/>
      </p:bgPr>
    </p:bg>
    <p:spTree>
      <p:nvGrpSpPr>
        <p:cNvPr id="1" name="">
          <a:extLst>
            <a:ext uri="{FF2B5EF4-FFF2-40B4-BE49-F238E27FC236}">
              <a16:creationId xmlns:a16="http://schemas.microsoft.com/office/drawing/2014/main" id="{DF2F295F-C423-1C7A-F0D5-B4FEC5277C9B}"/>
            </a:ext>
          </a:extLst>
        </p:cNvPr>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9464FE2B-8E3D-B874-D701-0EA99F5F132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AFB1300D-AC32-6A7E-3302-C38583BC0E9A}"/>
              </a:ext>
            </a:extLst>
          </p:cNvPr>
          <p:cNvSpPr>
            <a:spLocks noGrp="1"/>
          </p:cNvSpPr>
          <p:nvPr>
            <p:ph type="title"/>
          </p:nvPr>
        </p:nvSpPr>
        <p:spPr>
          <a:xfrm>
            <a:off x="838200" y="365125"/>
            <a:ext cx="11201400" cy="1325563"/>
          </a:xfrm>
        </p:spPr>
        <p:txBody>
          <a:bodyPr>
            <a:normAutofit/>
          </a:bodyPr>
          <a:lstStyle/>
          <a:p>
            <a:r>
              <a:rPr lang="nb-NO" b="1" dirty="0"/>
              <a:t>Housing Market Snapshot</a:t>
            </a:r>
            <a:endParaRPr lang="en-US" b="1" dirty="0"/>
          </a:p>
        </p:txBody>
      </p:sp>
      <p:sp>
        <p:nvSpPr>
          <p:cNvPr id="19" name="sketch line">
            <a:extLst>
              <a:ext uri="{FF2B5EF4-FFF2-40B4-BE49-F238E27FC236}">
                <a16:creationId xmlns:a16="http://schemas.microsoft.com/office/drawing/2014/main" id="{7E048FF6-6921-1686-C0B2-27EB2F41AE1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0" name="Rectangle 49">
            <a:extLst>
              <a:ext uri="{FF2B5EF4-FFF2-40B4-BE49-F238E27FC236}">
                <a16:creationId xmlns:a16="http://schemas.microsoft.com/office/drawing/2014/main" id="{7B064B8D-B47F-4375-2B50-CF6CF3893C03}"/>
              </a:ext>
            </a:extLst>
          </p:cNvPr>
          <p:cNvSpPr/>
          <p:nvPr/>
        </p:nvSpPr>
        <p:spPr>
          <a:xfrm>
            <a:off x="669036" y="2593271"/>
            <a:ext cx="2514600" cy="1600200"/>
          </a:xfrm>
          <a:prstGeom prst="rect">
            <a:avLst/>
          </a:prstGeom>
          <a:solidFill>
            <a:schemeClr val="bg1"/>
          </a:solidFill>
          <a:ln w="28575">
            <a:solidFill>
              <a:schemeClr val="bg2">
                <a:lumMod val="25000"/>
              </a:schemeClr>
            </a:solidFill>
          </a:ln>
          <a:effectLst>
            <a:outerShdw blurRad="63500" sx="102000" sy="102000" algn="ctr" rotWithShape="0">
              <a:prstClr val="black">
                <a:alpha val="40000"/>
              </a:prstClr>
            </a:outerShdw>
          </a:effectLst>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53" name="Rectangle 52">
            <a:extLst>
              <a:ext uri="{FF2B5EF4-FFF2-40B4-BE49-F238E27FC236}">
                <a16:creationId xmlns:a16="http://schemas.microsoft.com/office/drawing/2014/main" id="{A0F0684F-4197-6064-55B4-98EB35BEC608}"/>
              </a:ext>
            </a:extLst>
          </p:cNvPr>
          <p:cNvSpPr/>
          <p:nvPr/>
        </p:nvSpPr>
        <p:spPr>
          <a:xfrm>
            <a:off x="3525013" y="4460187"/>
            <a:ext cx="2514600" cy="1600200"/>
          </a:xfrm>
          <a:prstGeom prst="rect">
            <a:avLst/>
          </a:prstGeom>
          <a:solidFill>
            <a:schemeClr val="bg1"/>
          </a:solidFill>
          <a:ln w="28575">
            <a:solidFill>
              <a:schemeClr val="bg2">
                <a:lumMod val="25000"/>
              </a:schemeClr>
            </a:solidFill>
          </a:ln>
          <a:effectLst>
            <a:outerShdw blurRad="63500" sx="102000" sy="102000" algn="ctr" rotWithShape="0">
              <a:prstClr val="black">
                <a:alpha val="40000"/>
              </a:prstClr>
            </a:outerShdw>
          </a:effectLst>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54" name="Rectangle 53">
            <a:extLst>
              <a:ext uri="{FF2B5EF4-FFF2-40B4-BE49-F238E27FC236}">
                <a16:creationId xmlns:a16="http://schemas.microsoft.com/office/drawing/2014/main" id="{1EDDE1D7-883C-62FF-3687-9FBB1577874D}"/>
              </a:ext>
            </a:extLst>
          </p:cNvPr>
          <p:cNvSpPr/>
          <p:nvPr/>
        </p:nvSpPr>
        <p:spPr>
          <a:xfrm>
            <a:off x="3513695" y="2593271"/>
            <a:ext cx="2514600" cy="1600200"/>
          </a:xfrm>
          <a:prstGeom prst="rect">
            <a:avLst/>
          </a:prstGeom>
          <a:solidFill>
            <a:schemeClr val="bg1"/>
          </a:solidFill>
          <a:ln w="28575">
            <a:solidFill>
              <a:schemeClr val="bg2">
                <a:lumMod val="25000"/>
              </a:schemeClr>
            </a:solidFill>
          </a:ln>
          <a:effectLst>
            <a:outerShdw blurRad="63500" sx="102000" sy="102000" algn="ctr" rotWithShape="0">
              <a:prstClr val="black">
                <a:alpha val="40000"/>
              </a:prstClr>
            </a:outerShdw>
          </a:effectLst>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55" name="Rectangle 54">
            <a:extLst>
              <a:ext uri="{FF2B5EF4-FFF2-40B4-BE49-F238E27FC236}">
                <a16:creationId xmlns:a16="http://schemas.microsoft.com/office/drawing/2014/main" id="{F9704708-6D90-46C9-1CAE-40013BD95D43}"/>
              </a:ext>
            </a:extLst>
          </p:cNvPr>
          <p:cNvSpPr/>
          <p:nvPr/>
        </p:nvSpPr>
        <p:spPr>
          <a:xfrm>
            <a:off x="9236966" y="4460187"/>
            <a:ext cx="2514600" cy="1600200"/>
          </a:xfrm>
          <a:prstGeom prst="rect">
            <a:avLst/>
          </a:prstGeom>
          <a:solidFill>
            <a:schemeClr val="bg1"/>
          </a:solidFill>
          <a:ln w="28575">
            <a:solidFill>
              <a:schemeClr val="bg2">
                <a:lumMod val="25000"/>
              </a:schemeClr>
            </a:solidFill>
          </a:ln>
          <a:effectLst>
            <a:outerShdw blurRad="63500" sx="102000" sy="102000" algn="ctr" rotWithShape="0">
              <a:prstClr val="black">
                <a:alpha val="40000"/>
              </a:prstClr>
            </a:outerShdw>
          </a:effectLst>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56" name="Rectangle 55">
            <a:extLst>
              <a:ext uri="{FF2B5EF4-FFF2-40B4-BE49-F238E27FC236}">
                <a16:creationId xmlns:a16="http://schemas.microsoft.com/office/drawing/2014/main" id="{F92D9006-4F0B-4761-2C1A-A8C48A31A008}"/>
              </a:ext>
            </a:extLst>
          </p:cNvPr>
          <p:cNvSpPr/>
          <p:nvPr/>
        </p:nvSpPr>
        <p:spPr>
          <a:xfrm>
            <a:off x="9203012" y="2593271"/>
            <a:ext cx="2514600" cy="1600200"/>
          </a:xfrm>
          <a:prstGeom prst="rect">
            <a:avLst/>
          </a:prstGeom>
          <a:solidFill>
            <a:schemeClr val="bg1"/>
          </a:solidFill>
          <a:ln w="28575">
            <a:solidFill>
              <a:schemeClr val="bg2">
                <a:lumMod val="25000"/>
              </a:schemeClr>
            </a:solidFill>
          </a:ln>
          <a:effectLst>
            <a:outerShdw blurRad="63500" sx="102000" sy="102000" algn="ctr" rotWithShape="0">
              <a:prstClr val="black">
                <a:alpha val="40000"/>
              </a:prstClr>
            </a:outerShdw>
          </a:effectLst>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57" name="Rectangle 56">
            <a:extLst>
              <a:ext uri="{FF2B5EF4-FFF2-40B4-BE49-F238E27FC236}">
                <a16:creationId xmlns:a16="http://schemas.microsoft.com/office/drawing/2014/main" id="{32D69E2D-ACD2-E3BF-DC2D-FE6E5D6DFB26}"/>
              </a:ext>
            </a:extLst>
          </p:cNvPr>
          <p:cNvSpPr/>
          <p:nvPr/>
        </p:nvSpPr>
        <p:spPr>
          <a:xfrm>
            <a:off x="669036" y="4460187"/>
            <a:ext cx="2514600" cy="1600200"/>
          </a:xfrm>
          <a:prstGeom prst="rect">
            <a:avLst/>
          </a:prstGeom>
          <a:solidFill>
            <a:schemeClr val="bg1"/>
          </a:solidFill>
          <a:ln w="28575">
            <a:solidFill>
              <a:schemeClr val="bg2">
                <a:lumMod val="25000"/>
              </a:schemeClr>
            </a:solidFill>
          </a:ln>
          <a:effectLst>
            <a:outerShdw blurRad="63500" sx="102000" sy="102000" algn="ctr" rotWithShape="0">
              <a:prstClr val="black">
                <a:alpha val="40000"/>
              </a:prstClr>
            </a:outerShdw>
          </a:effectLst>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58" name="Rectangle 57">
            <a:extLst>
              <a:ext uri="{FF2B5EF4-FFF2-40B4-BE49-F238E27FC236}">
                <a16:creationId xmlns:a16="http://schemas.microsoft.com/office/drawing/2014/main" id="{A2B05C51-F692-ADF1-1A14-326A496A24C3}"/>
              </a:ext>
            </a:extLst>
          </p:cNvPr>
          <p:cNvSpPr/>
          <p:nvPr/>
        </p:nvSpPr>
        <p:spPr>
          <a:xfrm>
            <a:off x="6380990" y="4460187"/>
            <a:ext cx="2514600" cy="1600200"/>
          </a:xfrm>
          <a:prstGeom prst="rect">
            <a:avLst/>
          </a:prstGeom>
          <a:solidFill>
            <a:schemeClr val="bg1"/>
          </a:solidFill>
          <a:ln w="28575">
            <a:solidFill>
              <a:schemeClr val="bg2">
                <a:lumMod val="25000"/>
              </a:schemeClr>
            </a:solidFill>
          </a:ln>
          <a:effectLst>
            <a:outerShdw blurRad="63500" sx="102000" sy="102000" algn="ctr" rotWithShape="0">
              <a:prstClr val="black">
                <a:alpha val="40000"/>
              </a:prstClr>
            </a:outerShdw>
          </a:effectLst>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60" name="Rectangle 59">
            <a:extLst>
              <a:ext uri="{FF2B5EF4-FFF2-40B4-BE49-F238E27FC236}">
                <a16:creationId xmlns:a16="http://schemas.microsoft.com/office/drawing/2014/main" id="{9BFF97D0-ED64-E128-C274-C00499EFFAE4}"/>
              </a:ext>
            </a:extLst>
          </p:cNvPr>
          <p:cNvSpPr/>
          <p:nvPr/>
        </p:nvSpPr>
        <p:spPr>
          <a:xfrm>
            <a:off x="6358354" y="2593271"/>
            <a:ext cx="2514600" cy="1600200"/>
          </a:xfrm>
          <a:prstGeom prst="rect">
            <a:avLst/>
          </a:prstGeom>
          <a:solidFill>
            <a:schemeClr val="bg1"/>
          </a:solidFill>
          <a:ln w="28575">
            <a:solidFill>
              <a:schemeClr val="bg2">
                <a:lumMod val="25000"/>
              </a:schemeClr>
            </a:solidFill>
          </a:ln>
          <a:effectLst>
            <a:outerShdw blurRad="63500" sx="102000" sy="102000" algn="ctr" rotWithShape="0">
              <a:prstClr val="black">
                <a:alpha val="40000"/>
              </a:prstClr>
            </a:outerShdw>
          </a:effectLst>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62" name="TextBox 61">
            <a:extLst>
              <a:ext uri="{FF2B5EF4-FFF2-40B4-BE49-F238E27FC236}">
                <a16:creationId xmlns:a16="http://schemas.microsoft.com/office/drawing/2014/main" id="{EC08A544-DE54-C799-B423-36CDCF2C5E78}"/>
              </a:ext>
            </a:extLst>
          </p:cNvPr>
          <p:cNvSpPr txBox="1"/>
          <p:nvPr/>
        </p:nvSpPr>
        <p:spPr>
          <a:xfrm>
            <a:off x="898058" y="2977872"/>
            <a:ext cx="2056555" cy="830997"/>
          </a:xfrm>
          <a:prstGeom prst="rect">
            <a:avLst/>
          </a:prstGeom>
          <a:noFill/>
        </p:spPr>
        <p:txBody>
          <a:bodyPr wrap="square" rtlCol="0">
            <a:spAutoFit/>
          </a:bodyPr>
          <a:lstStyle/>
          <a:p>
            <a:pPr algn="ctr"/>
            <a:r>
              <a:rPr lang="en-US" sz="3400" b="1" dirty="0"/>
              <a:t>$320,000</a:t>
            </a:r>
          </a:p>
          <a:p>
            <a:pPr algn="ctr"/>
            <a:r>
              <a:rPr lang="en-US" sz="1400" dirty="0"/>
              <a:t>Median Sale Price</a:t>
            </a:r>
          </a:p>
        </p:txBody>
      </p:sp>
      <p:sp>
        <p:nvSpPr>
          <p:cNvPr id="63" name="TextBox 62">
            <a:extLst>
              <a:ext uri="{FF2B5EF4-FFF2-40B4-BE49-F238E27FC236}">
                <a16:creationId xmlns:a16="http://schemas.microsoft.com/office/drawing/2014/main" id="{5CDB8C99-1CCB-5587-C46B-2A5DF5A29899}"/>
              </a:ext>
            </a:extLst>
          </p:cNvPr>
          <p:cNvSpPr txBox="1"/>
          <p:nvPr/>
        </p:nvSpPr>
        <p:spPr>
          <a:xfrm>
            <a:off x="6574972" y="2977872"/>
            <a:ext cx="2089881" cy="830997"/>
          </a:xfrm>
          <a:prstGeom prst="rect">
            <a:avLst/>
          </a:prstGeom>
          <a:noFill/>
        </p:spPr>
        <p:txBody>
          <a:bodyPr wrap="square" rtlCol="0">
            <a:spAutoFit/>
          </a:bodyPr>
          <a:lstStyle/>
          <a:p>
            <a:pPr algn="ctr"/>
            <a:r>
              <a:rPr lang="en-US" sz="3400" b="1" dirty="0"/>
              <a:t>$437,200</a:t>
            </a:r>
          </a:p>
          <a:p>
            <a:pPr algn="ctr"/>
            <a:r>
              <a:rPr lang="en-US" sz="1400" dirty="0"/>
              <a:t>Median Sale Price</a:t>
            </a:r>
          </a:p>
        </p:txBody>
      </p:sp>
      <p:sp>
        <p:nvSpPr>
          <p:cNvPr id="65" name="TextBox 64">
            <a:extLst>
              <a:ext uri="{FF2B5EF4-FFF2-40B4-BE49-F238E27FC236}">
                <a16:creationId xmlns:a16="http://schemas.microsoft.com/office/drawing/2014/main" id="{40D337F7-9BCF-4A96-AD0F-AE467E9DF863}"/>
              </a:ext>
            </a:extLst>
          </p:cNvPr>
          <p:cNvSpPr txBox="1"/>
          <p:nvPr/>
        </p:nvSpPr>
        <p:spPr>
          <a:xfrm>
            <a:off x="3599856" y="2977872"/>
            <a:ext cx="2329873" cy="830997"/>
          </a:xfrm>
          <a:prstGeom prst="rect">
            <a:avLst/>
          </a:prstGeom>
          <a:noFill/>
        </p:spPr>
        <p:txBody>
          <a:bodyPr wrap="square" rtlCol="0">
            <a:spAutoFit/>
          </a:bodyPr>
          <a:lstStyle/>
          <a:p>
            <a:pPr algn="ctr"/>
            <a:r>
              <a:rPr lang="en-US" sz="3400" b="1" dirty="0"/>
              <a:t>$74,974</a:t>
            </a:r>
          </a:p>
          <a:p>
            <a:pPr algn="ctr"/>
            <a:r>
              <a:rPr lang="en-US" sz="1400" dirty="0"/>
              <a:t>Median Household Income</a:t>
            </a:r>
          </a:p>
        </p:txBody>
      </p:sp>
      <p:sp>
        <p:nvSpPr>
          <p:cNvPr id="67" name="TextBox 66">
            <a:extLst>
              <a:ext uri="{FF2B5EF4-FFF2-40B4-BE49-F238E27FC236}">
                <a16:creationId xmlns:a16="http://schemas.microsoft.com/office/drawing/2014/main" id="{CD7201A7-9E3A-067E-7422-34FDC06F2DFB}"/>
              </a:ext>
            </a:extLst>
          </p:cNvPr>
          <p:cNvSpPr txBox="1"/>
          <p:nvPr/>
        </p:nvSpPr>
        <p:spPr>
          <a:xfrm>
            <a:off x="9310097" y="2977872"/>
            <a:ext cx="2368338" cy="830997"/>
          </a:xfrm>
          <a:prstGeom prst="rect">
            <a:avLst/>
          </a:prstGeom>
          <a:noFill/>
        </p:spPr>
        <p:txBody>
          <a:bodyPr wrap="square" rtlCol="0">
            <a:spAutoFit/>
          </a:bodyPr>
          <a:lstStyle/>
          <a:p>
            <a:pPr algn="ctr"/>
            <a:r>
              <a:rPr lang="en-US" sz="3400" b="1" dirty="0"/>
              <a:t>$90,246</a:t>
            </a:r>
          </a:p>
          <a:p>
            <a:pPr algn="ctr"/>
            <a:r>
              <a:rPr lang="en-US" sz="1400" dirty="0"/>
              <a:t>Median Household Income</a:t>
            </a:r>
          </a:p>
        </p:txBody>
      </p:sp>
      <p:sp>
        <p:nvSpPr>
          <p:cNvPr id="3" name="TextBox 2">
            <a:extLst>
              <a:ext uri="{FF2B5EF4-FFF2-40B4-BE49-F238E27FC236}">
                <a16:creationId xmlns:a16="http://schemas.microsoft.com/office/drawing/2014/main" id="{BD7F736E-6940-81F4-8CCE-71C9F3341512}"/>
              </a:ext>
            </a:extLst>
          </p:cNvPr>
          <p:cNvSpPr txBox="1"/>
          <p:nvPr/>
        </p:nvSpPr>
        <p:spPr>
          <a:xfrm>
            <a:off x="2799451" y="1816327"/>
            <a:ext cx="1428488" cy="646331"/>
          </a:xfrm>
          <a:prstGeom prst="rect">
            <a:avLst/>
          </a:prstGeom>
          <a:noFill/>
        </p:spPr>
        <p:txBody>
          <a:bodyPr wrap="square" rtlCol="0">
            <a:spAutoFit/>
          </a:bodyPr>
          <a:lstStyle/>
          <a:p>
            <a:r>
              <a:rPr lang="en-US" sz="3600" b="1" dirty="0"/>
              <a:t>2020</a:t>
            </a:r>
          </a:p>
        </p:txBody>
      </p:sp>
      <p:sp>
        <p:nvSpPr>
          <p:cNvPr id="4" name="TextBox 3">
            <a:extLst>
              <a:ext uri="{FF2B5EF4-FFF2-40B4-BE49-F238E27FC236}">
                <a16:creationId xmlns:a16="http://schemas.microsoft.com/office/drawing/2014/main" id="{E493CBD1-94BF-5E0A-77DB-FF5C226FD519}"/>
              </a:ext>
            </a:extLst>
          </p:cNvPr>
          <p:cNvSpPr txBox="1"/>
          <p:nvPr/>
        </p:nvSpPr>
        <p:spPr>
          <a:xfrm>
            <a:off x="8488768" y="1863382"/>
            <a:ext cx="1428488" cy="646331"/>
          </a:xfrm>
          <a:prstGeom prst="rect">
            <a:avLst/>
          </a:prstGeom>
          <a:noFill/>
        </p:spPr>
        <p:txBody>
          <a:bodyPr wrap="square" rtlCol="0">
            <a:spAutoFit/>
          </a:bodyPr>
          <a:lstStyle/>
          <a:p>
            <a:r>
              <a:rPr lang="en-US" sz="3600" b="1" dirty="0"/>
              <a:t>2023</a:t>
            </a:r>
          </a:p>
        </p:txBody>
      </p:sp>
      <p:sp>
        <p:nvSpPr>
          <p:cNvPr id="5" name="TextBox 4">
            <a:extLst>
              <a:ext uri="{FF2B5EF4-FFF2-40B4-BE49-F238E27FC236}">
                <a16:creationId xmlns:a16="http://schemas.microsoft.com/office/drawing/2014/main" id="{7188F6DC-749C-0E58-9C52-708EB0881C1C}"/>
              </a:ext>
            </a:extLst>
          </p:cNvPr>
          <p:cNvSpPr txBox="1"/>
          <p:nvPr/>
        </p:nvSpPr>
        <p:spPr>
          <a:xfrm>
            <a:off x="898057" y="4765128"/>
            <a:ext cx="2056555" cy="1261884"/>
          </a:xfrm>
          <a:prstGeom prst="rect">
            <a:avLst/>
          </a:prstGeom>
          <a:noFill/>
        </p:spPr>
        <p:txBody>
          <a:bodyPr wrap="square" rtlCol="0">
            <a:spAutoFit/>
          </a:bodyPr>
          <a:lstStyle/>
          <a:p>
            <a:pPr algn="ctr"/>
            <a:r>
              <a:rPr lang="en-US" sz="3400" b="1" dirty="0"/>
              <a:t>38,234</a:t>
            </a:r>
          </a:p>
          <a:p>
            <a:pPr algn="ctr"/>
            <a:r>
              <a:rPr lang="en-US" sz="1400" dirty="0"/>
              <a:t>Total Single-Family Home Sales</a:t>
            </a:r>
          </a:p>
          <a:p>
            <a:pPr algn="ctr"/>
            <a:endParaRPr lang="en-US" sz="1400" dirty="0"/>
          </a:p>
        </p:txBody>
      </p:sp>
      <p:sp>
        <p:nvSpPr>
          <p:cNvPr id="6" name="TextBox 5">
            <a:extLst>
              <a:ext uri="{FF2B5EF4-FFF2-40B4-BE49-F238E27FC236}">
                <a16:creationId xmlns:a16="http://schemas.microsoft.com/office/drawing/2014/main" id="{E9D36018-8142-2EDD-EF2A-A6BBC8C171D8}"/>
              </a:ext>
            </a:extLst>
          </p:cNvPr>
          <p:cNvSpPr txBox="1"/>
          <p:nvPr/>
        </p:nvSpPr>
        <p:spPr>
          <a:xfrm>
            <a:off x="9432034" y="4765128"/>
            <a:ext cx="2056555" cy="830997"/>
          </a:xfrm>
          <a:prstGeom prst="rect">
            <a:avLst/>
          </a:prstGeom>
          <a:solidFill>
            <a:schemeClr val="bg1"/>
          </a:solidFill>
        </p:spPr>
        <p:txBody>
          <a:bodyPr wrap="square" rtlCol="0">
            <a:spAutoFit/>
          </a:bodyPr>
          <a:lstStyle/>
          <a:p>
            <a:pPr algn="ctr"/>
            <a:r>
              <a:rPr lang="en-US" sz="3400" b="1" dirty="0"/>
              <a:t>6.81%</a:t>
            </a:r>
          </a:p>
          <a:p>
            <a:pPr algn="ctr"/>
            <a:r>
              <a:rPr lang="en-US" sz="1400" dirty="0"/>
              <a:t>Avg 30-Yr Mortgage Rate</a:t>
            </a:r>
          </a:p>
        </p:txBody>
      </p:sp>
      <p:sp>
        <p:nvSpPr>
          <p:cNvPr id="7" name="TextBox 6">
            <a:extLst>
              <a:ext uri="{FF2B5EF4-FFF2-40B4-BE49-F238E27FC236}">
                <a16:creationId xmlns:a16="http://schemas.microsoft.com/office/drawing/2014/main" id="{29E4D0B8-5AD9-3177-AEEB-D8BF77B12F2A}"/>
              </a:ext>
            </a:extLst>
          </p:cNvPr>
          <p:cNvSpPr txBox="1"/>
          <p:nvPr/>
        </p:nvSpPr>
        <p:spPr>
          <a:xfrm>
            <a:off x="6587375" y="4765128"/>
            <a:ext cx="2056555" cy="1261884"/>
          </a:xfrm>
          <a:prstGeom prst="rect">
            <a:avLst/>
          </a:prstGeom>
          <a:noFill/>
        </p:spPr>
        <p:txBody>
          <a:bodyPr wrap="square" rtlCol="0">
            <a:spAutoFit/>
          </a:bodyPr>
          <a:lstStyle/>
          <a:p>
            <a:pPr algn="ctr"/>
            <a:r>
              <a:rPr lang="en-US" sz="3400" b="1" dirty="0"/>
              <a:t>26,570</a:t>
            </a:r>
          </a:p>
          <a:p>
            <a:pPr algn="ctr"/>
            <a:r>
              <a:rPr lang="en-US" sz="1400" dirty="0"/>
              <a:t>Total Single-Family Home Sales</a:t>
            </a:r>
          </a:p>
          <a:p>
            <a:pPr algn="ctr"/>
            <a:endParaRPr lang="en-US" sz="1400" dirty="0"/>
          </a:p>
        </p:txBody>
      </p:sp>
      <p:sp>
        <p:nvSpPr>
          <p:cNvPr id="8" name="TextBox 7">
            <a:extLst>
              <a:ext uri="{FF2B5EF4-FFF2-40B4-BE49-F238E27FC236}">
                <a16:creationId xmlns:a16="http://schemas.microsoft.com/office/drawing/2014/main" id="{C50D66DC-6DC7-0FFF-14AB-BE095496AAF2}"/>
              </a:ext>
            </a:extLst>
          </p:cNvPr>
          <p:cNvSpPr txBox="1"/>
          <p:nvPr/>
        </p:nvSpPr>
        <p:spPr>
          <a:xfrm>
            <a:off x="3742716" y="4765128"/>
            <a:ext cx="2056555" cy="830997"/>
          </a:xfrm>
          <a:prstGeom prst="rect">
            <a:avLst/>
          </a:prstGeom>
          <a:noFill/>
        </p:spPr>
        <p:txBody>
          <a:bodyPr wrap="square" rtlCol="0">
            <a:spAutoFit/>
          </a:bodyPr>
          <a:lstStyle/>
          <a:p>
            <a:pPr algn="ctr"/>
            <a:r>
              <a:rPr lang="en-US" sz="3400" b="1" dirty="0"/>
              <a:t>3.11%</a:t>
            </a:r>
          </a:p>
          <a:p>
            <a:pPr algn="ctr"/>
            <a:r>
              <a:rPr lang="en-US" sz="1400" dirty="0"/>
              <a:t>Avg 30-Yr Mortgage Rate</a:t>
            </a:r>
          </a:p>
        </p:txBody>
      </p:sp>
      <p:sp>
        <p:nvSpPr>
          <p:cNvPr id="9" name="TextBox 8">
            <a:extLst>
              <a:ext uri="{FF2B5EF4-FFF2-40B4-BE49-F238E27FC236}">
                <a16:creationId xmlns:a16="http://schemas.microsoft.com/office/drawing/2014/main" id="{3C7FBA32-85DE-EFE7-0D4A-994A972D3294}"/>
              </a:ext>
            </a:extLst>
          </p:cNvPr>
          <p:cNvSpPr txBox="1"/>
          <p:nvPr/>
        </p:nvSpPr>
        <p:spPr>
          <a:xfrm>
            <a:off x="129545" y="6537321"/>
            <a:ext cx="4873450" cy="215444"/>
          </a:xfrm>
          <a:prstGeom prst="rect">
            <a:avLst/>
          </a:prstGeom>
          <a:noFill/>
        </p:spPr>
        <p:txBody>
          <a:bodyPr wrap="square" rtlCol="0">
            <a:spAutoFit/>
          </a:bodyPr>
          <a:lstStyle/>
          <a:p>
            <a:r>
              <a:rPr lang="en-US" sz="800" i="1" dirty="0"/>
              <a:t>Sources: Metro Nashville Parcel Data, Redfin, U.S. Census ACS, FRED</a:t>
            </a:r>
          </a:p>
        </p:txBody>
      </p:sp>
    </p:spTree>
    <p:extLst>
      <p:ext uri="{BB962C8B-B14F-4D97-AF65-F5344CB8AC3E}">
        <p14:creationId xmlns:p14="http://schemas.microsoft.com/office/powerpoint/2010/main" val="54263376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AFAF7"/>
        </a:solidFill>
        <a:effectLst/>
      </p:bgPr>
    </p:bg>
    <p:spTree>
      <p:nvGrpSpPr>
        <p:cNvPr id="1" name="">
          <a:extLst>
            <a:ext uri="{FF2B5EF4-FFF2-40B4-BE49-F238E27FC236}">
              <a16:creationId xmlns:a16="http://schemas.microsoft.com/office/drawing/2014/main" id="{2A8644FC-F1EA-B271-90B9-23789C241C95}"/>
            </a:ext>
          </a:extLst>
        </p:cNvPr>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3CA92C0F-82BD-C8E1-30EE-506B07DFE9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29061BB3-7E15-2851-2DDF-7643C2B84269}"/>
              </a:ext>
            </a:extLst>
          </p:cNvPr>
          <p:cNvSpPr>
            <a:spLocks noGrp="1"/>
          </p:cNvSpPr>
          <p:nvPr>
            <p:ph type="title"/>
          </p:nvPr>
        </p:nvSpPr>
        <p:spPr>
          <a:xfrm>
            <a:off x="836676" y="360954"/>
            <a:ext cx="10515600" cy="1325563"/>
          </a:xfrm>
        </p:spPr>
        <p:txBody>
          <a:bodyPr>
            <a:normAutofit/>
          </a:bodyPr>
          <a:lstStyle/>
          <a:p>
            <a:r>
              <a:rPr lang="en-US" b="1" dirty="0"/>
              <a:t>Sale Price vs Income</a:t>
            </a:r>
          </a:p>
        </p:txBody>
      </p:sp>
      <p:sp>
        <p:nvSpPr>
          <p:cNvPr id="19" name="sketch line">
            <a:extLst>
              <a:ext uri="{FF2B5EF4-FFF2-40B4-BE49-F238E27FC236}">
                <a16:creationId xmlns:a16="http://schemas.microsoft.com/office/drawing/2014/main" id="{0A0DC3D1-8C1B-10C4-AFDA-7BA4AB2622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600A8C6F-BFC4-607E-3627-E251A8A378A6}"/>
              </a:ext>
            </a:extLst>
          </p:cNvPr>
          <p:cNvSpPr txBox="1"/>
          <p:nvPr/>
        </p:nvSpPr>
        <p:spPr>
          <a:xfrm>
            <a:off x="1211580" y="1860404"/>
            <a:ext cx="10311384" cy="369332"/>
          </a:xfrm>
          <a:prstGeom prst="rect">
            <a:avLst/>
          </a:prstGeom>
          <a:noFill/>
        </p:spPr>
        <p:txBody>
          <a:bodyPr wrap="square" rtlCol="0">
            <a:spAutoFit/>
          </a:bodyPr>
          <a:lstStyle/>
          <a:p>
            <a:r>
              <a:rPr lang="en-US" dirty="0"/>
              <a:t>Median home prices increased substantially faster than household incomes between 2020 and 2023.</a:t>
            </a:r>
          </a:p>
        </p:txBody>
      </p:sp>
      <p:sp>
        <p:nvSpPr>
          <p:cNvPr id="7" name="TextBox 6">
            <a:extLst>
              <a:ext uri="{FF2B5EF4-FFF2-40B4-BE49-F238E27FC236}">
                <a16:creationId xmlns:a16="http://schemas.microsoft.com/office/drawing/2014/main" id="{F8680954-FCF1-9813-090F-D0E3B62B1BC5}"/>
              </a:ext>
            </a:extLst>
          </p:cNvPr>
          <p:cNvSpPr txBox="1"/>
          <p:nvPr/>
        </p:nvSpPr>
        <p:spPr>
          <a:xfrm>
            <a:off x="70339" y="6569125"/>
            <a:ext cx="4873450" cy="215444"/>
          </a:xfrm>
          <a:prstGeom prst="rect">
            <a:avLst/>
          </a:prstGeom>
          <a:noFill/>
        </p:spPr>
        <p:txBody>
          <a:bodyPr wrap="square" rtlCol="0">
            <a:spAutoFit/>
          </a:bodyPr>
          <a:lstStyle/>
          <a:p>
            <a:r>
              <a:rPr lang="en-US" sz="800" dirty="0"/>
              <a:t>Sources: Metro Nashville Parcel Data, Redfin, U.S. Census ACS, FRED</a:t>
            </a:r>
            <a:endParaRPr lang="en-US" sz="800" i="1" dirty="0"/>
          </a:p>
        </p:txBody>
      </p:sp>
      <p:pic>
        <p:nvPicPr>
          <p:cNvPr id="4" name="Picture 3">
            <a:extLst>
              <a:ext uri="{FF2B5EF4-FFF2-40B4-BE49-F238E27FC236}">
                <a16:creationId xmlns:a16="http://schemas.microsoft.com/office/drawing/2014/main" id="{052B4196-3BE3-0CE2-9267-4AB6AD95E0C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295551" y="2409209"/>
            <a:ext cx="9597849" cy="3980442"/>
          </a:xfrm>
          <a:prstGeom prst="rect">
            <a:avLst/>
          </a:prstGeom>
          <a:ln w="28575">
            <a:solidFill>
              <a:schemeClr val="bg2">
                <a:lumMod val="25000"/>
              </a:schemeClr>
            </a:solidFill>
          </a:ln>
          <a:effectLst>
            <a:outerShdw blurRad="63500" sx="102000" sy="102000" algn="ctr" rotWithShape="0">
              <a:prstClr val="black">
                <a:alpha val="40000"/>
              </a:prstClr>
            </a:outerShdw>
          </a:effectLst>
        </p:spPr>
      </p:pic>
    </p:spTree>
    <p:extLst>
      <p:ext uri="{BB962C8B-B14F-4D97-AF65-F5344CB8AC3E}">
        <p14:creationId xmlns:p14="http://schemas.microsoft.com/office/powerpoint/2010/main" val="198755436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AFAF7"/>
        </a:solidFill>
        <a:effectLst/>
      </p:bgPr>
    </p:bg>
    <p:spTree>
      <p:nvGrpSpPr>
        <p:cNvPr id="1" name="">
          <a:extLst>
            <a:ext uri="{FF2B5EF4-FFF2-40B4-BE49-F238E27FC236}">
              <a16:creationId xmlns:a16="http://schemas.microsoft.com/office/drawing/2014/main" id="{92977AFE-D466-5A50-8F6A-F7BAE56E51C7}"/>
            </a:ext>
          </a:extLst>
        </p:cNvPr>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E7722BA4-4F7D-7C10-6E2B-8C6046A1BF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9CD3A3AA-476B-A498-4856-A7F18AA6D853}"/>
              </a:ext>
            </a:extLst>
          </p:cNvPr>
          <p:cNvSpPr>
            <a:spLocks noGrp="1"/>
          </p:cNvSpPr>
          <p:nvPr>
            <p:ph type="title"/>
          </p:nvPr>
        </p:nvSpPr>
        <p:spPr>
          <a:xfrm>
            <a:off x="746871" y="360954"/>
            <a:ext cx="10938933" cy="1325563"/>
          </a:xfrm>
        </p:spPr>
        <p:txBody>
          <a:bodyPr>
            <a:normAutofit/>
          </a:bodyPr>
          <a:lstStyle/>
          <a:p>
            <a:r>
              <a:rPr lang="en-US" b="1" dirty="0"/>
              <a:t>Price-to-Income Gap</a:t>
            </a:r>
          </a:p>
        </p:txBody>
      </p:sp>
      <p:sp>
        <p:nvSpPr>
          <p:cNvPr id="19" name="sketch line">
            <a:extLst>
              <a:ext uri="{FF2B5EF4-FFF2-40B4-BE49-F238E27FC236}">
                <a16:creationId xmlns:a16="http://schemas.microsoft.com/office/drawing/2014/main" id="{6C00AC07-3FE6-CA90-2B30-496FA155423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7C17B134-C5BC-C626-F537-43616E13A7E1}"/>
              </a:ext>
            </a:extLst>
          </p:cNvPr>
          <p:cNvSpPr txBox="1"/>
          <p:nvPr/>
        </p:nvSpPr>
        <p:spPr>
          <a:xfrm>
            <a:off x="6885204" y="3876681"/>
            <a:ext cx="4800600" cy="1754326"/>
          </a:xfrm>
          <a:prstGeom prst="rect">
            <a:avLst/>
          </a:prstGeom>
          <a:noFill/>
        </p:spPr>
        <p:txBody>
          <a:bodyPr wrap="square" rtlCol="0">
            <a:spAutoFit/>
          </a:bodyPr>
          <a:lstStyle/>
          <a:p>
            <a:r>
              <a:rPr lang="en-US" dirty="0"/>
              <a:t>Between 2020 and 2022, median home prices rose faster than incomes, increasing the price-to-income ratio from </a:t>
            </a:r>
            <a:r>
              <a:rPr lang="en-US" b="1" dirty="0"/>
              <a:t>4.3 to 5</a:t>
            </a:r>
            <a:r>
              <a:rPr lang="en-US" dirty="0"/>
              <a:t>. While incomes rose in 2023, affordability remained strained, with the ratio remaining elevated relative to earlier years.</a:t>
            </a:r>
          </a:p>
        </p:txBody>
      </p:sp>
      <p:sp>
        <p:nvSpPr>
          <p:cNvPr id="10" name="TextBox 9">
            <a:extLst>
              <a:ext uri="{FF2B5EF4-FFF2-40B4-BE49-F238E27FC236}">
                <a16:creationId xmlns:a16="http://schemas.microsoft.com/office/drawing/2014/main" id="{0C14E7C4-BD1E-A981-A7EF-4E5642FCA054}"/>
              </a:ext>
            </a:extLst>
          </p:cNvPr>
          <p:cNvSpPr txBox="1"/>
          <p:nvPr/>
        </p:nvSpPr>
        <p:spPr>
          <a:xfrm>
            <a:off x="6497996" y="2601505"/>
            <a:ext cx="2624667" cy="369332"/>
          </a:xfrm>
          <a:prstGeom prst="rect">
            <a:avLst/>
          </a:prstGeom>
          <a:noFill/>
        </p:spPr>
        <p:txBody>
          <a:bodyPr wrap="square" rtlCol="0">
            <a:spAutoFit/>
          </a:bodyPr>
          <a:lstStyle/>
          <a:p>
            <a:r>
              <a:rPr lang="en-US" dirty="0"/>
              <a:t>Price-to-Income Ratio =</a:t>
            </a:r>
          </a:p>
        </p:txBody>
      </p:sp>
      <p:sp>
        <p:nvSpPr>
          <p:cNvPr id="11" name="TextBox 10">
            <a:extLst>
              <a:ext uri="{FF2B5EF4-FFF2-40B4-BE49-F238E27FC236}">
                <a16:creationId xmlns:a16="http://schemas.microsoft.com/office/drawing/2014/main" id="{B14B5E4F-FAE5-273D-4212-BDC05E0394AC}"/>
              </a:ext>
            </a:extLst>
          </p:cNvPr>
          <p:cNvSpPr txBox="1"/>
          <p:nvPr/>
        </p:nvSpPr>
        <p:spPr>
          <a:xfrm>
            <a:off x="9048715" y="2375847"/>
            <a:ext cx="2624668" cy="369332"/>
          </a:xfrm>
          <a:prstGeom prst="rect">
            <a:avLst/>
          </a:prstGeom>
          <a:noFill/>
        </p:spPr>
        <p:txBody>
          <a:bodyPr wrap="square" rtlCol="0">
            <a:spAutoFit/>
          </a:bodyPr>
          <a:lstStyle/>
          <a:p>
            <a:r>
              <a:rPr lang="en-US" dirty="0"/>
              <a:t>Median Home Sale Price</a:t>
            </a:r>
          </a:p>
        </p:txBody>
      </p:sp>
      <p:sp>
        <p:nvSpPr>
          <p:cNvPr id="12" name="TextBox 11">
            <a:extLst>
              <a:ext uri="{FF2B5EF4-FFF2-40B4-BE49-F238E27FC236}">
                <a16:creationId xmlns:a16="http://schemas.microsoft.com/office/drawing/2014/main" id="{106330F7-4175-F54E-5BFC-7E5FDF1409EC}"/>
              </a:ext>
            </a:extLst>
          </p:cNvPr>
          <p:cNvSpPr txBox="1"/>
          <p:nvPr/>
        </p:nvSpPr>
        <p:spPr>
          <a:xfrm>
            <a:off x="8933156" y="2786171"/>
            <a:ext cx="2929734" cy="369332"/>
          </a:xfrm>
          <a:prstGeom prst="rect">
            <a:avLst/>
          </a:prstGeom>
          <a:noFill/>
        </p:spPr>
        <p:txBody>
          <a:bodyPr wrap="square" rtlCol="0">
            <a:spAutoFit/>
          </a:bodyPr>
          <a:lstStyle/>
          <a:p>
            <a:r>
              <a:rPr lang="en-US" dirty="0"/>
              <a:t>Median Household Income</a:t>
            </a:r>
          </a:p>
        </p:txBody>
      </p:sp>
      <p:cxnSp>
        <p:nvCxnSpPr>
          <p:cNvPr id="14" name="Straight Connector 13">
            <a:extLst>
              <a:ext uri="{FF2B5EF4-FFF2-40B4-BE49-F238E27FC236}">
                <a16:creationId xmlns:a16="http://schemas.microsoft.com/office/drawing/2014/main" id="{8B58EA03-6D38-5D8F-C94A-F215E27DE5F9}"/>
              </a:ext>
            </a:extLst>
          </p:cNvPr>
          <p:cNvCxnSpPr>
            <a:cxnSpLocks/>
          </p:cNvCxnSpPr>
          <p:nvPr/>
        </p:nvCxnSpPr>
        <p:spPr>
          <a:xfrm>
            <a:off x="9048715" y="2786171"/>
            <a:ext cx="2474249" cy="0"/>
          </a:xfrm>
          <a:prstGeom prst="line">
            <a:avLst/>
          </a:prstGeom>
        </p:spPr>
        <p:style>
          <a:lnRef idx="2">
            <a:schemeClr val="dk1"/>
          </a:lnRef>
          <a:fillRef idx="0">
            <a:schemeClr val="dk1"/>
          </a:fillRef>
          <a:effectRef idx="1">
            <a:schemeClr val="dk1"/>
          </a:effectRef>
          <a:fontRef idx="minor">
            <a:schemeClr val="tx1"/>
          </a:fontRef>
        </p:style>
      </p:cxnSp>
      <p:sp>
        <p:nvSpPr>
          <p:cNvPr id="5" name="TextBox 4">
            <a:extLst>
              <a:ext uri="{FF2B5EF4-FFF2-40B4-BE49-F238E27FC236}">
                <a16:creationId xmlns:a16="http://schemas.microsoft.com/office/drawing/2014/main" id="{02DDFBE0-D271-E4EC-47A5-AABCE4FE7865}"/>
              </a:ext>
            </a:extLst>
          </p:cNvPr>
          <p:cNvSpPr txBox="1"/>
          <p:nvPr/>
        </p:nvSpPr>
        <p:spPr>
          <a:xfrm>
            <a:off x="70339" y="6569125"/>
            <a:ext cx="4873450" cy="215444"/>
          </a:xfrm>
          <a:prstGeom prst="rect">
            <a:avLst/>
          </a:prstGeom>
          <a:noFill/>
        </p:spPr>
        <p:txBody>
          <a:bodyPr wrap="square" rtlCol="0">
            <a:spAutoFit/>
          </a:bodyPr>
          <a:lstStyle/>
          <a:p>
            <a:r>
              <a:rPr lang="en-US" sz="800" dirty="0"/>
              <a:t>Sources: Metro Nashville Parcel Data, Redfin, U.S. Census ACS, FRED</a:t>
            </a:r>
            <a:endParaRPr lang="en-US" sz="800" i="1" dirty="0"/>
          </a:p>
        </p:txBody>
      </p:sp>
      <p:pic>
        <p:nvPicPr>
          <p:cNvPr id="4" name="Picture 3">
            <a:extLst>
              <a:ext uri="{FF2B5EF4-FFF2-40B4-BE49-F238E27FC236}">
                <a16:creationId xmlns:a16="http://schemas.microsoft.com/office/drawing/2014/main" id="{19AD51AE-DF4F-6B5B-A05A-423474F3BDF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9036" y="2166681"/>
            <a:ext cx="5560677" cy="3623483"/>
          </a:xfrm>
          <a:prstGeom prst="rect">
            <a:avLst/>
          </a:prstGeom>
          <a:ln w="28575">
            <a:solidFill>
              <a:schemeClr val="bg2">
                <a:lumMod val="25000"/>
              </a:schemeClr>
            </a:solidFill>
          </a:ln>
          <a:effectLst>
            <a:outerShdw blurRad="63500" sx="102000" sy="102000" algn="ctr" rotWithShape="0">
              <a:prstClr val="black">
                <a:alpha val="40000"/>
              </a:prstClr>
            </a:outerShdw>
          </a:effectLst>
        </p:spPr>
      </p:pic>
    </p:spTree>
    <p:extLst>
      <p:ext uri="{BB962C8B-B14F-4D97-AF65-F5344CB8AC3E}">
        <p14:creationId xmlns:p14="http://schemas.microsoft.com/office/powerpoint/2010/main" val="276759231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AFAF7"/>
        </a:solidFill>
        <a:effectLst/>
      </p:bgPr>
    </p:bg>
    <p:spTree>
      <p:nvGrpSpPr>
        <p:cNvPr id="1" name="">
          <a:extLst>
            <a:ext uri="{FF2B5EF4-FFF2-40B4-BE49-F238E27FC236}">
              <a16:creationId xmlns:a16="http://schemas.microsoft.com/office/drawing/2014/main" id="{0F5E8FF1-0B7C-B260-49EB-B6D21E94B6FB}"/>
            </a:ext>
          </a:extLst>
        </p:cNvPr>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E7E7921F-E1EA-18E5-9334-1677A4D20D9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F5C7DD5-93F4-87B9-7BE2-CF7C4DD653E2}"/>
              </a:ext>
            </a:extLst>
          </p:cNvPr>
          <p:cNvSpPr>
            <a:spLocks noGrp="1"/>
          </p:cNvSpPr>
          <p:nvPr>
            <p:ph type="title"/>
          </p:nvPr>
        </p:nvSpPr>
        <p:spPr>
          <a:xfrm>
            <a:off x="838200" y="365125"/>
            <a:ext cx="10515600" cy="1325563"/>
          </a:xfrm>
        </p:spPr>
        <p:txBody>
          <a:bodyPr>
            <a:normAutofit/>
          </a:bodyPr>
          <a:lstStyle/>
          <a:p>
            <a:r>
              <a:rPr lang="en-US" b="1" dirty="0"/>
              <a:t>Housing Supply Trends</a:t>
            </a:r>
          </a:p>
        </p:txBody>
      </p:sp>
      <p:sp>
        <p:nvSpPr>
          <p:cNvPr id="19" name="sketch line">
            <a:extLst>
              <a:ext uri="{FF2B5EF4-FFF2-40B4-BE49-F238E27FC236}">
                <a16:creationId xmlns:a16="http://schemas.microsoft.com/office/drawing/2014/main" id="{1D4651A1-DDB8-CDAF-EA48-546286D4DC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TextBox 7">
            <a:extLst>
              <a:ext uri="{FF2B5EF4-FFF2-40B4-BE49-F238E27FC236}">
                <a16:creationId xmlns:a16="http://schemas.microsoft.com/office/drawing/2014/main" id="{9D29D358-04B9-5357-361B-0994D1A9FA6E}"/>
              </a:ext>
            </a:extLst>
          </p:cNvPr>
          <p:cNvSpPr txBox="1"/>
          <p:nvPr/>
        </p:nvSpPr>
        <p:spPr>
          <a:xfrm>
            <a:off x="7425732" y="3075503"/>
            <a:ext cx="4258268" cy="2308324"/>
          </a:xfrm>
          <a:prstGeom prst="rect">
            <a:avLst/>
          </a:prstGeom>
          <a:noFill/>
        </p:spPr>
        <p:txBody>
          <a:bodyPr wrap="square" rtlCol="0">
            <a:spAutoFit/>
          </a:bodyPr>
          <a:lstStyle/>
          <a:p>
            <a:r>
              <a:rPr lang="en-US" dirty="0"/>
              <a:t>Housing market conditions tightened in 2021 as inventory declined and sales activity remained elevated. Even as inventory partially recovered after 2021, higher prices and rising mortgage rates reduced sales activity, contributing to continued price pressure and affordability challenges.</a:t>
            </a:r>
          </a:p>
        </p:txBody>
      </p:sp>
      <p:sp>
        <p:nvSpPr>
          <p:cNvPr id="5" name="TextBox 4">
            <a:extLst>
              <a:ext uri="{FF2B5EF4-FFF2-40B4-BE49-F238E27FC236}">
                <a16:creationId xmlns:a16="http://schemas.microsoft.com/office/drawing/2014/main" id="{47234CCC-923A-7AC6-E216-680BA1BD92B6}"/>
              </a:ext>
            </a:extLst>
          </p:cNvPr>
          <p:cNvSpPr txBox="1"/>
          <p:nvPr/>
        </p:nvSpPr>
        <p:spPr>
          <a:xfrm>
            <a:off x="70339" y="6569125"/>
            <a:ext cx="4873450" cy="215444"/>
          </a:xfrm>
          <a:prstGeom prst="rect">
            <a:avLst/>
          </a:prstGeom>
          <a:noFill/>
        </p:spPr>
        <p:txBody>
          <a:bodyPr wrap="square" rtlCol="0">
            <a:spAutoFit/>
          </a:bodyPr>
          <a:lstStyle/>
          <a:p>
            <a:r>
              <a:rPr lang="en-US" sz="800" dirty="0"/>
              <a:t>Sources: Metro Nashville Parcel Data, Redfin, U.S. Census ACS, FRED</a:t>
            </a:r>
            <a:endParaRPr lang="en-US" sz="800" i="1" dirty="0"/>
          </a:p>
        </p:txBody>
      </p:sp>
      <p:pic>
        <p:nvPicPr>
          <p:cNvPr id="4" name="Picture 3">
            <a:extLst>
              <a:ext uri="{FF2B5EF4-FFF2-40B4-BE49-F238E27FC236}">
                <a16:creationId xmlns:a16="http://schemas.microsoft.com/office/drawing/2014/main" id="{7E3D6DB2-8495-5ABC-2FAB-2F1449DB5C6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9036" y="2127153"/>
            <a:ext cx="6251744" cy="3867527"/>
          </a:xfrm>
          <a:prstGeom prst="rect">
            <a:avLst/>
          </a:prstGeom>
          <a:ln w="28575">
            <a:solidFill>
              <a:schemeClr val="bg2">
                <a:lumMod val="25000"/>
              </a:schemeClr>
            </a:solidFill>
          </a:ln>
          <a:effectLst>
            <a:outerShdw blurRad="63500" sx="102000" sy="102000" algn="ctr" rotWithShape="0">
              <a:prstClr val="black">
                <a:alpha val="40000"/>
              </a:prstClr>
            </a:outerShdw>
          </a:effectLst>
        </p:spPr>
      </p:pic>
    </p:spTree>
    <p:extLst>
      <p:ext uri="{BB962C8B-B14F-4D97-AF65-F5344CB8AC3E}">
        <p14:creationId xmlns:p14="http://schemas.microsoft.com/office/powerpoint/2010/main" val="226719449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AFAF7"/>
        </a:solidFill>
        <a:effectLst/>
      </p:bgPr>
    </p:bg>
    <p:spTree>
      <p:nvGrpSpPr>
        <p:cNvPr id="1" name="">
          <a:extLst>
            <a:ext uri="{FF2B5EF4-FFF2-40B4-BE49-F238E27FC236}">
              <a16:creationId xmlns:a16="http://schemas.microsoft.com/office/drawing/2014/main" id="{1D0F607B-AF95-8825-CD41-507AFF4CE376}"/>
            </a:ext>
          </a:extLst>
        </p:cNvPr>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DF1FAD6C-F451-7E57-E4AE-A50CE06C83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1F9CD1A-A750-7D78-ECE6-CEB7E83AE85A}"/>
              </a:ext>
            </a:extLst>
          </p:cNvPr>
          <p:cNvSpPr>
            <a:spLocks noGrp="1"/>
          </p:cNvSpPr>
          <p:nvPr>
            <p:ph type="title"/>
          </p:nvPr>
        </p:nvSpPr>
        <p:spPr>
          <a:xfrm>
            <a:off x="838200" y="365125"/>
            <a:ext cx="10515600" cy="1325563"/>
          </a:xfrm>
        </p:spPr>
        <p:txBody>
          <a:bodyPr>
            <a:normAutofit/>
          </a:bodyPr>
          <a:lstStyle/>
          <a:p>
            <a:r>
              <a:rPr lang="en-US" sz="3600" b="1" dirty="0"/>
              <a:t>Rising Mortgage Rates Increased Borrowing Costs</a:t>
            </a:r>
          </a:p>
        </p:txBody>
      </p:sp>
      <p:sp>
        <p:nvSpPr>
          <p:cNvPr id="19" name="sketch line">
            <a:extLst>
              <a:ext uri="{FF2B5EF4-FFF2-40B4-BE49-F238E27FC236}">
                <a16:creationId xmlns:a16="http://schemas.microsoft.com/office/drawing/2014/main" id="{43906963-7694-25CF-7143-F3798417889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 name="TextBox 4">
            <a:extLst>
              <a:ext uri="{FF2B5EF4-FFF2-40B4-BE49-F238E27FC236}">
                <a16:creationId xmlns:a16="http://schemas.microsoft.com/office/drawing/2014/main" id="{44BA4203-4B1F-29D4-9B45-1F495A7BBED2}"/>
              </a:ext>
            </a:extLst>
          </p:cNvPr>
          <p:cNvSpPr txBox="1"/>
          <p:nvPr/>
        </p:nvSpPr>
        <p:spPr>
          <a:xfrm>
            <a:off x="7449038" y="3278182"/>
            <a:ext cx="4224866" cy="1477328"/>
          </a:xfrm>
          <a:prstGeom prst="rect">
            <a:avLst/>
          </a:prstGeom>
          <a:noFill/>
        </p:spPr>
        <p:txBody>
          <a:bodyPr wrap="square" rtlCol="0">
            <a:spAutoFit/>
          </a:bodyPr>
          <a:lstStyle/>
          <a:p>
            <a:r>
              <a:rPr lang="en-US" dirty="0"/>
              <a:t>Interest rates remained historically low in 2020–2021, but rose sharply beginning in 2022, increasing monthly mortgage payments and the cost of financing a home purchase.</a:t>
            </a:r>
          </a:p>
        </p:txBody>
      </p:sp>
      <p:sp>
        <p:nvSpPr>
          <p:cNvPr id="7" name="TextBox 6">
            <a:extLst>
              <a:ext uri="{FF2B5EF4-FFF2-40B4-BE49-F238E27FC236}">
                <a16:creationId xmlns:a16="http://schemas.microsoft.com/office/drawing/2014/main" id="{CD2A6343-3F32-E1BA-2F4E-58ECF4E926AE}"/>
              </a:ext>
            </a:extLst>
          </p:cNvPr>
          <p:cNvSpPr txBox="1"/>
          <p:nvPr/>
        </p:nvSpPr>
        <p:spPr>
          <a:xfrm>
            <a:off x="162437" y="6559179"/>
            <a:ext cx="4873450" cy="215444"/>
          </a:xfrm>
          <a:prstGeom prst="rect">
            <a:avLst/>
          </a:prstGeom>
          <a:noFill/>
        </p:spPr>
        <p:txBody>
          <a:bodyPr wrap="square" rtlCol="0">
            <a:spAutoFit/>
          </a:bodyPr>
          <a:lstStyle/>
          <a:p>
            <a:r>
              <a:rPr lang="en-US" sz="800" dirty="0"/>
              <a:t>Sources: Metro Nashville Parcel Data, Redfin, U.S. Census ACS, FRED</a:t>
            </a:r>
            <a:endParaRPr lang="en-US" sz="800" i="1" dirty="0"/>
          </a:p>
        </p:txBody>
      </p:sp>
      <p:pic>
        <p:nvPicPr>
          <p:cNvPr id="4" name="Picture 3">
            <a:extLst>
              <a:ext uri="{FF2B5EF4-FFF2-40B4-BE49-F238E27FC236}">
                <a16:creationId xmlns:a16="http://schemas.microsoft.com/office/drawing/2014/main" id="{F198F5E3-645C-D31C-F4C1-30BCE2265AB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9036" y="2072950"/>
            <a:ext cx="6094229" cy="3887792"/>
          </a:xfrm>
          <a:prstGeom prst="rect">
            <a:avLst/>
          </a:prstGeom>
          <a:ln w="28575">
            <a:solidFill>
              <a:schemeClr val="bg2">
                <a:lumMod val="25000"/>
              </a:schemeClr>
            </a:solidFill>
          </a:ln>
          <a:effectLst>
            <a:outerShdw blurRad="63500" sx="102000" sy="102000" algn="ctr" rotWithShape="0">
              <a:prstClr val="black">
                <a:alpha val="40000"/>
              </a:prstClr>
            </a:outerShdw>
          </a:effectLst>
        </p:spPr>
      </p:pic>
    </p:spTree>
    <p:extLst>
      <p:ext uri="{BB962C8B-B14F-4D97-AF65-F5344CB8AC3E}">
        <p14:creationId xmlns:p14="http://schemas.microsoft.com/office/powerpoint/2010/main" val="366445249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AFAF7"/>
        </a:solidFill>
        <a:effectLst/>
      </p:bgPr>
    </p:bg>
    <p:spTree>
      <p:nvGrpSpPr>
        <p:cNvPr id="1" name="">
          <a:extLst>
            <a:ext uri="{FF2B5EF4-FFF2-40B4-BE49-F238E27FC236}">
              <a16:creationId xmlns:a16="http://schemas.microsoft.com/office/drawing/2014/main" id="{40DA99AC-C2E7-4667-DC96-8F2421398D8C}"/>
            </a:ext>
          </a:extLst>
        </p:cNvPr>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66D7046A-681E-9BE6-361F-2C6D58E713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3F3FCB4-8A99-77D8-DB09-84A061141F35}"/>
              </a:ext>
            </a:extLst>
          </p:cNvPr>
          <p:cNvSpPr>
            <a:spLocks noGrp="1"/>
          </p:cNvSpPr>
          <p:nvPr>
            <p:ph type="title"/>
          </p:nvPr>
        </p:nvSpPr>
        <p:spPr>
          <a:xfrm>
            <a:off x="838200" y="365125"/>
            <a:ext cx="11353800" cy="1325563"/>
          </a:xfrm>
        </p:spPr>
        <p:txBody>
          <a:bodyPr>
            <a:normAutofit/>
          </a:bodyPr>
          <a:lstStyle/>
          <a:p>
            <a:r>
              <a:rPr lang="en-US" sz="4000" b="1" dirty="0"/>
              <a:t>Higher Mortgage Rates Reduced Affordability</a:t>
            </a:r>
          </a:p>
        </p:txBody>
      </p:sp>
      <p:sp>
        <p:nvSpPr>
          <p:cNvPr id="19" name="sketch line">
            <a:extLst>
              <a:ext uri="{FF2B5EF4-FFF2-40B4-BE49-F238E27FC236}">
                <a16:creationId xmlns:a16="http://schemas.microsoft.com/office/drawing/2014/main" id="{31D6C79A-ED1C-995F-7F10-D47BF78B507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7F57997F-3107-1310-A949-2FE70FD3D3B0}"/>
              </a:ext>
            </a:extLst>
          </p:cNvPr>
          <p:cNvSpPr txBox="1"/>
          <p:nvPr/>
        </p:nvSpPr>
        <p:spPr>
          <a:xfrm>
            <a:off x="7079318" y="3002936"/>
            <a:ext cx="4809067" cy="2031325"/>
          </a:xfrm>
          <a:prstGeom prst="rect">
            <a:avLst/>
          </a:prstGeom>
          <a:noFill/>
        </p:spPr>
        <p:txBody>
          <a:bodyPr wrap="square" rtlCol="0">
            <a:spAutoFit/>
          </a:bodyPr>
          <a:lstStyle/>
          <a:p>
            <a:r>
              <a:rPr lang="en-US" dirty="0"/>
              <a:t>As mortgage rates increased, the share of median household income required for mortgage payments increased. By 2023, typical housing costs exceeded the 30% affordability threshold, reducing affordability for many median-income households under standard housing cost thresholds.</a:t>
            </a:r>
          </a:p>
        </p:txBody>
      </p:sp>
      <p:sp>
        <p:nvSpPr>
          <p:cNvPr id="7" name="TextBox 6">
            <a:extLst>
              <a:ext uri="{FF2B5EF4-FFF2-40B4-BE49-F238E27FC236}">
                <a16:creationId xmlns:a16="http://schemas.microsoft.com/office/drawing/2014/main" id="{A004F379-19A0-C0B8-020A-433A7D73BA73}"/>
              </a:ext>
            </a:extLst>
          </p:cNvPr>
          <p:cNvSpPr txBox="1"/>
          <p:nvPr/>
        </p:nvSpPr>
        <p:spPr>
          <a:xfrm>
            <a:off x="247956" y="6537321"/>
            <a:ext cx="4873450" cy="215444"/>
          </a:xfrm>
          <a:prstGeom prst="rect">
            <a:avLst/>
          </a:prstGeom>
          <a:noFill/>
        </p:spPr>
        <p:txBody>
          <a:bodyPr wrap="square" rtlCol="0">
            <a:spAutoFit/>
          </a:bodyPr>
          <a:lstStyle/>
          <a:p>
            <a:r>
              <a:rPr lang="en-US" sz="800" dirty="0"/>
              <a:t>Sources: Metro Nashville Parcel Data, Redfin, U.S. Census ACS, FRED</a:t>
            </a:r>
            <a:endParaRPr lang="en-US" sz="800" i="1" dirty="0"/>
          </a:p>
        </p:txBody>
      </p:sp>
      <p:pic>
        <p:nvPicPr>
          <p:cNvPr id="5" name="Picture 4">
            <a:extLst>
              <a:ext uri="{FF2B5EF4-FFF2-40B4-BE49-F238E27FC236}">
                <a16:creationId xmlns:a16="http://schemas.microsoft.com/office/drawing/2014/main" id="{0910D6F0-3995-51D4-955A-BD9C74CF615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9036" y="2055813"/>
            <a:ext cx="6109715" cy="3895838"/>
          </a:xfrm>
          <a:prstGeom prst="rect">
            <a:avLst/>
          </a:prstGeom>
          <a:ln w="28575">
            <a:solidFill>
              <a:schemeClr val="bg2">
                <a:lumMod val="25000"/>
              </a:schemeClr>
            </a:solidFill>
          </a:ln>
          <a:effectLst>
            <a:outerShdw blurRad="63500" sx="102000" sy="102000" algn="ctr" rotWithShape="0">
              <a:prstClr val="black">
                <a:alpha val="40000"/>
              </a:prstClr>
            </a:outerShdw>
          </a:effectLst>
        </p:spPr>
      </p:pic>
    </p:spTree>
    <p:extLst>
      <p:ext uri="{BB962C8B-B14F-4D97-AF65-F5344CB8AC3E}">
        <p14:creationId xmlns:p14="http://schemas.microsoft.com/office/powerpoint/2010/main" val="176930180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AFAF7"/>
        </a:solidFill>
        <a:effectLst/>
      </p:bgPr>
    </p:bg>
    <p:spTree>
      <p:nvGrpSpPr>
        <p:cNvPr id="1" name="">
          <a:extLst>
            <a:ext uri="{FF2B5EF4-FFF2-40B4-BE49-F238E27FC236}">
              <a16:creationId xmlns:a16="http://schemas.microsoft.com/office/drawing/2014/main" id="{FD8C34E1-C983-D72E-F0DD-FA8F7A58E416}"/>
            </a:ext>
          </a:extLst>
        </p:cNvPr>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85BB166D-188A-9749-E129-4A9CF08B3D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D13892BC-B838-0EBB-9CE6-B92041741EEF}"/>
              </a:ext>
            </a:extLst>
          </p:cNvPr>
          <p:cNvSpPr>
            <a:spLocks noGrp="1"/>
          </p:cNvSpPr>
          <p:nvPr>
            <p:ph type="title"/>
          </p:nvPr>
        </p:nvSpPr>
        <p:spPr>
          <a:xfrm>
            <a:off x="838200" y="365125"/>
            <a:ext cx="10515600" cy="1325563"/>
          </a:xfrm>
        </p:spPr>
        <p:txBody>
          <a:bodyPr>
            <a:normAutofit/>
          </a:bodyPr>
          <a:lstStyle/>
          <a:p>
            <a:r>
              <a:rPr lang="en-US" sz="3000" b="1" dirty="0"/>
              <a:t>Affordability Pressures Were Uneven Across Metro Nashville</a:t>
            </a:r>
          </a:p>
        </p:txBody>
      </p:sp>
      <p:sp>
        <p:nvSpPr>
          <p:cNvPr id="19" name="sketch line">
            <a:extLst>
              <a:ext uri="{FF2B5EF4-FFF2-40B4-BE49-F238E27FC236}">
                <a16:creationId xmlns:a16="http://schemas.microsoft.com/office/drawing/2014/main" id="{E4A2A22C-7C26-0D10-5FAD-F56E81242C8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 name="TextBox 4">
            <a:extLst>
              <a:ext uri="{FF2B5EF4-FFF2-40B4-BE49-F238E27FC236}">
                <a16:creationId xmlns:a16="http://schemas.microsoft.com/office/drawing/2014/main" id="{FD65859E-3885-553F-D101-4DA042CB4B7F}"/>
              </a:ext>
            </a:extLst>
          </p:cNvPr>
          <p:cNvSpPr txBox="1"/>
          <p:nvPr/>
        </p:nvSpPr>
        <p:spPr>
          <a:xfrm>
            <a:off x="6875392" y="3002239"/>
            <a:ext cx="4292600" cy="2031325"/>
          </a:xfrm>
          <a:prstGeom prst="rect">
            <a:avLst/>
          </a:prstGeom>
          <a:noFill/>
        </p:spPr>
        <p:txBody>
          <a:bodyPr wrap="square" rtlCol="0">
            <a:spAutoFit/>
          </a:bodyPr>
          <a:lstStyle/>
          <a:p>
            <a:pPr marL="285750" indent="-285750">
              <a:buFont typeface="Arial" panose="020B0604020202020204" pitchFamily="34" charset="0"/>
              <a:buChar char="•"/>
            </a:pPr>
            <a:r>
              <a:rPr lang="en-US" dirty="0"/>
              <a:t>Housing affordability worsened across nearly all ZIP codes</a:t>
            </a:r>
          </a:p>
          <a:p>
            <a:pPr marL="285750" indent="-285750">
              <a:buFont typeface="Arial" panose="020B0604020202020204" pitchFamily="34" charset="0"/>
              <a:buChar char="•"/>
            </a:pPr>
            <a:r>
              <a:rPr lang="en-US" dirty="0"/>
              <a:t>Changes were uneven, with significant neighborhood-level variation</a:t>
            </a:r>
          </a:p>
          <a:p>
            <a:pPr marL="285750" indent="-285750">
              <a:buFont typeface="Arial" panose="020B0604020202020204" pitchFamily="34" charset="0"/>
              <a:buChar char="•"/>
            </a:pPr>
            <a:r>
              <a:rPr lang="en-US" dirty="0"/>
              <a:t>Two ZIP codes experienced modest improvement due to stronger income growth</a:t>
            </a:r>
          </a:p>
        </p:txBody>
      </p:sp>
      <p:sp>
        <p:nvSpPr>
          <p:cNvPr id="7" name="TextBox 6">
            <a:extLst>
              <a:ext uri="{FF2B5EF4-FFF2-40B4-BE49-F238E27FC236}">
                <a16:creationId xmlns:a16="http://schemas.microsoft.com/office/drawing/2014/main" id="{AAB38F1D-65AE-4A13-42AF-46651D5EDEFA}"/>
              </a:ext>
            </a:extLst>
          </p:cNvPr>
          <p:cNvSpPr txBox="1"/>
          <p:nvPr/>
        </p:nvSpPr>
        <p:spPr>
          <a:xfrm>
            <a:off x="70339" y="6569125"/>
            <a:ext cx="4873450" cy="215444"/>
          </a:xfrm>
          <a:prstGeom prst="rect">
            <a:avLst/>
          </a:prstGeom>
          <a:noFill/>
        </p:spPr>
        <p:txBody>
          <a:bodyPr wrap="square" rtlCol="0">
            <a:spAutoFit/>
          </a:bodyPr>
          <a:lstStyle/>
          <a:p>
            <a:r>
              <a:rPr lang="en-US" sz="800" dirty="0"/>
              <a:t>Sources: Metro Nashville Parcel Data, Redfin, U.S. Census ACS, FRED</a:t>
            </a:r>
            <a:endParaRPr lang="en-US" sz="800" i="1" dirty="0"/>
          </a:p>
        </p:txBody>
      </p:sp>
      <p:pic>
        <p:nvPicPr>
          <p:cNvPr id="10" name="Picture 9">
            <a:extLst>
              <a:ext uri="{FF2B5EF4-FFF2-40B4-BE49-F238E27FC236}">
                <a16:creationId xmlns:a16="http://schemas.microsoft.com/office/drawing/2014/main" id="{A692C29B-25EE-7B86-E930-B1F4C2FEA13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86126" y="1976392"/>
            <a:ext cx="5303140" cy="4360019"/>
          </a:xfrm>
          <a:prstGeom prst="rect">
            <a:avLst/>
          </a:prstGeom>
          <a:ln w="28575">
            <a:solidFill>
              <a:schemeClr val="bg2">
                <a:lumMod val="25000"/>
              </a:schemeClr>
            </a:solidFill>
          </a:ln>
          <a:effectLst>
            <a:outerShdw blurRad="63500" sx="102000" sy="102000" algn="ctr" rotWithShape="0">
              <a:prstClr val="black">
                <a:alpha val="40000"/>
              </a:prstClr>
            </a:outerShdw>
          </a:effectLst>
        </p:spPr>
      </p:pic>
    </p:spTree>
    <p:extLst>
      <p:ext uri="{BB962C8B-B14F-4D97-AF65-F5344CB8AC3E}">
        <p14:creationId xmlns:p14="http://schemas.microsoft.com/office/powerpoint/2010/main" val="368462590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AFAF7"/>
        </a:solidFill>
        <a:effectLst/>
      </p:bgPr>
    </p:bg>
    <p:spTree>
      <p:nvGrpSpPr>
        <p:cNvPr id="1" name="">
          <a:extLst>
            <a:ext uri="{FF2B5EF4-FFF2-40B4-BE49-F238E27FC236}">
              <a16:creationId xmlns:a16="http://schemas.microsoft.com/office/drawing/2014/main" id="{969FF664-8693-681C-36CA-9B24FCEE2D64}"/>
            </a:ext>
          </a:extLst>
        </p:cNvPr>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5F220A47-9D43-9A86-2309-7BF2E0F090D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B0872236-0092-44E2-42F3-D0FFBC7801D7}"/>
              </a:ext>
            </a:extLst>
          </p:cNvPr>
          <p:cNvSpPr>
            <a:spLocks noGrp="1"/>
          </p:cNvSpPr>
          <p:nvPr>
            <p:ph type="title"/>
          </p:nvPr>
        </p:nvSpPr>
        <p:spPr>
          <a:xfrm>
            <a:off x="838200" y="365125"/>
            <a:ext cx="10515600" cy="1325563"/>
          </a:xfrm>
        </p:spPr>
        <p:txBody>
          <a:bodyPr>
            <a:normAutofit/>
          </a:bodyPr>
          <a:lstStyle/>
          <a:p>
            <a:r>
              <a:rPr lang="en-US" b="1" dirty="0"/>
              <a:t>Key Findings</a:t>
            </a:r>
          </a:p>
        </p:txBody>
      </p:sp>
      <p:sp>
        <p:nvSpPr>
          <p:cNvPr id="19" name="sketch line">
            <a:extLst>
              <a:ext uri="{FF2B5EF4-FFF2-40B4-BE49-F238E27FC236}">
                <a16:creationId xmlns:a16="http://schemas.microsoft.com/office/drawing/2014/main" id="{8D71E955-3FD8-418D-38DF-AC095F32EA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B003664B-4843-8B17-5A4C-50D54A7CADC5}"/>
              </a:ext>
            </a:extLst>
          </p:cNvPr>
          <p:cNvSpPr txBox="1"/>
          <p:nvPr/>
        </p:nvSpPr>
        <p:spPr>
          <a:xfrm>
            <a:off x="838200" y="1895056"/>
            <a:ext cx="9745134" cy="4770537"/>
          </a:xfrm>
          <a:prstGeom prst="rect">
            <a:avLst/>
          </a:prstGeom>
          <a:noFill/>
        </p:spPr>
        <p:txBody>
          <a:bodyPr wrap="square" rtlCol="0">
            <a:spAutoFit/>
          </a:bodyPr>
          <a:lstStyle/>
          <a:p>
            <a:pPr marL="285750" indent="-285750">
              <a:buFont typeface="Arial" panose="020B0604020202020204" pitchFamily="34" charset="0"/>
              <a:buChar char="•"/>
            </a:pPr>
            <a:r>
              <a:rPr lang="en-US" sz="1600" dirty="0"/>
              <a:t>Home Prices Outpaced Income Growth</a:t>
            </a:r>
          </a:p>
          <a:p>
            <a:pPr marL="742950" lvl="1" indent="-285750">
              <a:buFont typeface="Arial" panose="020B0604020202020204" pitchFamily="34" charset="0"/>
              <a:buChar char="•"/>
            </a:pPr>
            <a:r>
              <a:rPr lang="en-US" sz="1600" dirty="0"/>
              <a:t>Median home sale prices in Metro Nashville rose </a:t>
            </a:r>
            <a:r>
              <a:rPr lang="en-US" sz="1600" b="1" dirty="0"/>
              <a:t>37% between 2020 and 2023</a:t>
            </a:r>
            <a:r>
              <a:rPr lang="en-US" sz="1600" dirty="0"/>
              <a:t>, while median household income increased by only </a:t>
            </a:r>
            <a:r>
              <a:rPr lang="en-US" sz="1600" b="1" dirty="0"/>
              <a:t>20%</a:t>
            </a:r>
            <a:r>
              <a:rPr lang="en-US" sz="1600" dirty="0"/>
              <a:t>.</a:t>
            </a:r>
          </a:p>
          <a:p>
            <a:pPr marL="742950" lvl="1" indent="-285750">
              <a:buFont typeface="Arial" panose="020B0604020202020204" pitchFamily="34" charset="0"/>
              <a:buChar char="•"/>
            </a:pPr>
            <a:r>
              <a:rPr lang="en-US" sz="1600" dirty="0"/>
              <a:t>This widening gap reduced affordability for median-income households.</a:t>
            </a:r>
          </a:p>
          <a:p>
            <a:pPr marL="285750" indent="-285750">
              <a:buFont typeface="Arial" panose="020B0604020202020204" pitchFamily="34" charset="0"/>
              <a:buChar char="•"/>
            </a:pPr>
            <a:r>
              <a:rPr lang="en-US" sz="1600" dirty="0"/>
              <a:t>Affordability Declined Despite Income Gains</a:t>
            </a:r>
          </a:p>
          <a:p>
            <a:pPr marL="742950" lvl="1" indent="-285750">
              <a:buFont typeface="Arial" panose="020B0604020202020204" pitchFamily="34" charset="0"/>
              <a:buChar char="•"/>
            </a:pPr>
            <a:r>
              <a:rPr lang="en-US" sz="1600" dirty="0"/>
              <a:t>The price-to-income ratio increased from </a:t>
            </a:r>
            <a:r>
              <a:rPr lang="en-US" sz="1600" b="1" dirty="0"/>
              <a:t>4.3% in 2020 to a peak of 5% in 2022</a:t>
            </a:r>
            <a:r>
              <a:rPr lang="en-US" sz="1600" dirty="0"/>
              <a:t>, remaining elevated in 2023.</a:t>
            </a:r>
          </a:p>
          <a:p>
            <a:pPr marL="742950" lvl="1" indent="-285750">
              <a:buFont typeface="Arial" panose="020B0604020202020204" pitchFamily="34" charset="0"/>
              <a:buChar char="•"/>
            </a:pPr>
            <a:r>
              <a:rPr lang="en-US" sz="1600" dirty="0"/>
              <a:t>Higher home prices required households to devote a larger share of income to housing.</a:t>
            </a:r>
          </a:p>
          <a:p>
            <a:pPr marL="285750" indent="-285750">
              <a:buFont typeface="Arial" panose="020B0604020202020204" pitchFamily="34" charset="0"/>
              <a:buChar char="•"/>
            </a:pPr>
            <a:r>
              <a:rPr lang="en-US" sz="1600" dirty="0"/>
              <a:t>Rising Mortgage Rates Drove Affordability Losses</a:t>
            </a:r>
          </a:p>
          <a:p>
            <a:pPr marL="742950" lvl="1" indent="-285750">
              <a:buFont typeface="Arial" panose="020B0604020202020204" pitchFamily="34" charset="0"/>
              <a:buChar char="•"/>
            </a:pPr>
            <a:r>
              <a:rPr lang="en-US" sz="1600" dirty="0"/>
              <a:t>30-year fixed mortgage rates rose sharply after 2021, exceeding </a:t>
            </a:r>
            <a:r>
              <a:rPr lang="en-US" sz="1600" b="1" dirty="0"/>
              <a:t>6% by 2023</a:t>
            </a:r>
            <a:r>
              <a:rPr lang="en-US" sz="1600" dirty="0"/>
              <a:t>.</a:t>
            </a:r>
          </a:p>
          <a:p>
            <a:pPr marL="742950" lvl="1" indent="-285750">
              <a:buFont typeface="Arial" panose="020B0604020202020204" pitchFamily="34" charset="0"/>
              <a:buChar char="•"/>
            </a:pPr>
            <a:r>
              <a:rPr lang="en-US" sz="1600" dirty="0"/>
              <a:t>Mortgage payments increased from </a:t>
            </a:r>
            <a:r>
              <a:rPr lang="en-US" sz="1600" b="1" dirty="0"/>
              <a:t>19% to over 30% of median income</a:t>
            </a:r>
            <a:r>
              <a:rPr lang="en-US" sz="1600" dirty="0"/>
              <a:t>, surpassing standard affordability thresholds.</a:t>
            </a:r>
          </a:p>
          <a:p>
            <a:pPr marL="285750" indent="-285750">
              <a:buFont typeface="Arial" panose="020B0604020202020204" pitchFamily="34" charset="0"/>
              <a:buChar char="•"/>
            </a:pPr>
            <a:r>
              <a:rPr lang="en-US" sz="1600" dirty="0"/>
              <a:t>Housing Supply Remained Constrained</a:t>
            </a:r>
          </a:p>
          <a:p>
            <a:pPr marL="742950" lvl="1" indent="-285750">
              <a:buFont typeface="Arial" panose="020B0604020202020204" pitchFamily="34" charset="0"/>
              <a:buChar char="•"/>
            </a:pPr>
            <a:r>
              <a:rPr lang="en-US" sz="1600" dirty="0"/>
              <a:t>Inventory fell in 2021 and only partially recovered by 2023.</a:t>
            </a:r>
          </a:p>
          <a:p>
            <a:pPr marL="742950" lvl="1" indent="-285750">
              <a:buFont typeface="Arial" panose="020B0604020202020204" pitchFamily="34" charset="0"/>
              <a:buChar char="•"/>
            </a:pPr>
            <a:r>
              <a:rPr lang="en-US" sz="1600" dirty="0"/>
              <a:t>As affordability worsened, home sales declined even as prices remained high.</a:t>
            </a:r>
          </a:p>
          <a:p>
            <a:pPr marL="285750" indent="-285750">
              <a:buFont typeface="Arial" panose="020B0604020202020204" pitchFamily="34" charset="0"/>
              <a:buChar char="•"/>
            </a:pPr>
            <a:r>
              <a:rPr lang="en-US" sz="1600" dirty="0"/>
              <a:t>Affordability Impacts Varied by ZIP Code</a:t>
            </a:r>
          </a:p>
          <a:p>
            <a:pPr marL="742950" lvl="1" indent="-285750">
              <a:buFont typeface="Arial" panose="020B0604020202020204" pitchFamily="34" charset="0"/>
              <a:buChar char="•"/>
            </a:pPr>
            <a:r>
              <a:rPr lang="en-US" sz="1600" dirty="0"/>
              <a:t>Changes in affordability were </a:t>
            </a:r>
            <a:r>
              <a:rPr lang="en-US" sz="1600" b="1" dirty="0"/>
              <a:t>not evenly distributed</a:t>
            </a:r>
            <a:r>
              <a:rPr lang="en-US" sz="1600" dirty="0"/>
              <a:t> across Metro Nashville.</a:t>
            </a:r>
          </a:p>
          <a:p>
            <a:pPr marL="742950" lvl="1" indent="-285750">
              <a:buFont typeface="Arial" panose="020B0604020202020204" pitchFamily="34" charset="0"/>
              <a:buChar char="•"/>
            </a:pPr>
            <a:r>
              <a:rPr lang="en-US" sz="1600" dirty="0"/>
              <a:t>Several ZIP codes experienced </a:t>
            </a:r>
            <a:r>
              <a:rPr lang="en-US" sz="1600" b="1" dirty="0"/>
              <a:t>substantially larger increases</a:t>
            </a:r>
            <a:r>
              <a:rPr lang="en-US" sz="1600" dirty="0"/>
              <a:t> in affordability pressure than the metro average.</a:t>
            </a:r>
          </a:p>
        </p:txBody>
      </p:sp>
    </p:spTree>
    <p:extLst>
      <p:ext uri="{BB962C8B-B14F-4D97-AF65-F5344CB8AC3E}">
        <p14:creationId xmlns:p14="http://schemas.microsoft.com/office/powerpoint/2010/main" val="207110002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AFAF7"/>
        </a:solidFill>
        <a:effectLst/>
      </p:bgPr>
    </p:bg>
    <p:spTree>
      <p:nvGrpSpPr>
        <p:cNvPr id="1" name="">
          <a:extLst>
            <a:ext uri="{FF2B5EF4-FFF2-40B4-BE49-F238E27FC236}">
              <a16:creationId xmlns:a16="http://schemas.microsoft.com/office/drawing/2014/main" id="{533B1B37-3CEC-4929-8B05-514A33B4645D}"/>
            </a:ext>
          </a:extLst>
        </p:cNvPr>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67627AB5-121B-2E44-2C36-5DCB8D5647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21E8CED-2FC4-4AB1-9316-5EC71D806FF8}"/>
              </a:ext>
            </a:extLst>
          </p:cNvPr>
          <p:cNvSpPr>
            <a:spLocks noGrp="1"/>
          </p:cNvSpPr>
          <p:nvPr>
            <p:ph type="title"/>
          </p:nvPr>
        </p:nvSpPr>
        <p:spPr>
          <a:xfrm>
            <a:off x="838200" y="365125"/>
            <a:ext cx="10515600" cy="1325563"/>
          </a:xfrm>
        </p:spPr>
        <p:txBody>
          <a:bodyPr>
            <a:normAutofit/>
          </a:bodyPr>
          <a:lstStyle/>
          <a:p>
            <a:r>
              <a:rPr lang="en-US" b="1" dirty="0"/>
              <a:t>Limitations &amp; Next Steps</a:t>
            </a:r>
          </a:p>
        </p:txBody>
      </p:sp>
      <p:sp>
        <p:nvSpPr>
          <p:cNvPr id="19" name="sketch line">
            <a:extLst>
              <a:ext uri="{FF2B5EF4-FFF2-40B4-BE49-F238E27FC236}">
                <a16:creationId xmlns:a16="http://schemas.microsoft.com/office/drawing/2014/main" id="{09A60E60-03C5-2C94-4D54-2B5D03595AF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TextBox 3">
            <a:extLst>
              <a:ext uri="{FF2B5EF4-FFF2-40B4-BE49-F238E27FC236}">
                <a16:creationId xmlns:a16="http://schemas.microsoft.com/office/drawing/2014/main" id="{85D7D54C-61CE-1353-4D47-22F7C28900B4}"/>
              </a:ext>
            </a:extLst>
          </p:cNvPr>
          <p:cNvSpPr txBox="1"/>
          <p:nvPr/>
        </p:nvSpPr>
        <p:spPr>
          <a:xfrm>
            <a:off x="1007533" y="2240532"/>
            <a:ext cx="9677400" cy="2031325"/>
          </a:xfrm>
          <a:prstGeom prst="rect">
            <a:avLst/>
          </a:prstGeom>
          <a:noFill/>
        </p:spPr>
        <p:txBody>
          <a:bodyPr wrap="square" rtlCol="0">
            <a:spAutoFit/>
          </a:bodyPr>
          <a:lstStyle/>
          <a:p>
            <a:pPr marL="285750" indent="-285750">
              <a:buFont typeface="Arial" panose="020B0604020202020204" pitchFamily="34" charset="0"/>
              <a:buChar char="•"/>
            </a:pPr>
            <a:r>
              <a:rPr lang="en-US" dirty="0"/>
              <a:t>Metro Nashville ZIP code boundaries vary across data sources, creating challenges in defining a consistent study area.</a:t>
            </a:r>
          </a:p>
          <a:p>
            <a:endParaRPr lang="en-US" dirty="0"/>
          </a:p>
          <a:p>
            <a:pPr marL="285750" indent="-285750">
              <a:buFont typeface="Arial" panose="020B0604020202020204" pitchFamily="34" charset="0"/>
              <a:buChar char="•"/>
            </a:pPr>
            <a:r>
              <a:rPr lang="en-US" dirty="0"/>
              <a:t>ZIP code level income data limited the analysis to 2020–2023.</a:t>
            </a:r>
          </a:p>
          <a:p>
            <a:endParaRPr lang="en-US" dirty="0"/>
          </a:p>
          <a:p>
            <a:pPr marL="285750" indent="-285750">
              <a:buFont typeface="Arial" panose="020B0604020202020204" pitchFamily="34" charset="0"/>
              <a:buChar char="•"/>
            </a:pPr>
            <a:r>
              <a:rPr lang="en-US" dirty="0"/>
              <a:t>Future research could extend this work over a longer time horizon and explore alternative geographic units to deepen insight into long-term affordability trends.</a:t>
            </a:r>
          </a:p>
        </p:txBody>
      </p:sp>
    </p:spTree>
    <p:extLst>
      <p:ext uri="{BB962C8B-B14F-4D97-AF65-F5344CB8AC3E}">
        <p14:creationId xmlns:p14="http://schemas.microsoft.com/office/powerpoint/2010/main" val="331444940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AFAF7"/>
        </a:solidFill>
        <a:effectLst/>
      </p:bgPr>
    </p:bg>
    <p:spTree>
      <p:nvGrpSpPr>
        <p:cNvPr id="1" name="">
          <a:extLst>
            <a:ext uri="{FF2B5EF4-FFF2-40B4-BE49-F238E27FC236}">
              <a16:creationId xmlns:a16="http://schemas.microsoft.com/office/drawing/2014/main" id="{F7527D56-13EA-15F6-0EE8-075557F14B39}"/>
            </a:ext>
          </a:extLst>
        </p:cNvPr>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964E8F23-9096-BB07-59E2-A56E2F657A5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B0E19932-3748-B970-1992-0517CEAD921D}"/>
              </a:ext>
            </a:extLst>
          </p:cNvPr>
          <p:cNvSpPr>
            <a:spLocks noGrp="1"/>
          </p:cNvSpPr>
          <p:nvPr>
            <p:ph type="title"/>
          </p:nvPr>
        </p:nvSpPr>
        <p:spPr>
          <a:xfrm>
            <a:off x="838200" y="365125"/>
            <a:ext cx="10515600" cy="1325563"/>
          </a:xfrm>
        </p:spPr>
        <p:txBody>
          <a:bodyPr>
            <a:normAutofit/>
          </a:bodyPr>
          <a:lstStyle/>
          <a:p>
            <a:r>
              <a:rPr lang="en-US" b="1" dirty="0"/>
              <a:t>Conclusion</a:t>
            </a:r>
          </a:p>
        </p:txBody>
      </p:sp>
      <p:sp>
        <p:nvSpPr>
          <p:cNvPr id="19" name="sketch line">
            <a:extLst>
              <a:ext uri="{FF2B5EF4-FFF2-40B4-BE49-F238E27FC236}">
                <a16:creationId xmlns:a16="http://schemas.microsoft.com/office/drawing/2014/main" id="{8CE5727C-00C0-1F08-580E-DB361AA87B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8A614149-FDAB-936D-306E-4186EFF4198E}"/>
              </a:ext>
            </a:extLst>
          </p:cNvPr>
          <p:cNvSpPr txBox="1"/>
          <p:nvPr/>
        </p:nvSpPr>
        <p:spPr>
          <a:xfrm>
            <a:off x="1176866" y="2323962"/>
            <a:ext cx="9237133" cy="1754326"/>
          </a:xfrm>
          <a:prstGeom prst="rect">
            <a:avLst/>
          </a:prstGeom>
          <a:noFill/>
        </p:spPr>
        <p:txBody>
          <a:bodyPr wrap="square" rtlCol="0">
            <a:spAutoFit/>
          </a:bodyPr>
          <a:lstStyle/>
          <a:p>
            <a:r>
              <a:rPr lang="en-US" dirty="0"/>
              <a:t>Between 2020 and 2023, rising home prices, higher mortgage rates, and constrained housing supply combined to significantly reduce homeownership affordability for median-income households in Metro Nashville, with uneven impacts across ZIP codes</a:t>
            </a:r>
          </a:p>
          <a:p>
            <a:endParaRPr lang="en-US" dirty="0"/>
          </a:p>
          <a:p>
            <a:r>
              <a:rPr lang="en-US" dirty="0"/>
              <a:t>Together, these findings highlight how multiple market factors, not prices alone, shaped the  worsening housing affordability in Metro Nashville.</a:t>
            </a:r>
          </a:p>
        </p:txBody>
      </p:sp>
    </p:spTree>
    <p:extLst>
      <p:ext uri="{BB962C8B-B14F-4D97-AF65-F5344CB8AC3E}">
        <p14:creationId xmlns:p14="http://schemas.microsoft.com/office/powerpoint/2010/main" val="343426456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AFAF7"/>
        </a:solidFill>
        <a:effectLst/>
      </p:bgPr>
    </p:bg>
    <p:spTree>
      <p:nvGrpSpPr>
        <p:cNvPr id="1" name="">
          <a:extLst>
            <a:ext uri="{FF2B5EF4-FFF2-40B4-BE49-F238E27FC236}">
              <a16:creationId xmlns:a16="http://schemas.microsoft.com/office/drawing/2014/main" id="{56129134-68B0-D803-EB90-6CBB36DBD5ED}"/>
            </a:ext>
          </a:extLst>
        </p:cNvPr>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72F497DA-E1E0-88A0-E713-86FE6261C9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2822C743-1514-89D4-2DAD-3E9F08CB440F}"/>
              </a:ext>
            </a:extLst>
          </p:cNvPr>
          <p:cNvSpPr>
            <a:spLocks noGrp="1"/>
          </p:cNvSpPr>
          <p:nvPr>
            <p:ph type="title"/>
          </p:nvPr>
        </p:nvSpPr>
        <p:spPr>
          <a:xfrm>
            <a:off x="838200" y="365125"/>
            <a:ext cx="10515600" cy="1325563"/>
          </a:xfrm>
        </p:spPr>
        <p:txBody>
          <a:bodyPr>
            <a:normAutofit/>
          </a:bodyPr>
          <a:lstStyle/>
          <a:p>
            <a:r>
              <a:rPr lang="en-US" b="1" dirty="0"/>
              <a:t>Q&amp;A</a:t>
            </a:r>
          </a:p>
        </p:txBody>
      </p:sp>
      <p:sp>
        <p:nvSpPr>
          <p:cNvPr id="19" name="sketch line">
            <a:extLst>
              <a:ext uri="{FF2B5EF4-FFF2-40B4-BE49-F238E27FC236}">
                <a16:creationId xmlns:a16="http://schemas.microsoft.com/office/drawing/2014/main" id="{F8977E18-51BF-1A23-DDB8-51F1B26BBC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717DC6DB-FFF7-A177-A3E3-A53D84FD998F}"/>
              </a:ext>
            </a:extLst>
          </p:cNvPr>
          <p:cNvSpPr txBox="1"/>
          <p:nvPr/>
        </p:nvSpPr>
        <p:spPr>
          <a:xfrm>
            <a:off x="4382000" y="2967335"/>
            <a:ext cx="3424952" cy="92333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Thank you!</a:t>
            </a:r>
          </a:p>
        </p:txBody>
      </p:sp>
    </p:spTree>
    <p:extLst>
      <p:ext uri="{BB962C8B-B14F-4D97-AF65-F5344CB8AC3E}">
        <p14:creationId xmlns:p14="http://schemas.microsoft.com/office/powerpoint/2010/main" val="296030185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14825</TotalTime>
  <Words>2145</Words>
  <Application>Microsoft Office PowerPoint</Application>
  <PresentationFormat>Widescreen</PresentationFormat>
  <Paragraphs>221</Paragraphs>
  <Slides>15</Slides>
  <Notes>15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15</vt:i4>
      </vt:variant>
    </vt:vector>
  </HeadingPairs>
  <TitlesOfParts>
    <vt:vector size="19" baseType="lpstr">
      <vt:lpstr>Aptos</vt:lpstr>
      <vt:lpstr>Aptos Display</vt:lpstr>
      <vt:lpstr>Arial</vt:lpstr>
      <vt:lpstr>Office Theme</vt:lpstr>
      <vt:lpstr>Housing Affordability in Metro Nashville</vt:lpstr>
      <vt:lpstr>Purpose of This Analysis</vt:lpstr>
      <vt:lpstr>Research Questions</vt:lpstr>
      <vt:lpstr>About the data</vt:lpstr>
      <vt:lpstr>Housing Market Snapshot</vt:lpstr>
      <vt:lpstr>Sale Price vs Income</vt:lpstr>
      <vt:lpstr>Price-to-Income Gap</vt:lpstr>
      <vt:lpstr>Housing Supply Trends</vt:lpstr>
      <vt:lpstr>Rising Mortgage Rates Increased Borrowing Costs</vt:lpstr>
      <vt:lpstr>Higher Mortgage Rates Reduced Affordability</vt:lpstr>
      <vt:lpstr>Affordability Pressures Were Uneven Across Metro Nashville</vt:lpstr>
      <vt:lpstr>Key Findings</vt:lpstr>
      <vt:lpstr>Limitations &amp; Next Steps</vt:lpstr>
      <vt:lpstr>Conclusion</vt:lpstr>
      <vt:lpstr>Q&amp;A</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Luke Gaffney</dc:creator>
  <cp:lastModifiedBy>Luke Gaffney</cp:lastModifiedBy>
  <cp:revision>5</cp:revision>
  <dcterms:created xsi:type="dcterms:W3CDTF">2025-12-12T20:32:27Z</dcterms:created>
  <dcterms:modified xsi:type="dcterms:W3CDTF">2026-01-07T14:24:01Z</dcterms:modified>
</cp:coreProperties>
</file>